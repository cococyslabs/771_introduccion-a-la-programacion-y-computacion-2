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Roboto"/>
      <p:regular r:id="rId30"/>
      <p:bold r:id="rId31"/>
      <p:italic r:id="rId32"/>
      <p:boldItalic r:id="rId33"/>
    </p:embeddedFont>
    <p:embeddedFont>
      <p:font typeface="Lobster"/>
      <p:regular r:id="rId34"/>
    </p:embeddedFont>
    <p:embeddedFont>
      <p:font typeface="Pacifico"/>
      <p:regular r:id="rId35"/>
    </p:embeddedFont>
    <p:embeddedFont>
      <p:font typeface="Archivo Black"/>
      <p:regular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g8GN/m8Gm/17jWxeJWAWJffm1i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232239-6874-40ED-9787-BAD029455E38}">
  <a:tblStyle styleId="{4F232239-6874-40ED-9787-BAD029455E3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Pacifico-regular.fntdata"/><Relationship Id="rId12" Type="http://schemas.openxmlformats.org/officeDocument/2006/relationships/slide" Target="slides/slide6.xml"/><Relationship Id="rId34" Type="http://schemas.openxmlformats.org/officeDocument/2006/relationships/font" Target="fonts/Lobster-regular.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ArchivoBlack-regular.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grpSp>
        <p:nvGrpSpPr>
          <p:cNvPr id="12" name="Google Shape;12;p36"/>
          <p:cNvGrpSpPr/>
          <p:nvPr/>
        </p:nvGrpSpPr>
        <p:grpSpPr>
          <a:xfrm>
            <a:off x="0" y="7807339"/>
            <a:ext cx="18288000" cy="2479850"/>
            <a:chOff x="0" y="3903669"/>
            <a:chExt cx="9144000" cy="1239925"/>
          </a:xfrm>
        </p:grpSpPr>
        <p:sp>
          <p:nvSpPr>
            <p:cNvPr id="13" name="Google Shape;13;p36"/>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4" name="Google Shape;14;p36"/>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5" name="Google Shape;15;p36"/>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6" name="Google Shape;16;p36"/>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sp>
          <p:nvSpPr>
            <p:cNvPr id="17" name="Google Shape;17;p36"/>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000000"/>
                </a:solidFill>
                <a:latin typeface="Arial"/>
                <a:ea typeface="Arial"/>
                <a:cs typeface="Arial"/>
                <a:sym typeface="Arial"/>
              </a:endParaRPr>
            </a:p>
          </p:txBody>
        </p:sp>
      </p:grpSp>
      <p:sp>
        <p:nvSpPr>
          <p:cNvPr id="18" name="Google Shape;18;p36"/>
          <p:cNvSpPr txBox="1"/>
          <p:nvPr>
            <p:ph type="title"/>
          </p:nvPr>
        </p:nvSpPr>
        <p:spPr>
          <a:xfrm>
            <a:off x="623400" y="820000"/>
            <a:ext cx="17041200" cy="121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36"/>
          <p:cNvSpPr txBox="1"/>
          <p:nvPr>
            <p:ph idx="1" type="body"/>
          </p:nvPr>
        </p:nvSpPr>
        <p:spPr>
          <a:xfrm>
            <a:off x="623400" y="2459750"/>
            <a:ext cx="17041200" cy="667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36"/>
          <p:cNvSpPr txBox="1"/>
          <p:nvPr>
            <p:ph idx="12" type="sldNum"/>
          </p:nvPr>
        </p:nvSpPr>
        <p:spPr>
          <a:xfrm>
            <a:off x="16920862" y="9302380"/>
            <a:ext cx="1097400" cy="7872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0" name="Google Shape;4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6" name="Google Shape;4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7" name="Google Shape;4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3" name="Google Shape;5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4" name="Google Shape;5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5" name="Google Shape;5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6" name="Google Shape;5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p:nvPr>
            <p:ph idx="2" type="pic"/>
          </p:nvPr>
        </p:nvSpPr>
        <p:spPr>
          <a:xfrm>
            <a:off x="1792288" y="612775"/>
            <a:ext cx="5486400" cy="4114800"/>
          </a:xfrm>
          <a:prstGeom prst="rect">
            <a:avLst/>
          </a:prstGeom>
          <a:noFill/>
          <a:ln>
            <a:noFill/>
          </a:ln>
        </p:spPr>
      </p:sp>
      <p:sp>
        <p:nvSpPr>
          <p:cNvPr id="74" name="Google Shape;7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hyperlink" Target="https://youtu.be/8WSE07bNTf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hyperlink" Target="https://developer.mozilla.org/es/docs/Web/HTML" TargetMode="External"/><Relationship Id="rId5" Type="http://schemas.openxmlformats.org/officeDocument/2006/relationships/hyperlink" Target="https://developer.mozilla.org/es/docs/Web/HTML" TargetMode="External"/><Relationship Id="rId6" Type="http://schemas.openxmlformats.org/officeDocument/2006/relationships/hyperlink" Target="https://lenguajehtml.com" TargetMode="External"/><Relationship Id="rId7" Type="http://schemas.openxmlformats.org/officeDocument/2006/relationships/hyperlink" Target="https://lenguajehtml.com" TargetMode="External"/><Relationship Id="rId8" Type="http://schemas.openxmlformats.org/officeDocument/2006/relationships/hyperlink" Target="https://developer.mozilla.org/es/docs/Web/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3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graphicFrame>
        <p:nvGraphicFramePr>
          <p:cNvPr id="95" name="Google Shape;95;p35"/>
          <p:cNvGraphicFramePr/>
          <p:nvPr/>
        </p:nvGraphicFramePr>
        <p:xfrm>
          <a:off x="10656401" y="1940050"/>
          <a:ext cx="3000000" cy="3000000"/>
        </p:xfrm>
        <a:graphic>
          <a:graphicData uri="http://schemas.openxmlformats.org/drawingml/2006/table">
            <a:tbl>
              <a:tblPr>
                <a:noFill/>
                <a:tableStyleId>{4F232239-6874-40ED-9787-BAD029455E38}</a:tableStyleId>
              </a:tblPr>
              <a:tblGrid>
                <a:gridCol w="3036400"/>
                <a:gridCol w="4344750"/>
              </a:tblGrid>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Martes, 10/03/2026</a:t>
                      </a:r>
                      <a:endParaRPr sz="2800" u="none" cap="none" strike="noStrike"/>
                    </a:p>
                  </a:txBody>
                  <a:tcPr marT="182850" marB="182850" marR="182850" marL="182850"/>
                </a:tc>
              </a:tr>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17:20 </a:t>
                      </a:r>
                      <a:endParaRPr sz="2800" u="none" cap="none" strike="noStrike"/>
                    </a:p>
                  </a:txBody>
                  <a:tcPr marT="182850" marB="182850" marR="182850" marL="182850"/>
                </a:tc>
              </a:tr>
            </a:tbl>
          </a:graphicData>
        </a:graphic>
      </p:graphicFrame>
      <p:sp>
        <p:nvSpPr>
          <p:cNvPr id="96" name="Google Shape;96;p35"/>
          <p:cNvSpPr txBox="1"/>
          <p:nvPr/>
        </p:nvSpPr>
        <p:spPr>
          <a:xfrm>
            <a:off x="1516566" y="4516600"/>
            <a:ext cx="149478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Introducción a la programación y computación 2 [N]</a:t>
            </a:r>
            <a:endParaRPr b="0" i="0" sz="5000" u="none" cap="none" strike="noStrike">
              <a:solidFill>
                <a:srgbClr val="000000"/>
              </a:solidFill>
              <a:latin typeface="Arial"/>
              <a:ea typeface="Arial"/>
              <a:cs typeface="Arial"/>
              <a:sym typeface="Arial"/>
            </a:endParaRPr>
          </a:p>
        </p:txBody>
      </p:sp>
      <p:sp>
        <p:nvSpPr>
          <p:cNvPr id="97" name="Google Shape;97;p35"/>
          <p:cNvSpPr txBox="1"/>
          <p:nvPr/>
        </p:nvSpPr>
        <p:spPr>
          <a:xfrm>
            <a:off x="1516566" y="5434242"/>
            <a:ext cx="11173200" cy="9852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TOBÍAS RAFAEL ZAMORA SANTOS</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01" name="Shape 101"/>
        <p:cNvGrpSpPr/>
        <p:nvPr/>
      </p:nvGrpSpPr>
      <p:grpSpPr>
        <a:xfrm>
          <a:off x="0" y="0"/>
          <a:ext cx="0" cy="0"/>
          <a:chOff x="0" y="0"/>
          <a:chExt cx="0" cy="0"/>
        </a:xfrm>
      </p:grpSpPr>
      <p:sp>
        <p:nvSpPr>
          <p:cNvPr id="102" name="Google Shape;102;p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 name="Google Shape;103;p1"/>
          <p:cNvGrpSpPr/>
          <p:nvPr/>
        </p:nvGrpSpPr>
        <p:grpSpPr>
          <a:xfrm>
            <a:off x="414625" y="196812"/>
            <a:ext cx="17458749" cy="9459392"/>
            <a:chOff x="0" y="-114300"/>
            <a:chExt cx="4598189" cy="2491363"/>
          </a:xfrm>
        </p:grpSpPr>
        <p:sp>
          <p:nvSpPr>
            <p:cNvPr id="104" name="Google Shape;104;p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6" name="Google Shape;106;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4">
              <a:alphaModFix/>
            </a:blip>
            <a:stretch>
              <a:fillRect b="-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 name="Google Shape;107;p1"/>
          <p:cNvGrpSpPr/>
          <p:nvPr/>
        </p:nvGrpSpPr>
        <p:grpSpPr>
          <a:xfrm>
            <a:off x="1028700" y="6800452"/>
            <a:ext cx="16678248" cy="1204528"/>
            <a:chOff x="0" y="-228600"/>
            <a:chExt cx="22237664" cy="1606037"/>
          </a:xfrm>
        </p:grpSpPr>
        <p:sp>
          <p:nvSpPr>
            <p:cNvPr id="108" name="Google Shape;108;p1"/>
            <p:cNvSpPr/>
            <p:nvPr/>
          </p:nvSpPr>
          <p:spPr>
            <a:xfrm>
              <a:off x="0" y="0"/>
              <a:ext cx="22237664" cy="1377437"/>
            </a:xfrm>
            <a:custGeom>
              <a:rect b="b" l="l" r="r" t="t"/>
              <a:pathLst>
                <a:path extrusionOk="0" h="1377437" w="22237664">
                  <a:moveTo>
                    <a:pt x="0" y="0"/>
                  </a:moveTo>
                  <a:lnTo>
                    <a:pt x="22237664" y="0"/>
                  </a:lnTo>
                  <a:lnTo>
                    <a:pt x="22237664" y="1377437"/>
                  </a:lnTo>
                  <a:lnTo>
                    <a:pt x="0" y="137743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txBox="1"/>
            <p:nvPr/>
          </p:nvSpPr>
          <p:spPr>
            <a:xfrm>
              <a:off x="0" y="-228600"/>
              <a:ext cx="22237664" cy="1606037"/>
            </a:xfrm>
            <a:prstGeom prst="rect">
              <a:avLst/>
            </a:prstGeom>
            <a:noFill/>
            <a:ln>
              <a:noFill/>
            </a:ln>
          </p:spPr>
          <p:txBody>
            <a:bodyPr anchorCtr="0" anchor="t" bIns="0" lIns="0" spcFirstLastPara="1" rIns="0" wrap="square" tIns="0">
              <a:noAutofit/>
            </a:bodyPr>
            <a:lstStyle/>
            <a:p>
              <a:pPr indent="0" lvl="0" marL="0" marR="0" rtl="0" algn="l">
                <a:lnSpc>
                  <a:spcPct val="168013"/>
                </a:lnSpc>
                <a:spcBef>
                  <a:spcPts val="0"/>
                </a:spcBef>
                <a:spcAft>
                  <a:spcPts val="0"/>
                </a:spcAft>
                <a:buClr>
                  <a:srgbClr val="000000"/>
                </a:buClr>
                <a:buSzPts val="4999"/>
                <a:buFont typeface="Arial"/>
                <a:buNone/>
              </a:pPr>
              <a:r>
                <a:rPr b="1" i="0" lang="en-US" sz="4999" u="none" cap="none" strike="noStrike">
                  <a:solidFill>
                    <a:srgbClr val="131416"/>
                  </a:solidFill>
                  <a:latin typeface="Open Sans"/>
                  <a:ea typeface="Open Sans"/>
                  <a:cs typeface="Open Sans"/>
                  <a:sym typeface="Open Sans"/>
                </a:rPr>
                <a:t>Introducción a la Programación y Computación 2</a:t>
              </a:r>
              <a:endParaRPr b="0" i="0" sz="1400" u="none" cap="none" strike="noStrike">
                <a:solidFill>
                  <a:srgbClr val="000000"/>
                </a:solidFill>
                <a:latin typeface="Arial"/>
                <a:ea typeface="Arial"/>
                <a:cs typeface="Arial"/>
                <a:sym typeface="Arial"/>
              </a:endParaRPr>
            </a:p>
          </p:txBody>
        </p:sp>
      </p:grpSp>
      <p:sp>
        <p:nvSpPr>
          <p:cNvPr id="110" name="Google Shape;110;p1"/>
          <p:cNvSpPr txBox="1"/>
          <p:nvPr/>
        </p:nvSpPr>
        <p:spPr>
          <a:xfrm>
            <a:off x="1028700" y="3490833"/>
            <a:ext cx="16230600" cy="2520300"/>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Introducción a HTML y CSS</a:t>
            </a:r>
            <a:endParaRPr b="0" i="0" sz="1400" u="none" cap="none" strike="noStrike">
              <a:solidFill>
                <a:srgbClr val="000000"/>
              </a:solidFill>
              <a:latin typeface="Arial"/>
              <a:ea typeface="Arial"/>
              <a:cs typeface="Arial"/>
              <a:sym typeface="Arial"/>
            </a:endParaRPr>
          </a:p>
        </p:txBody>
      </p:sp>
      <p:grpSp>
        <p:nvGrpSpPr>
          <p:cNvPr id="111" name="Google Shape;111;p1"/>
          <p:cNvGrpSpPr/>
          <p:nvPr/>
        </p:nvGrpSpPr>
        <p:grpSpPr>
          <a:xfrm>
            <a:off x="1028700" y="8065966"/>
            <a:ext cx="6981379" cy="508000"/>
            <a:chOff x="0" y="-114300"/>
            <a:chExt cx="9308505" cy="677333"/>
          </a:xfrm>
        </p:grpSpPr>
        <p:sp>
          <p:nvSpPr>
            <p:cNvPr id="112" name="Google Shape;112;p1"/>
            <p:cNvSpPr/>
            <p:nvPr/>
          </p:nvSpPr>
          <p:spPr>
            <a:xfrm>
              <a:off x="0" y="0"/>
              <a:ext cx="9308505" cy="563033"/>
            </a:xfrm>
            <a:custGeom>
              <a:rect b="b" l="l" r="r" t="t"/>
              <a:pathLst>
                <a:path extrusionOk="0" h="563033" w="9308505">
                  <a:moveTo>
                    <a:pt x="0" y="0"/>
                  </a:moveTo>
                  <a:lnTo>
                    <a:pt x="9308505" y="0"/>
                  </a:lnTo>
                  <a:lnTo>
                    <a:pt x="9308505"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0" y="-114300"/>
              <a:ext cx="9308505" cy="677333"/>
            </a:xfrm>
            <a:prstGeom prst="rect">
              <a:avLst/>
            </a:prstGeom>
            <a:noFill/>
            <a:ln>
              <a:noFill/>
            </a:ln>
          </p:spPr>
          <p:txBody>
            <a:bodyPr anchorCtr="0" anchor="t" bIns="0" lIns="0" spcFirstLastPara="1" rIns="0" wrap="square" tIns="0">
              <a:noAutofit/>
            </a:bodyPr>
            <a:lstStyle/>
            <a:p>
              <a:pPr indent="0" lvl="0" marL="0" marR="0" rtl="0" algn="ctr">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grpSp>
      <p:grpSp>
        <p:nvGrpSpPr>
          <p:cNvPr id="114" name="Google Shape;114;p1"/>
          <p:cNvGrpSpPr/>
          <p:nvPr/>
        </p:nvGrpSpPr>
        <p:grpSpPr>
          <a:xfrm>
            <a:off x="1028700" y="8535866"/>
            <a:ext cx="6667500" cy="508000"/>
            <a:chOff x="0" y="-114300"/>
            <a:chExt cx="8890000" cy="677333"/>
          </a:xfrm>
        </p:grpSpPr>
        <p:sp>
          <p:nvSpPr>
            <p:cNvPr id="115" name="Google Shape;115;p1"/>
            <p:cNvSpPr/>
            <p:nvPr/>
          </p:nvSpPr>
          <p:spPr>
            <a:xfrm>
              <a:off x="0" y="0"/>
              <a:ext cx="8890000" cy="563033"/>
            </a:xfrm>
            <a:custGeom>
              <a:rect b="b" l="l" r="r" t="t"/>
              <a:pathLst>
                <a:path extrusionOk="0" h="563033" w="8890000">
                  <a:moveTo>
                    <a:pt x="0" y="0"/>
                  </a:moveTo>
                  <a:lnTo>
                    <a:pt x="8890000" y="0"/>
                  </a:lnTo>
                  <a:lnTo>
                    <a:pt x="8890000"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txBox="1"/>
            <p:nvPr/>
          </p:nvSpPr>
          <p:spPr>
            <a:xfrm>
              <a:off x="0" y="-114300"/>
              <a:ext cx="8890000" cy="677333"/>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grpSp>
      <p:grpSp>
        <p:nvGrpSpPr>
          <p:cNvPr id="117" name="Google Shape;117;p1"/>
          <p:cNvGrpSpPr/>
          <p:nvPr/>
        </p:nvGrpSpPr>
        <p:grpSpPr>
          <a:xfrm>
            <a:off x="1028700" y="9003528"/>
            <a:ext cx="8115300" cy="597445"/>
            <a:chOff x="0" y="-114300"/>
            <a:chExt cx="10820400" cy="796594"/>
          </a:xfrm>
        </p:grpSpPr>
        <p:sp>
          <p:nvSpPr>
            <p:cNvPr id="118" name="Google Shape;118;p1"/>
            <p:cNvSpPr/>
            <p:nvPr/>
          </p:nvSpPr>
          <p:spPr>
            <a:xfrm>
              <a:off x="0" y="0"/>
              <a:ext cx="10820400" cy="682294"/>
            </a:xfrm>
            <a:custGeom>
              <a:rect b="b" l="l" r="r" t="t"/>
              <a:pathLst>
                <a:path extrusionOk="0" h="682294" w="10820400">
                  <a:moveTo>
                    <a:pt x="0" y="0"/>
                  </a:moveTo>
                  <a:lnTo>
                    <a:pt x="10820400" y="0"/>
                  </a:lnTo>
                  <a:lnTo>
                    <a:pt x="10820400" y="682294"/>
                  </a:lnTo>
                  <a:lnTo>
                    <a:pt x="0" y="68229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txBox="1"/>
            <p:nvPr/>
          </p:nvSpPr>
          <p:spPr>
            <a:xfrm>
              <a:off x="0" y="-114300"/>
              <a:ext cx="10820400" cy="796594"/>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23" name="Shape 123"/>
        <p:cNvGrpSpPr/>
        <p:nvPr/>
      </p:nvGrpSpPr>
      <p:grpSpPr>
        <a:xfrm>
          <a:off x="0" y="0"/>
          <a:ext cx="0" cy="0"/>
          <a:chOff x="0" y="0"/>
          <a:chExt cx="0" cy="0"/>
        </a:xfrm>
      </p:grpSpPr>
      <p:grpSp>
        <p:nvGrpSpPr>
          <p:cNvPr id="124" name="Google Shape;124;p2"/>
          <p:cNvGrpSpPr/>
          <p:nvPr/>
        </p:nvGrpSpPr>
        <p:grpSpPr>
          <a:xfrm>
            <a:off x="350175" y="80784"/>
            <a:ext cx="17458864" cy="9459456"/>
            <a:chOff x="0" y="-114300"/>
            <a:chExt cx="4598189" cy="2491363"/>
          </a:xfrm>
        </p:grpSpPr>
        <p:sp>
          <p:nvSpPr>
            <p:cNvPr id="125" name="Google Shape;125;p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p2"/>
          <p:cNvGrpSpPr/>
          <p:nvPr/>
        </p:nvGrpSpPr>
        <p:grpSpPr>
          <a:xfrm>
            <a:off x="1752042" y="4435634"/>
            <a:ext cx="5834824" cy="1002547"/>
            <a:chOff x="0" y="-209550"/>
            <a:chExt cx="7779766" cy="1336730"/>
          </a:xfrm>
        </p:grpSpPr>
        <p:sp>
          <p:nvSpPr>
            <p:cNvPr id="128" name="Google Shape;128;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HTML?</a:t>
              </a:r>
              <a:endParaRPr b="0" i="0" sz="1400" u="none" cap="none" strike="noStrike">
                <a:solidFill>
                  <a:srgbClr val="000000"/>
                </a:solidFill>
                <a:latin typeface="Arial"/>
                <a:ea typeface="Arial"/>
                <a:cs typeface="Arial"/>
                <a:sym typeface="Arial"/>
              </a:endParaRPr>
            </a:p>
          </p:txBody>
        </p:sp>
      </p:grpSp>
      <p:sp>
        <p:nvSpPr>
          <p:cNvPr id="130" name="Google Shape;130;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 name="Google Shape;131;p2"/>
          <p:cNvGrpSpPr/>
          <p:nvPr/>
        </p:nvGrpSpPr>
        <p:grpSpPr>
          <a:xfrm>
            <a:off x="1866989" y="2856821"/>
            <a:ext cx="3681207" cy="1713646"/>
            <a:chOff x="0" y="-209550"/>
            <a:chExt cx="4908276" cy="2284862"/>
          </a:xfrm>
        </p:grpSpPr>
        <p:sp>
          <p:nvSpPr>
            <p:cNvPr id="132" name="Google Shape;132;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34" name="Google Shape;134;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4">
              <a:alphaModFix/>
            </a:blip>
            <a:stretch>
              <a:fillRect b="-29" l="0" r="0" t="-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5" name="Google Shape;135;p2"/>
          <p:cNvGrpSpPr/>
          <p:nvPr/>
        </p:nvGrpSpPr>
        <p:grpSpPr>
          <a:xfrm>
            <a:off x="10105990" y="196804"/>
            <a:ext cx="8182010" cy="3695912"/>
            <a:chOff x="0" y="-635283"/>
            <a:chExt cx="10909347" cy="4927883"/>
          </a:xfrm>
        </p:grpSpPr>
        <p:sp>
          <p:nvSpPr>
            <p:cNvPr id="136" name="Google Shape;136;p2"/>
            <p:cNvSpPr/>
            <p:nvPr/>
          </p:nvSpPr>
          <p:spPr>
            <a:xfrm>
              <a:off x="0" y="0"/>
              <a:ext cx="10909347" cy="4292600"/>
            </a:xfrm>
            <a:custGeom>
              <a:rect b="b" l="l" r="r" t="t"/>
              <a:pathLst>
                <a:path extrusionOk="0" h="4292600" w="10909347">
                  <a:moveTo>
                    <a:pt x="0" y="0"/>
                  </a:moveTo>
                  <a:lnTo>
                    <a:pt x="10909347" y="0"/>
                  </a:lnTo>
                  <a:lnTo>
                    <a:pt x="10909347" y="4292600"/>
                  </a:lnTo>
                  <a:lnTo>
                    <a:pt x="0" y="4292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txBox="1"/>
            <p:nvPr/>
          </p:nvSpPr>
          <p:spPr>
            <a:xfrm>
              <a:off x="0" y="-635283"/>
              <a:ext cx="10909200" cy="45402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Arial"/>
                <a:ea typeface="Arial"/>
                <a:cs typeface="Arial"/>
                <a:sym typeface="Arial"/>
              </a:endParaRPr>
            </a:p>
          </p:txBody>
        </p:sp>
      </p:grpSp>
      <p:grpSp>
        <p:nvGrpSpPr>
          <p:cNvPr id="138" name="Google Shape;138;p2"/>
          <p:cNvGrpSpPr/>
          <p:nvPr/>
        </p:nvGrpSpPr>
        <p:grpSpPr>
          <a:xfrm>
            <a:off x="10806816" y="3101352"/>
            <a:ext cx="4919663" cy="1153145"/>
            <a:chOff x="0" y="-304800"/>
            <a:chExt cx="6559551" cy="1537527"/>
          </a:xfrm>
        </p:grpSpPr>
        <p:sp>
          <p:nvSpPr>
            <p:cNvPr id="139" name="Google Shape;139;p2"/>
            <p:cNvSpPr/>
            <p:nvPr/>
          </p:nvSpPr>
          <p:spPr>
            <a:xfrm>
              <a:off x="0" y="0"/>
              <a:ext cx="6559551" cy="1232727"/>
            </a:xfrm>
            <a:custGeom>
              <a:rect b="b" l="l" r="r" t="t"/>
              <a:pathLst>
                <a:path extrusionOk="0" h="1232727" w="6559551">
                  <a:moveTo>
                    <a:pt x="0" y="0"/>
                  </a:moveTo>
                  <a:lnTo>
                    <a:pt x="6559551" y="0"/>
                  </a:lnTo>
                  <a:lnTo>
                    <a:pt x="6559551" y="1232727"/>
                  </a:lnTo>
                  <a:lnTo>
                    <a:pt x="0" y="123272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0" y="-304800"/>
              <a:ext cx="6559551" cy="1537527"/>
            </a:xfrm>
            <a:prstGeom prst="rect">
              <a:avLst/>
            </a:prstGeom>
            <a:noFill/>
            <a:ln>
              <a:noFill/>
            </a:ln>
          </p:spPr>
          <p:txBody>
            <a:bodyPr anchorCtr="0" anchor="ctr" bIns="0" lIns="0" spcFirstLastPara="1" rIns="0" wrap="square" tIns="0">
              <a:noAutofit/>
            </a:bodyPr>
            <a:lstStyle/>
            <a:p>
              <a:pPr indent="0" lvl="0" marL="0" marR="0" rtl="0" algn="ctr">
                <a:lnSpc>
                  <a:spcPct val="177644"/>
                </a:lnSpc>
                <a:spcBef>
                  <a:spcPts val="0"/>
                </a:spcBef>
                <a:spcAft>
                  <a:spcPts val="0"/>
                </a:spcAft>
                <a:buClr>
                  <a:srgbClr val="000000"/>
                </a:buClr>
                <a:buSzPts val="3999"/>
                <a:buFont typeface="Arial"/>
                <a:buNone/>
              </a:pPr>
              <a:r>
                <a:rPr b="0" i="0" lang="en-US" sz="3999" u="sng" cap="none" strike="noStrike">
                  <a:solidFill>
                    <a:srgbClr val="000000"/>
                  </a:solidFill>
                  <a:latin typeface="Arial"/>
                  <a:ea typeface="Arial"/>
                  <a:cs typeface="Arial"/>
                  <a:sym typeface="Arial"/>
                  <a:hlinkClick r:id="rId5">
                    <a:extLst>
                      <a:ext uri="{A12FA001-AC4F-418D-AE19-62706E023703}">
                        <ahyp:hlinkClr val="tx"/>
                      </a:ext>
                    </a:extLst>
                  </a:hlinkClick>
                </a:rPr>
                <a:t>Link del Video</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5" name="Google Shape;145;p2"/>
          <p:cNvGrpSpPr/>
          <p:nvPr/>
        </p:nvGrpSpPr>
        <p:grpSpPr>
          <a:xfrm>
            <a:off x="1752042" y="5318472"/>
            <a:ext cx="5834824" cy="1002548"/>
            <a:chOff x="0" y="-209550"/>
            <a:chExt cx="7779766" cy="1336730"/>
          </a:xfrm>
        </p:grpSpPr>
        <p:sp>
          <p:nvSpPr>
            <p:cNvPr id="146" name="Google Shape;146;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Estructura y Sintaxis en HTML</a:t>
              </a:r>
              <a:endParaRPr b="0" i="0" sz="1400" u="none" cap="none" strike="noStrike">
                <a:solidFill>
                  <a:srgbClr val="000000"/>
                </a:solidFill>
                <a:latin typeface="Arial"/>
                <a:ea typeface="Arial"/>
                <a:cs typeface="Arial"/>
                <a:sym typeface="Arial"/>
              </a:endParaRPr>
            </a:p>
          </p:txBody>
        </p:sp>
      </p:grpSp>
      <p:grpSp>
        <p:nvGrpSpPr>
          <p:cNvPr id="148" name="Google Shape;148;p2"/>
          <p:cNvGrpSpPr/>
          <p:nvPr/>
        </p:nvGrpSpPr>
        <p:grpSpPr>
          <a:xfrm>
            <a:off x="1752042" y="6300046"/>
            <a:ext cx="5834824" cy="1002548"/>
            <a:chOff x="0" y="-209550"/>
            <a:chExt cx="7779766" cy="1336730"/>
          </a:xfrm>
        </p:grpSpPr>
        <p:sp>
          <p:nvSpPr>
            <p:cNvPr id="149" name="Google Shape;149;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Elementos y Atributos</a:t>
              </a:r>
              <a:endParaRPr b="0" i="0" sz="1400" u="none" cap="none" strike="noStrike">
                <a:solidFill>
                  <a:srgbClr val="000000"/>
                </a:solidFill>
                <a:latin typeface="Arial"/>
                <a:ea typeface="Arial"/>
                <a:cs typeface="Arial"/>
                <a:sym typeface="Arial"/>
              </a:endParaRPr>
            </a:p>
          </p:txBody>
        </p:sp>
      </p:grpSp>
      <p:grpSp>
        <p:nvGrpSpPr>
          <p:cNvPr id="151" name="Google Shape;151;p2"/>
          <p:cNvGrpSpPr/>
          <p:nvPr/>
        </p:nvGrpSpPr>
        <p:grpSpPr>
          <a:xfrm>
            <a:off x="1752042" y="7299827"/>
            <a:ext cx="5834824" cy="1002548"/>
            <a:chOff x="0" y="-209550"/>
            <a:chExt cx="7779766" cy="1336730"/>
          </a:xfrm>
        </p:grpSpPr>
        <p:sp>
          <p:nvSpPr>
            <p:cNvPr id="152" name="Google Shape;152;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CSS?</a:t>
              </a:r>
              <a:endParaRPr b="0" i="0" sz="1400" u="none" cap="none" strike="noStrike">
                <a:solidFill>
                  <a:srgbClr val="000000"/>
                </a:solidFill>
                <a:latin typeface="Arial"/>
                <a:ea typeface="Arial"/>
                <a:cs typeface="Arial"/>
                <a:sym typeface="Arial"/>
              </a:endParaRPr>
            </a:p>
          </p:txBody>
        </p:sp>
      </p:grpSp>
      <p:grpSp>
        <p:nvGrpSpPr>
          <p:cNvPr id="154" name="Google Shape;154;p2"/>
          <p:cNvGrpSpPr/>
          <p:nvPr/>
        </p:nvGrpSpPr>
        <p:grpSpPr>
          <a:xfrm>
            <a:off x="1752042" y="8300732"/>
            <a:ext cx="5834824" cy="1002548"/>
            <a:chOff x="0" y="-209550"/>
            <a:chExt cx="7779766" cy="1336730"/>
          </a:xfrm>
        </p:grpSpPr>
        <p:sp>
          <p:nvSpPr>
            <p:cNvPr id="155" name="Google Shape;155;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Sintaxis en CSS</a:t>
              </a:r>
              <a:endParaRPr b="0" i="0" sz="1400" u="none" cap="none" strike="noStrike">
                <a:solidFill>
                  <a:srgbClr val="000000"/>
                </a:solidFill>
                <a:latin typeface="Arial"/>
                <a:ea typeface="Arial"/>
                <a:cs typeface="Arial"/>
                <a:sym typeface="Arial"/>
              </a:endParaRPr>
            </a:p>
          </p:txBody>
        </p:sp>
      </p:grpSp>
      <p:grpSp>
        <p:nvGrpSpPr>
          <p:cNvPr id="157" name="Google Shape;157;p2"/>
          <p:cNvGrpSpPr/>
          <p:nvPr/>
        </p:nvGrpSpPr>
        <p:grpSpPr>
          <a:xfrm>
            <a:off x="651754" y="141259"/>
            <a:ext cx="6385675" cy="4599176"/>
            <a:chOff x="0" y="-686904"/>
            <a:chExt cx="8244900" cy="5938252"/>
          </a:xfrm>
        </p:grpSpPr>
        <p:sp>
          <p:nvSpPr>
            <p:cNvPr id="158" name="Google Shape;158;p2"/>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txBox="1"/>
            <p:nvPr/>
          </p:nvSpPr>
          <p:spPr>
            <a:xfrm>
              <a:off x="0" y="-686904"/>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63" name="Shape 163"/>
        <p:cNvGrpSpPr/>
        <p:nvPr/>
      </p:nvGrpSpPr>
      <p:grpSpPr>
        <a:xfrm>
          <a:off x="0" y="0"/>
          <a:ext cx="0" cy="0"/>
          <a:chOff x="0" y="0"/>
          <a:chExt cx="0" cy="0"/>
        </a:xfrm>
      </p:grpSpPr>
      <p:sp>
        <p:nvSpPr>
          <p:cNvPr id="164" name="Google Shape;164;p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
          <p:cNvGrpSpPr/>
          <p:nvPr/>
        </p:nvGrpSpPr>
        <p:grpSpPr>
          <a:xfrm>
            <a:off x="414625" y="196812"/>
            <a:ext cx="17458749" cy="9459392"/>
            <a:chOff x="0" y="-114300"/>
            <a:chExt cx="4598189" cy="2491363"/>
          </a:xfrm>
        </p:grpSpPr>
        <p:sp>
          <p:nvSpPr>
            <p:cNvPr id="166" name="Google Shape;166;p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3"/>
          <p:cNvGrpSpPr/>
          <p:nvPr/>
        </p:nvGrpSpPr>
        <p:grpSpPr>
          <a:xfrm>
            <a:off x="1028700" y="3195793"/>
            <a:ext cx="16230602" cy="1256147"/>
            <a:chOff x="0" y="-209550"/>
            <a:chExt cx="21640802" cy="1674862"/>
          </a:xfrm>
        </p:grpSpPr>
        <p:sp>
          <p:nvSpPr>
            <p:cNvPr id="169" name="Google Shape;169;p3"/>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Arial"/>
                <a:ea typeface="Arial"/>
                <a:cs typeface="Arial"/>
                <a:sym typeface="Arial"/>
              </a:endParaRPr>
            </a:p>
          </p:txBody>
        </p:sp>
      </p:grpSp>
      <p:grpSp>
        <p:nvGrpSpPr>
          <p:cNvPr id="171" name="Google Shape;171;p3"/>
          <p:cNvGrpSpPr/>
          <p:nvPr/>
        </p:nvGrpSpPr>
        <p:grpSpPr>
          <a:xfrm>
            <a:off x="1028700" y="4570865"/>
            <a:ext cx="16230600" cy="2363179"/>
            <a:chOff x="0" y="-238125"/>
            <a:chExt cx="21640800" cy="3150904"/>
          </a:xfrm>
        </p:grpSpPr>
        <p:sp>
          <p:nvSpPr>
            <p:cNvPr id="172" name="Google Shape;172;p3"/>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Clr>
                  <a:srgbClr val="000000"/>
                </a:buClr>
                <a:buSzPts val="5198"/>
                <a:buFont typeface="Arial"/>
                <a:buNone/>
              </a:pPr>
              <a:r>
                <a:rPr b="0" i="0" lang="en-US" sz="5198" u="none" cap="none" strike="noStrike">
                  <a:solidFill>
                    <a:srgbClr val="131416"/>
                  </a:solidFill>
                  <a:latin typeface="Open Sans"/>
                  <a:ea typeface="Open Sans"/>
                  <a:cs typeface="Open Sans"/>
                  <a:sym typeface="Open Sans"/>
                </a:rPr>
                <a:t>Crea páginas Web Básicas utilizando HTML5 y CSS para estructurar y dar estilo a componentes web.</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77" name="Shape 177"/>
        <p:cNvGrpSpPr/>
        <p:nvPr/>
      </p:nvGrpSpPr>
      <p:grpSpPr>
        <a:xfrm>
          <a:off x="0" y="0"/>
          <a:ext cx="0" cy="0"/>
          <a:chOff x="0" y="0"/>
          <a:chExt cx="0" cy="0"/>
        </a:xfrm>
      </p:grpSpPr>
      <p:sp>
        <p:nvSpPr>
          <p:cNvPr id="178" name="Google Shape;178;p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 name="Google Shape;179;p4"/>
          <p:cNvGrpSpPr/>
          <p:nvPr/>
        </p:nvGrpSpPr>
        <p:grpSpPr>
          <a:xfrm>
            <a:off x="414625" y="196812"/>
            <a:ext cx="17458749" cy="9459392"/>
            <a:chOff x="0" y="-114300"/>
            <a:chExt cx="4598189" cy="2491363"/>
          </a:xfrm>
        </p:grpSpPr>
        <p:sp>
          <p:nvSpPr>
            <p:cNvPr id="180" name="Google Shape;180;p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4"/>
          <p:cNvGrpSpPr/>
          <p:nvPr/>
        </p:nvGrpSpPr>
        <p:grpSpPr>
          <a:xfrm>
            <a:off x="1028700" y="871538"/>
            <a:ext cx="16230602" cy="1256147"/>
            <a:chOff x="0" y="-209550"/>
            <a:chExt cx="21640802" cy="1674862"/>
          </a:xfrm>
        </p:grpSpPr>
        <p:sp>
          <p:nvSpPr>
            <p:cNvPr id="183" name="Google Shape;183;p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HTML?</a:t>
              </a:r>
              <a:endParaRPr b="0" i="0" sz="1400" u="none" cap="none" strike="noStrike">
                <a:solidFill>
                  <a:srgbClr val="000000"/>
                </a:solidFill>
                <a:latin typeface="Arial"/>
                <a:ea typeface="Arial"/>
                <a:cs typeface="Arial"/>
                <a:sym typeface="Arial"/>
              </a:endParaRPr>
            </a:p>
          </p:txBody>
        </p:sp>
      </p:grpSp>
      <p:grpSp>
        <p:nvGrpSpPr>
          <p:cNvPr id="185" name="Google Shape;185;p4"/>
          <p:cNvGrpSpPr/>
          <p:nvPr/>
        </p:nvGrpSpPr>
        <p:grpSpPr>
          <a:xfrm>
            <a:off x="1028700" y="2020528"/>
            <a:ext cx="16230600" cy="2796770"/>
            <a:chOff x="0" y="-142875"/>
            <a:chExt cx="21640800" cy="3729027"/>
          </a:xfrm>
        </p:grpSpPr>
        <p:sp>
          <p:nvSpPr>
            <p:cNvPr id="186" name="Google Shape;186;p4"/>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HTML significa "HyperText Markup Language" (Lenguaje de Marcado de Hipertexto) y es el lenguaje fundamental para construir páginas web. Sirve para estructurar el contenido, como texto, imágenes, enlaces, y multimedia. Los navegadores web interpretan el código HTML para mostrar las páginas a los usuarios.</a:t>
              </a:r>
              <a:endParaRPr b="0" i="0" sz="1400" u="none" cap="none" strike="noStrike">
                <a:solidFill>
                  <a:srgbClr val="000000"/>
                </a:solidFill>
                <a:latin typeface="Arial"/>
                <a:ea typeface="Arial"/>
                <a:cs typeface="Arial"/>
                <a:sym typeface="Arial"/>
              </a:endParaRPr>
            </a:p>
          </p:txBody>
        </p:sp>
      </p:grpSp>
      <p:pic>
        <p:nvPicPr>
          <p:cNvPr id="188" name="Google Shape;188;p4" title="HTML5.png"/>
          <p:cNvPicPr preferRelativeResize="0"/>
          <p:nvPr/>
        </p:nvPicPr>
        <p:blipFill rotWithShape="1">
          <a:blip r:embed="rId4">
            <a:alphaModFix/>
          </a:blip>
          <a:srcRect b="0" l="0" r="0" t="0"/>
          <a:stretch/>
        </p:blipFill>
        <p:spPr>
          <a:xfrm>
            <a:off x="5959800" y="5427550"/>
            <a:ext cx="6368547" cy="210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192" name="Shape 192"/>
        <p:cNvGrpSpPr/>
        <p:nvPr/>
      </p:nvGrpSpPr>
      <p:grpSpPr>
        <a:xfrm>
          <a:off x="0" y="0"/>
          <a:ext cx="0" cy="0"/>
          <a:chOff x="0" y="0"/>
          <a:chExt cx="0" cy="0"/>
        </a:xfrm>
      </p:grpSpPr>
      <p:sp>
        <p:nvSpPr>
          <p:cNvPr id="193" name="Google Shape;193;p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4" name="Google Shape;194;p5"/>
          <p:cNvGrpSpPr/>
          <p:nvPr/>
        </p:nvGrpSpPr>
        <p:grpSpPr>
          <a:xfrm>
            <a:off x="414625" y="196812"/>
            <a:ext cx="17458749" cy="9459392"/>
            <a:chOff x="0" y="-114300"/>
            <a:chExt cx="4598189" cy="2491363"/>
          </a:xfrm>
        </p:grpSpPr>
        <p:sp>
          <p:nvSpPr>
            <p:cNvPr id="195" name="Google Shape;195;p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5"/>
          <p:cNvGrpSpPr/>
          <p:nvPr/>
        </p:nvGrpSpPr>
        <p:grpSpPr>
          <a:xfrm>
            <a:off x="1028700" y="871538"/>
            <a:ext cx="16230602" cy="1256147"/>
            <a:chOff x="0" y="-209550"/>
            <a:chExt cx="21640802" cy="1674862"/>
          </a:xfrm>
        </p:grpSpPr>
        <p:sp>
          <p:nvSpPr>
            <p:cNvPr id="198" name="Google Shape;198;p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ESTRUCTURA Y SINTAXIS EN HTML</a:t>
              </a:r>
              <a:endParaRPr b="0" i="0" sz="1400" u="none" cap="none" strike="noStrike">
                <a:solidFill>
                  <a:srgbClr val="000000"/>
                </a:solidFill>
                <a:latin typeface="Arial"/>
                <a:ea typeface="Arial"/>
                <a:cs typeface="Arial"/>
                <a:sym typeface="Arial"/>
              </a:endParaRPr>
            </a:p>
          </p:txBody>
        </p:sp>
      </p:grpSp>
      <p:grpSp>
        <p:nvGrpSpPr>
          <p:cNvPr id="200" name="Google Shape;200;p5"/>
          <p:cNvGrpSpPr/>
          <p:nvPr/>
        </p:nvGrpSpPr>
        <p:grpSpPr>
          <a:xfrm>
            <a:off x="7249025" y="2020525"/>
            <a:ext cx="10010275" cy="4149323"/>
            <a:chOff x="-383748" y="-142879"/>
            <a:chExt cx="13347033" cy="5532431"/>
          </a:xfrm>
        </p:grpSpPr>
        <p:sp>
          <p:nvSpPr>
            <p:cNvPr id="201" name="Google Shape;201;p5"/>
            <p:cNvSpPr/>
            <p:nvPr/>
          </p:nvSpPr>
          <p:spPr>
            <a:xfrm>
              <a:off x="0" y="0"/>
              <a:ext cx="12963285" cy="5389552"/>
            </a:xfrm>
            <a:custGeom>
              <a:rect b="b" l="l" r="r" t="t"/>
              <a:pathLst>
                <a:path extrusionOk="0" h="5389552" w="12963285">
                  <a:moveTo>
                    <a:pt x="0" y="0"/>
                  </a:moveTo>
                  <a:lnTo>
                    <a:pt x="12963285" y="0"/>
                  </a:lnTo>
                  <a:lnTo>
                    <a:pt x="12963285"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5"/>
            <p:cNvSpPr txBox="1"/>
            <p:nvPr/>
          </p:nvSpPr>
          <p:spPr>
            <a:xfrm>
              <a:off x="-383748" y="-142879"/>
              <a:ext cx="133470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estructura HTML de una página web se compone de las etiquetas &lt;html&gt;, que indica el comienzo de la página; &lt;head&gt;, que contiene información más descriptiva sobre el sitio; y &lt;body&gt;, que conforma todos los elementos visibles de la página.</a:t>
              </a:r>
              <a:endParaRPr b="0" i="0" sz="1400" u="none" cap="none" strike="noStrike">
                <a:solidFill>
                  <a:srgbClr val="000000"/>
                </a:solidFill>
                <a:latin typeface="Arial"/>
                <a:ea typeface="Arial"/>
                <a:cs typeface="Arial"/>
                <a:sym typeface="Arial"/>
              </a:endParaRPr>
            </a:p>
          </p:txBody>
        </p:sp>
      </p:grpSp>
      <p:grpSp>
        <p:nvGrpSpPr>
          <p:cNvPr id="203" name="Google Shape;203;p5"/>
          <p:cNvGrpSpPr/>
          <p:nvPr/>
        </p:nvGrpSpPr>
        <p:grpSpPr>
          <a:xfrm>
            <a:off x="1028700" y="6461530"/>
            <a:ext cx="9649294" cy="2796770"/>
            <a:chOff x="0" y="-142875"/>
            <a:chExt cx="12865726" cy="3729027"/>
          </a:xfrm>
        </p:grpSpPr>
        <p:sp>
          <p:nvSpPr>
            <p:cNvPr id="204" name="Google Shape;204;p5"/>
            <p:cNvSpPr/>
            <p:nvPr/>
          </p:nvSpPr>
          <p:spPr>
            <a:xfrm>
              <a:off x="0" y="0"/>
              <a:ext cx="12865726" cy="3586152"/>
            </a:xfrm>
            <a:custGeom>
              <a:rect b="b" l="l" r="r" t="t"/>
              <a:pathLst>
                <a:path extrusionOk="0" h="3586152" w="12865726">
                  <a:moveTo>
                    <a:pt x="0" y="0"/>
                  </a:moveTo>
                  <a:lnTo>
                    <a:pt x="12865726" y="0"/>
                  </a:lnTo>
                  <a:lnTo>
                    <a:pt x="12865726"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0" y="-142875"/>
              <a:ext cx="12865726"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sintaxis de HTML (Hypertext Markup Language) es bastante sencilla y se basa en el uso de etiquetas para definir la estructura y el contenido de una página web.</a:t>
              </a:r>
              <a:endParaRPr b="0" i="0" sz="1400" u="none" cap="none" strike="noStrike">
                <a:solidFill>
                  <a:srgbClr val="000000"/>
                </a:solidFill>
                <a:latin typeface="Arial"/>
                <a:ea typeface="Arial"/>
                <a:cs typeface="Arial"/>
                <a:sym typeface="Arial"/>
              </a:endParaRPr>
            </a:p>
          </p:txBody>
        </p:sp>
      </p:grpSp>
      <p:sp>
        <p:nvSpPr>
          <p:cNvPr id="206" name="Google Shape;206;p5"/>
          <p:cNvSpPr/>
          <p:nvPr/>
        </p:nvSpPr>
        <p:spPr>
          <a:xfrm>
            <a:off x="11210171" y="6963572"/>
            <a:ext cx="6049129" cy="2016376"/>
          </a:xfrm>
          <a:custGeom>
            <a:rect b="b" l="l" r="r" t="t"/>
            <a:pathLst>
              <a:path extrusionOk="0" h="2016376" w="6049129">
                <a:moveTo>
                  <a:pt x="0" y="0"/>
                </a:moveTo>
                <a:lnTo>
                  <a:pt x="6049129" y="0"/>
                </a:lnTo>
                <a:lnTo>
                  <a:pt x="6049129" y="2016376"/>
                </a:lnTo>
                <a:lnTo>
                  <a:pt x="0" y="20163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
          <p:cNvSpPr/>
          <p:nvPr/>
        </p:nvSpPr>
        <p:spPr>
          <a:xfrm>
            <a:off x="1028700" y="2490414"/>
            <a:ext cx="5988125" cy="3316705"/>
          </a:xfrm>
          <a:custGeom>
            <a:rect b="b" l="l" r="r" t="t"/>
            <a:pathLst>
              <a:path extrusionOk="0" h="3316705" w="5988125">
                <a:moveTo>
                  <a:pt x="0" y="0"/>
                </a:moveTo>
                <a:lnTo>
                  <a:pt x="5988125" y="0"/>
                </a:lnTo>
                <a:lnTo>
                  <a:pt x="5988125" y="3316705"/>
                </a:lnTo>
                <a:lnTo>
                  <a:pt x="0" y="3316705"/>
                </a:lnTo>
                <a:lnTo>
                  <a:pt x="0" y="0"/>
                </a:lnTo>
                <a:close/>
              </a:path>
            </a:pathLst>
          </a:custGeom>
          <a:blipFill rotWithShape="1">
            <a:blip r:embed="rId5">
              <a:alphaModFix/>
            </a:blip>
            <a:stretch>
              <a:fillRect b="0" l="-581" r="0" t="-189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11" name="Shape 211"/>
        <p:cNvGrpSpPr/>
        <p:nvPr/>
      </p:nvGrpSpPr>
      <p:grpSpPr>
        <a:xfrm>
          <a:off x="0" y="0"/>
          <a:ext cx="0" cy="0"/>
          <a:chOff x="0" y="0"/>
          <a:chExt cx="0" cy="0"/>
        </a:xfrm>
      </p:grpSpPr>
      <p:sp>
        <p:nvSpPr>
          <p:cNvPr id="212" name="Google Shape;212;p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3" name="Google Shape;213;p6"/>
          <p:cNvGrpSpPr/>
          <p:nvPr/>
        </p:nvGrpSpPr>
        <p:grpSpPr>
          <a:xfrm>
            <a:off x="414625" y="196812"/>
            <a:ext cx="17458749" cy="9459392"/>
            <a:chOff x="0" y="-114300"/>
            <a:chExt cx="4598189" cy="2491363"/>
          </a:xfrm>
        </p:grpSpPr>
        <p:sp>
          <p:nvSpPr>
            <p:cNvPr id="214" name="Google Shape;214;p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6" name="Google Shape;216;p6"/>
          <p:cNvGrpSpPr/>
          <p:nvPr/>
        </p:nvGrpSpPr>
        <p:grpSpPr>
          <a:xfrm>
            <a:off x="1028700" y="871538"/>
            <a:ext cx="16230602" cy="1256147"/>
            <a:chOff x="0" y="-209550"/>
            <a:chExt cx="21640802" cy="1674862"/>
          </a:xfrm>
        </p:grpSpPr>
        <p:sp>
          <p:nvSpPr>
            <p:cNvPr id="217" name="Google Shape;217;p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ELEMENTOS, ETIQUETAS Y ATRIBUTOS</a:t>
              </a:r>
              <a:endParaRPr b="0" i="0" sz="1400" u="none" cap="none" strike="noStrike">
                <a:solidFill>
                  <a:srgbClr val="000000"/>
                </a:solidFill>
                <a:latin typeface="Arial"/>
                <a:ea typeface="Arial"/>
                <a:cs typeface="Arial"/>
                <a:sym typeface="Arial"/>
              </a:endParaRPr>
            </a:p>
          </p:txBody>
        </p:sp>
      </p:grpSp>
      <p:grpSp>
        <p:nvGrpSpPr>
          <p:cNvPr id="219" name="Google Shape;219;p6"/>
          <p:cNvGrpSpPr/>
          <p:nvPr/>
        </p:nvGrpSpPr>
        <p:grpSpPr>
          <a:xfrm>
            <a:off x="1028700" y="2020528"/>
            <a:ext cx="16230600" cy="2796770"/>
            <a:chOff x="0" y="-142875"/>
            <a:chExt cx="21640800" cy="3729027"/>
          </a:xfrm>
        </p:grpSpPr>
        <p:sp>
          <p:nvSpPr>
            <p:cNvPr id="220" name="Google Shape;220;p6"/>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Elemento:</a:t>
              </a:r>
              <a:r>
                <a:rPr b="0" i="0" lang="en-US" sz="3200" u="none" cap="none" strike="noStrike">
                  <a:solidFill>
                    <a:srgbClr val="131416"/>
                  </a:solidFill>
                  <a:latin typeface="Open Sans"/>
                  <a:ea typeface="Open Sans"/>
                  <a:cs typeface="Open Sans"/>
                  <a:sym typeface="Open Sans"/>
                </a:rPr>
                <a:t> es una parte fundamental del lenguaje que define la estructura y el contenido de una página web. Un elemento está compuesto por una etiqueta de apertura, contenido opcional, y una etiqueta de cierre. Algunos elementos no requieren una etiqueta de cierre y se llaman elementos vacíos.</a:t>
              </a:r>
              <a:endParaRPr b="0" i="0" sz="1400" u="none" cap="none" strike="noStrike">
                <a:solidFill>
                  <a:srgbClr val="000000"/>
                </a:solidFill>
                <a:latin typeface="Arial"/>
                <a:ea typeface="Arial"/>
                <a:cs typeface="Arial"/>
                <a:sym typeface="Arial"/>
              </a:endParaRPr>
            </a:p>
          </p:txBody>
        </p:sp>
      </p:grpSp>
      <p:sp>
        <p:nvSpPr>
          <p:cNvPr id="222" name="Google Shape;222;p6"/>
          <p:cNvSpPr/>
          <p:nvPr/>
        </p:nvSpPr>
        <p:spPr>
          <a:xfrm>
            <a:off x="5655793" y="5359850"/>
            <a:ext cx="6976415" cy="2962120"/>
          </a:xfrm>
          <a:custGeom>
            <a:rect b="b" l="l" r="r" t="t"/>
            <a:pathLst>
              <a:path extrusionOk="0" h="2962120" w="6976415">
                <a:moveTo>
                  <a:pt x="0" y="0"/>
                </a:moveTo>
                <a:lnTo>
                  <a:pt x="6976414" y="0"/>
                </a:lnTo>
                <a:lnTo>
                  <a:pt x="6976414" y="2962120"/>
                </a:lnTo>
                <a:lnTo>
                  <a:pt x="0" y="2962120"/>
                </a:lnTo>
                <a:lnTo>
                  <a:pt x="0" y="0"/>
                </a:lnTo>
                <a:close/>
              </a:path>
            </a:pathLst>
          </a:custGeom>
          <a:blipFill rotWithShape="1">
            <a:blip r:embed="rId4">
              <a:alphaModFix/>
            </a:blip>
            <a:stretch>
              <a:fillRect b="-33332" l="0" r="0" t="-235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26" name="Shape 226"/>
        <p:cNvGrpSpPr/>
        <p:nvPr/>
      </p:nvGrpSpPr>
      <p:grpSpPr>
        <a:xfrm>
          <a:off x="0" y="0"/>
          <a:ext cx="0" cy="0"/>
          <a:chOff x="0" y="0"/>
          <a:chExt cx="0" cy="0"/>
        </a:xfrm>
      </p:grpSpPr>
      <p:sp>
        <p:nvSpPr>
          <p:cNvPr id="227" name="Google Shape;227;p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8" name="Google Shape;228;p7"/>
          <p:cNvGrpSpPr/>
          <p:nvPr/>
        </p:nvGrpSpPr>
        <p:grpSpPr>
          <a:xfrm>
            <a:off x="414625" y="196812"/>
            <a:ext cx="17458749" cy="9459392"/>
            <a:chOff x="0" y="-114300"/>
            <a:chExt cx="4598189" cy="2491363"/>
          </a:xfrm>
        </p:grpSpPr>
        <p:sp>
          <p:nvSpPr>
            <p:cNvPr id="229" name="Google Shape;229;p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028700" y="5579519"/>
            <a:ext cx="16230600" cy="3239456"/>
            <a:chOff x="0" y="0"/>
            <a:chExt cx="21640800" cy="4319275"/>
          </a:xfrm>
        </p:grpSpPr>
        <p:sp>
          <p:nvSpPr>
            <p:cNvPr id="232" name="Google Shape;232;p7"/>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590275"/>
              <a:ext cx="21640800" cy="37290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Atributos:</a:t>
              </a:r>
              <a:r>
                <a:rPr b="0" i="0" lang="en-US" sz="3200" u="none" cap="none" strike="noStrike">
                  <a:solidFill>
                    <a:srgbClr val="131416"/>
                  </a:solidFill>
                  <a:latin typeface="Open Sans"/>
                  <a:ea typeface="Open Sans"/>
                  <a:cs typeface="Open Sans"/>
                  <a:sym typeface="Open Sans"/>
                </a:rPr>
                <a:t> son propiedades que se añaden a los elementos para proporcionar información adicional sobre cómo deben comportarse o mostrarse. Los atributos se escriben dentro de la etiqueta de apertura de un elemento y siguen una estructura de nombre-valor.</a:t>
              </a:r>
              <a:endParaRPr b="0" i="0" sz="1400" u="none" cap="none" strike="noStrike">
                <a:solidFill>
                  <a:srgbClr val="000000"/>
                </a:solidFill>
                <a:latin typeface="Arial"/>
                <a:ea typeface="Arial"/>
                <a:cs typeface="Arial"/>
                <a:sym typeface="Arial"/>
              </a:endParaRPr>
            </a:p>
          </p:txBody>
        </p:sp>
      </p:grpSp>
      <p:grpSp>
        <p:nvGrpSpPr>
          <p:cNvPr id="234" name="Google Shape;234;p7"/>
          <p:cNvGrpSpPr/>
          <p:nvPr/>
        </p:nvGrpSpPr>
        <p:grpSpPr>
          <a:xfrm>
            <a:off x="1028700" y="921544"/>
            <a:ext cx="16230600" cy="4149320"/>
            <a:chOff x="0" y="-142875"/>
            <a:chExt cx="21640800" cy="5532427"/>
          </a:xfrm>
        </p:grpSpPr>
        <p:sp>
          <p:nvSpPr>
            <p:cNvPr id="235" name="Google Shape;235;p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0" y="-142875"/>
              <a:ext cx="21640800" cy="55323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Etiqueta:</a:t>
              </a:r>
              <a:r>
                <a:rPr b="0" i="0" lang="en-US" sz="3200" u="none" cap="none" strike="noStrike">
                  <a:solidFill>
                    <a:srgbClr val="131416"/>
                  </a:solidFill>
                  <a:latin typeface="Open Sans"/>
                  <a:ea typeface="Open Sans"/>
                  <a:cs typeface="Open Sans"/>
                  <a:sym typeface="Open Sans"/>
                </a:rPr>
                <a:t> se utiliza para delimitar el inicio y el final de un elemento. Las etiquetas se escriben entre signos de menor y mayor que (&lt; &gt;) y normalmente vienen en pares: una etiqueta de apertura (&lt;nombre&gt;) y una etiqueta de cierre (&lt;/nombre&gt;). La etiqueta de apertura puede incluir atributos que modifican el comportamiento o la presentación del elemento. Algunos elementos usan etiquetas vacías, que no requieren una etiqueta de cierre, como &lt;img&gt; o &lt;br&gt;.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40" name="Shape 240"/>
        <p:cNvGrpSpPr/>
        <p:nvPr/>
      </p:nvGrpSpPr>
      <p:grpSpPr>
        <a:xfrm>
          <a:off x="0" y="0"/>
          <a:ext cx="0" cy="0"/>
          <a:chOff x="0" y="0"/>
          <a:chExt cx="0" cy="0"/>
        </a:xfrm>
      </p:grpSpPr>
      <p:sp>
        <p:nvSpPr>
          <p:cNvPr id="241" name="Google Shape;241;p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2" name="Google Shape;242;p8"/>
          <p:cNvGrpSpPr/>
          <p:nvPr/>
        </p:nvGrpSpPr>
        <p:grpSpPr>
          <a:xfrm>
            <a:off x="414625" y="196812"/>
            <a:ext cx="17458749" cy="9459392"/>
            <a:chOff x="0" y="-114300"/>
            <a:chExt cx="4598189" cy="2491363"/>
          </a:xfrm>
        </p:grpSpPr>
        <p:sp>
          <p:nvSpPr>
            <p:cNvPr id="243" name="Google Shape;243;p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8"/>
          <p:cNvGrpSpPr/>
          <p:nvPr/>
        </p:nvGrpSpPr>
        <p:grpSpPr>
          <a:xfrm>
            <a:off x="1028700" y="871538"/>
            <a:ext cx="16230602" cy="1256147"/>
            <a:chOff x="0" y="-209550"/>
            <a:chExt cx="21640802" cy="1674862"/>
          </a:xfrm>
        </p:grpSpPr>
        <p:sp>
          <p:nvSpPr>
            <p:cNvPr id="246" name="Google Shape;246;p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PARRAFOS</a:t>
              </a:r>
              <a:endParaRPr b="0" i="0" sz="1400" u="none" cap="none" strike="noStrike">
                <a:solidFill>
                  <a:srgbClr val="000000"/>
                </a:solidFill>
                <a:latin typeface="Arial"/>
                <a:ea typeface="Arial"/>
                <a:cs typeface="Arial"/>
                <a:sym typeface="Arial"/>
              </a:endParaRPr>
            </a:p>
          </p:txBody>
        </p:sp>
      </p:grpSp>
      <p:grpSp>
        <p:nvGrpSpPr>
          <p:cNvPr id="248" name="Google Shape;248;p8"/>
          <p:cNvGrpSpPr/>
          <p:nvPr/>
        </p:nvGrpSpPr>
        <p:grpSpPr>
          <a:xfrm>
            <a:off x="1028700" y="2020528"/>
            <a:ext cx="16230600" cy="2120495"/>
            <a:chOff x="0" y="-142875"/>
            <a:chExt cx="21640800" cy="2827327"/>
          </a:xfrm>
        </p:grpSpPr>
        <p:sp>
          <p:nvSpPr>
            <p:cNvPr id="249" name="Google Shape;249;p8"/>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párrafos son elementos utilizados para organizar y agrupar bloques de texto en una página web. Se representan con el elemento &lt;p&gt;. Cada párrafo se encierra dentro de una etiqueta de apertura &lt;p&gt; y una etiqueta de cierre &lt;/p&gt;.</a:t>
              </a:r>
              <a:endParaRPr b="0" i="0" sz="1400" u="none" cap="none" strike="noStrike">
                <a:solidFill>
                  <a:srgbClr val="000000"/>
                </a:solidFill>
                <a:latin typeface="Arial"/>
                <a:ea typeface="Arial"/>
                <a:cs typeface="Arial"/>
                <a:sym typeface="Arial"/>
              </a:endParaRPr>
            </a:p>
          </p:txBody>
        </p:sp>
      </p:grpSp>
      <p:sp>
        <p:nvSpPr>
          <p:cNvPr id="251" name="Google Shape;251;p8"/>
          <p:cNvSpPr/>
          <p:nvPr/>
        </p:nvSpPr>
        <p:spPr>
          <a:xfrm>
            <a:off x="3493371" y="4646833"/>
            <a:ext cx="11301259" cy="1822328"/>
          </a:xfrm>
          <a:custGeom>
            <a:rect b="b" l="l" r="r" t="t"/>
            <a:pathLst>
              <a:path extrusionOk="0" h="1822328" w="11301259">
                <a:moveTo>
                  <a:pt x="0" y="0"/>
                </a:moveTo>
                <a:lnTo>
                  <a:pt x="11301258" y="0"/>
                </a:lnTo>
                <a:lnTo>
                  <a:pt x="11301258" y="1822328"/>
                </a:lnTo>
                <a:lnTo>
                  <a:pt x="0" y="182232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55" name="Shape 255"/>
        <p:cNvGrpSpPr/>
        <p:nvPr/>
      </p:nvGrpSpPr>
      <p:grpSpPr>
        <a:xfrm>
          <a:off x="0" y="0"/>
          <a:ext cx="0" cy="0"/>
          <a:chOff x="0" y="0"/>
          <a:chExt cx="0" cy="0"/>
        </a:xfrm>
      </p:grpSpPr>
      <p:sp>
        <p:nvSpPr>
          <p:cNvPr id="256" name="Google Shape;256;p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7" name="Google Shape;257;p9"/>
          <p:cNvGrpSpPr/>
          <p:nvPr/>
        </p:nvGrpSpPr>
        <p:grpSpPr>
          <a:xfrm>
            <a:off x="414625" y="196812"/>
            <a:ext cx="17458749" cy="9459392"/>
            <a:chOff x="0" y="-114300"/>
            <a:chExt cx="4598189" cy="2491363"/>
          </a:xfrm>
        </p:grpSpPr>
        <p:sp>
          <p:nvSpPr>
            <p:cNvPr id="258" name="Google Shape;258;p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9"/>
          <p:cNvGrpSpPr/>
          <p:nvPr/>
        </p:nvGrpSpPr>
        <p:grpSpPr>
          <a:xfrm>
            <a:off x="1028700" y="871538"/>
            <a:ext cx="16230602" cy="1256147"/>
            <a:chOff x="0" y="-209550"/>
            <a:chExt cx="21640802" cy="1674862"/>
          </a:xfrm>
        </p:grpSpPr>
        <p:sp>
          <p:nvSpPr>
            <p:cNvPr id="261" name="Google Shape;261;p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ESTILOS</a:t>
              </a:r>
              <a:endParaRPr b="0" i="0" sz="1400" u="none" cap="none" strike="noStrike">
                <a:solidFill>
                  <a:srgbClr val="000000"/>
                </a:solidFill>
                <a:latin typeface="Arial"/>
                <a:ea typeface="Arial"/>
                <a:cs typeface="Arial"/>
                <a:sym typeface="Arial"/>
              </a:endParaRPr>
            </a:p>
          </p:txBody>
        </p:sp>
      </p:grpSp>
      <p:grpSp>
        <p:nvGrpSpPr>
          <p:cNvPr id="263" name="Google Shape;263;p9"/>
          <p:cNvGrpSpPr/>
          <p:nvPr/>
        </p:nvGrpSpPr>
        <p:grpSpPr>
          <a:xfrm>
            <a:off x="1028700" y="2020528"/>
            <a:ext cx="16230600" cy="2796770"/>
            <a:chOff x="0" y="-142875"/>
            <a:chExt cx="21640800" cy="3729027"/>
          </a:xfrm>
        </p:grpSpPr>
        <p:sp>
          <p:nvSpPr>
            <p:cNvPr id="264" name="Google Shape;264;p9"/>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9"/>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estilos se utilizan para definir la apariencia visual de los elementos en una página web. Esto se logra principalmente a través de CSS (Cascading Style Sheets), que permite separar el contenido del diseño y proporcionar una experiencia más consistente y flexible.</a:t>
              </a:r>
              <a:endParaRPr b="0" i="0" sz="1400" u="none" cap="none" strike="noStrike">
                <a:solidFill>
                  <a:srgbClr val="000000"/>
                </a:solidFill>
                <a:latin typeface="Arial"/>
                <a:ea typeface="Arial"/>
                <a:cs typeface="Arial"/>
                <a:sym typeface="Arial"/>
              </a:endParaRPr>
            </a:p>
          </p:txBody>
        </p:sp>
      </p:grpSp>
      <p:sp>
        <p:nvSpPr>
          <p:cNvPr id="266" name="Google Shape;266;p9"/>
          <p:cNvSpPr/>
          <p:nvPr/>
        </p:nvSpPr>
        <p:spPr>
          <a:xfrm>
            <a:off x="3493371" y="5395096"/>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70" name="Shape 270"/>
        <p:cNvGrpSpPr/>
        <p:nvPr/>
      </p:nvGrpSpPr>
      <p:grpSpPr>
        <a:xfrm>
          <a:off x="0" y="0"/>
          <a:ext cx="0" cy="0"/>
          <a:chOff x="0" y="0"/>
          <a:chExt cx="0" cy="0"/>
        </a:xfrm>
      </p:grpSpPr>
      <p:sp>
        <p:nvSpPr>
          <p:cNvPr id="271" name="Google Shape;271;p1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2" name="Google Shape;272;p10"/>
          <p:cNvGrpSpPr/>
          <p:nvPr/>
        </p:nvGrpSpPr>
        <p:grpSpPr>
          <a:xfrm>
            <a:off x="414625" y="196812"/>
            <a:ext cx="17458749" cy="9459392"/>
            <a:chOff x="0" y="-114300"/>
            <a:chExt cx="4598189" cy="2491363"/>
          </a:xfrm>
        </p:grpSpPr>
        <p:sp>
          <p:nvSpPr>
            <p:cNvPr id="273" name="Google Shape;273;p1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10"/>
          <p:cNvGrpSpPr/>
          <p:nvPr/>
        </p:nvGrpSpPr>
        <p:grpSpPr>
          <a:xfrm>
            <a:off x="1028700" y="871538"/>
            <a:ext cx="16230602" cy="1256147"/>
            <a:chOff x="0" y="-209550"/>
            <a:chExt cx="21640802" cy="1674862"/>
          </a:xfrm>
        </p:grpSpPr>
        <p:sp>
          <p:nvSpPr>
            <p:cNvPr id="276" name="Google Shape;276;p1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TABLAS</a:t>
              </a:r>
              <a:endParaRPr b="0" i="0" sz="1400" u="none" cap="none" strike="noStrike">
                <a:solidFill>
                  <a:srgbClr val="000000"/>
                </a:solidFill>
                <a:latin typeface="Arial"/>
                <a:ea typeface="Arial"/>
                <a:cs typeface="Arial"/>
                <a:sym typeface="Arial"/>
              </a:endParaRPr>
            </a:p>
          </p:txBody>
        </p:sp>
      </p:grpSp>
      <p:grpSp>
        <p:nvGrpSpPr>
          <p:cNvPr id="278" name="Google Shape;278;p10"/>
          <p:cNvGrpSpPr/>
          <p:nvPr/>
        </p:nvGrpSpPr>
        <p:grpSpPr>
          <a:xfrm>
            <a:off x="1028700" y="1970521"/>
            <a:ext cx="16230600" cy="6153776"/>
            <a:chOff x="0" y="-209550"/>
            <a:chExt cx="21640800" cy="8205033"/>
          </a:xfrm>
        </p:grpSpPr>
        <p:sp>
          <p:nvSpPr>
            <p:cNvPr id="279" name="Google Shape;279;p10"/>
            <p:cNvSpPr/>
            <p:nvPr/>
          </p:nvSpPr>
          <p:spPr>
            <a:xfrm>
              <a:off x="0" y="0"/>
              <a:ext cx="21640800" cy="7995483"/>
            </a:xfrm>
            <a:custGeom>
              <a:rect b="b" l="l" r="r" t="t"/>
              <a:pathLst>
                <a:path extrusionOk="0" h="7995483" w="21640800">
                  <a:moveTo>
                    <a:pt x="0" y="0"/>
                  </a:moveTo>
                  <a:lnTo>
                    <a:pt x="21640800" y="0"/>
                  </a:lnTo>
                  <a:lnTo>
                    <a:pt x="21640800" y="7995483"/>
                  </a:lnTo>
                  <a:lnTo>
                    <a:pt x="0" y="799548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
            <p:cNvSpPr txBox="1"/>
            <p:nvPr/>
          </p:nvSpPr>
          <p:spPr>
            <a:xfrm>
              <a:off x="0" y="-209550"/>
              <a:ext cx="21640800" cy="8205033"/>
            </a:xfrm>
            <a:prstGeom prst="rect">
              <a:avLst/>
            </a:prstGeom>
            <a:noFill/>
            <a:ln>
              <a:noFill/>
            </a:ln>
          </p:spPr>
          <p:txBody>
            <a:bodyPr anchorCtr="0" anchor="t" bIns="0" lIns="0" spcFirstLastPara="1" rIns="0" wrap="square" tIns="0">
              <a:noAutofit/>
            </a:bodyPr>
            <a:lstStyle/>
            <a:p>
              <a:pPr indent="0" lvl="0" marL="0" marR="0" rtl="0" algn="just">
                <a:lnSpc>
                  <a:spcPct val="168031"/>
                </a:lnSpc>
                <a:spcBef>
                  <a:spcPts val="0"/>
                </a:spcBef>
                <a:spcAft>
                  <a:spcPts val="0"/>
                </a:spcAft>
                <a:buClr>
                  <a:srgbClr val="000000"/>
                </a:buClr>
                <a:buSzPts val="3150"/>
                <a:buFont typeface="Arial"/>
                <a:buNone/>
              </a:pPr>
              <a:r>
                <a:rPr b="0" i="0" lang="en-US" sz="3150" u="none" cap="none" strike="noStrike">
                  <a:solidFill>
                    <a:srgbClr val="131416"/>
                  </a:solidFill>
                  <a:latin typeface="Arial"/>
                  <a:ea typeface="Arial"/>
                  <a:cs typeface="Arial"/>
                  <a:sym typeface="Arial"/>
                </a:rPr>
                <a:t>Las tablas se utilizan para organizar y mostrar datos en una estructura de filas y columnas. Son útiles para representar información tabular como horarios, precios, estadísticas, etc.</a:t>
              </a:r>
              <a:endParaRPr b="0" i="0" sz="1400" u="none" cap="none" strike="noStrike">
                <a:solidFill>
                  <a:srgbClr val="000000"/>
                </a:solidFill>
                <a:latin typeface="Arial"/>
                <a:ea typeface="Arial"/>
                <a:cs typeface="Arial"/>
                <a:sym typeface="Arial"/>
              </a:endParaRPr>
            </a:p>
            <a:p>
              <a:pPr indent="0" lvl="0" marL="0" marR="0" rtl="0" algn="just">
                <a:lnSpc>
                  <a:spcPct val="168031"/>
                </a:lnSpc>
                <a:spcBef>
                  <a:spcPts val="0"/>
                </a:spcBef>
                <a:spcAft>
                  <a:spcPts val="0"/>
                </a:spcAft>
                <a:buClr>
                  <a:srgbClr val="000000"/>
                </a:buClr>
                <a:buSzPts val="3150"/>
                <a:buFont typeface="Arial"/>
                <a:buNone/>
              </a:pPr>
              <a:r>
                <a:t/>
              </a:r>
              <a:endParaRPr b="0" i="0" sz="3150" u="none" cap="none" strike="noStrike">
                <a:solidFill>
                  <a:srgbClr val="131416"/>
                </a:solidFill>
                <a:latin typeface="Arial"/>
                <a:ea typeface="Arial"/>
                <a:cs typeface="Arial"/>
                <a:sym typeface="Arial"/>
              </a:endParaRPr>
            </a:p>
            <a:p>
              <a:pPr indent="0" lvl="0" marL="0" marR="0" rtl="0" algn="just">
                <a:lnSpc>
                  <a:spcPct val="168031"/>
                </a:lnSpc>
                <a:spcBef>
                  <a:spcPts val="0"/>
                </a:spcBef>
                <a:spcAft>
                  <a:spcPts val="0"/>
                </a:spcAft>
                <a:buClr>
                  <a:srgbClr val="000000"/>
                </a:buClr>
                <a:buSzPts val="3150"/>
                <a:buFont typeface="Arial"/>
                <a:buNone/>
              </a:pPr>
              <a:r>
                <a:rPr b="0" i="0" lang="en-US" sz="3150" u="none" cap="none" strike="noStrike">
                  <a:solidFill>
                    <a:srgbClr val="131416"/>
                  </a:solidFill>
                  <a:latin typeface="Arial"/>
                  <a:ea typeface="Arial"/>
                  <a:cs typeface="Arial"/>
                  <a:sym typeface="Arial"/>
                </a:rPr>
                <a:t>Estructura básica de una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&lt;table&gt;: Contenedor principal de la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&lt;tr&gt;: Define una fila de la tabla.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&lt;td&gt;: Define una celda en una fila.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&lt;th&gt;: Define una celda de encabezado en una fila (generalmente en negrita y centrada).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84" name="Shape 284"/>
        <p:cNvGrpSpPr/>
        <p:nvPr/>
      </p:nvGrpSpPr>
      <p:grpSpPr>
        <a:xfrm>
          <a:off x="0" y="0"/>
          <a:ext cx="0" cy="0"/>
          <a:chOff x="0" y="0"/>
          <a:chExt cx="0" cy="0"/>
        </a:xfrm>
      </p:grpSpPr>
      <p:sp>
        <p:nvSpPr>
          <p:cNvPr id="285" name="Google Shape;285;p1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6" name="Google Shape;286;p11"/>
          <p:cNvGrpSpPr/>
          <p:nvPr/>
        </p:nvGrpSpPr>
        <p:grpSpPr>
          <a:xfrm>
            <a:off x="414625" y="196812"/>
            <a:ext cx="17458749" cy="9459392"/>
            <a:chOff x="0" y="-114300"/>
            <a:chExt cx="4598189" cy="2491363"/>
          </a:xfrm>
        </p:grpSpPr>
        <p:sp>
          <p:nvSpPr>
            <p:cNvPr id="287" name="Google Shape;287;p1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11"/>
          <p:cNvGrpSpPr/>
          <p:nvPr/>
        </p:nvGrpSpPr>
        <p:grpSpPr>
          <a:xfrm>
            <a:off x="1028700" y="871538"/>
            <a:ext cx="16230602" cy="1256147"/>
            <a:chOff x="0" y="-209550"/>
            <a:chExt cx="21640802" cy="1674862"/>
          </a:xfrm>
        </p:grpSpPr>
        <p:sp>
          <p:nvSpPr>
            <p:cNvPr id="290" name="Google Shape;290;p1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IMAGENES</a:t>
              </a:r>
              <a:endParaRPr b="0" i="0" sz="1400" u="none" cap="none" strike="noStrike">
                <a:solidFill>
                  <a:srgbClr val="000000"/>
                </a:solidFill>
                <a:latin typeface="Arial"/>
                <a:ea typeface="Arial"/>
                <a:cs typeface="Arial"/>
                <a:sym typeface="Arial"/>
              </a:endParaRPr>
            </a:p>
          </p:txBody>
        </p:sp>
      </p:grpSp>
      <p:grpSp>
        <p:nvGrpSpPr>
          <p:cNvPr id="292" name="Google Shape;292;p11"/>
          <p:cNvGrpSpPr/>
          <p:nvPr/>
        </p:nvGrpSpPr>
        <p:grpSpPr>
          <a:xfrm>
            <a:off x="1028700" y="2020528"/>
            <a:ext cx="16230600" cy="2796770"/>
            <a:chOff x="0" y="-142875"/>
            <a:chExt cx="21640800" cy="3729027"/>
          </a:xfrm>
        </p:grpSpPr>
        <p:sp>
          <p:nvSpPr>
            <p:cNvPr id="293" name="Google Shape;293;p11"/>
            <p:cNvSpPr/>
            <p:nvPr/>
          </p:nvSpPr>
          <p:spPr>
            <a:xfrm>
              <a:off x="0" y="0"/>
              <a:ext cx="21640800" cy="3586152"/>
            </a:xfrm>
            <a:custGeom>
              <a:rect b="b" l="l" r="r" t="t"/>
              <a:pathLst>
                <a:path extrusionOk="0" h="3586152" w="21640800">
                  <a:moveTo>
                    <a:pt x="0" y="0"/>
                  </a:moveTo>
                  <a:lnTo>
                    <a:pt x="21640800" y="0"/>
                  </a:lnTo>
                  <a:lnTo>
                    <a:pt x="21640800" y="3586152"/>
                  </a:lnTo>
                  <a:lnTo>
                    <a:pt x="0" y="35861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1"/>
            <p:cNvSpPr txBox="1"/>
            <p:nvPr/>
          </p:nvSpPr>
          <p:spPr>
            <a:xfrm>
              <a:off x="0" y="-142875"/>
              <a:ext cx="21640800" cy="37290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Las imágenes se utilizan para incorporar contenido visual en una página web, mejorando su atractivo y comunicación de información. Las imágenes se insertan utilizando el elemento &lt;img&gt;, que es un elemento vacío, lo que significa que no tiene una etiqueta de cierre.</a:t>
              </a:r>
              <a:endParaRPr b="0" i="0" sz="1400" u="none" cap="none" strike="noStrike">
                <a:solidFill>
                  <a:srgbClr val="000000"/>
                </a:solidFill>
                <a:latin typeface="Arial"/>
                <a:ea typeface="Arial"/>
                <a:cs typeface="Arial"/>
                <a:sym typeface="Arial"/>
              </a:endParaRPr>
            </a:p>
          </p:txBody>
        </p:sp>
      </p:grpSp>
      <p:sp>
        <p:nvSpPr>
          <p:cNvPr id="295" name="Google Shape;295;p11"/>
          <p:cNvSpPr/>
          <p:nvPr/>
        </p:nvSpPr>
        <p:spPr>
          <a:xfrm>
            <a:off x="3493434" y="5382839"/>
            <a:ext cx="11301259" cy="1836455"/>
          </a:xfrm>
          <a:custGeom>
            <a:rect b="b" l="l" r="r" t="t"/>
            <a:pathLst>
              <a:path extrusionOk="0" h="1836455" w="11301259">
                <a:moveTo>
                  <a:pt x="0" y="0"/>
                </a:moveTo>
                <a:lnTo>
                  <a:pt x="11301258" y="0"/>
                </a:lnTo>
                <a:lnTo>
                  <a:pt x="11301258" y="1836455"/>
                </a:lnTo>
                <a:lnTo>
                  <a:pt x="0" y="183645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299" name="Shape 299"/>
        <p:cNvGrpSpPr/>
        <p:nvPr/>
      </p:nvGrpSpPr>
      <p:grpSpPr>
        <a:xfrm>
          <a:off x="0" y="0"/>
          <a:ext cx="0" cy="0"/>
          <a:chOff x="0" y="0"/>
          <a:chExt cx="0" cy="0"/>
        </a:xfrm>
      </p:grpSpPr>
      <p:sp>
        <p:nvSpPr>
          <p:cNvPr id="300" name="Google Shape;300;p1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12"/>
          <p:cNvGrpSpPr/>
          <p:nvPr/>
        </p:nvGrpSpPr>
        <p:grpSpPr>
          <a:xfrm>
            <a:off x="414625" y="196812"/>
            <a:ext cx="17458749" cy="9459392"/>
            <a:chOff x="0" y="-114300"/>
            <a:chExt cx="4598189" cy="2491363"/>
          </a:xfrm>
        </p:grpSpPr>
        <p:sp>
          <p:nvSpPr>
            <p:cNvPr id="302" name="Google Shape;302;p1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12"/>
          <p:cNvGrpSpPr/>
          <p:nvPr/>
        </p:nvGrpSpPr>
        <p:grpSpPr>
          <a:xfrm>
            <a:off x="1028700" y="871538"/>
            <a:ext cx="16230602" cy="1256147"/>
            <a:chOff x="0" y="-209550"/>
            <a:chExt cx="21640802" cy="1674862"/>
          </a:xfrm>
        </p:grpSpPr>
        <p:sp>
          <p:nvSpPr>
            <p:cNvPr id="305" name="Google Shape;305;p12"/>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2"/>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LISTAS</a:t>
              </a:r>
              <a:endParaRPr b="0" i="0" sz="1400" u="none" cap="none" strike="noStrike">
                <a:solidFill>
                  <a:srgbClr val="000000"/>
                </a:solidFill>
                <a:latin typeface="Arial"/>
                <a:ea typeface="Arial"/>
                <a:cs typeface="Arial"/>
                <a:sym typeface="Arial"/>
              </a:endParaRPr>
            </a:p>
          </p:txBody>
        </p:sp>
      </p:grpSp>
      <p:grpSp>
        <p:nvGrpSpPr>
          <p:cNvPr id="307" name="Google Shape;307;p12"/>
          <p:cNvGrpSpPr/>
          <p:nvPr/>
        </p:nvGrpSpPr>
        <p:grpSpPr>
          <a:xfrm>
            <a:off x="1028700" y="2020528"/>
            <a:ext cx="16230600" cy="6854420"/>
            <a:chOff x="0" y="-142875"/>
            <a:chExt cx="21640800" cy="9139227"/>
          </a:xfrm>
        </p:grpSpPr>
        <p:sp>
          <p:nvSpPr>
            <p:cNvPr id="308" name="Google Shape;308;p12"/>
            <p:cNvSpPr/>
            <p:nvPr/>
          </p:nvSpPr>
          <p:spPr>
            <a:xfrm>
              <a:off x="0" y="0"/>
              <a:ext cx="21640800" cy="8996352"/>
            </a:xfrm>
            <a:custGeom>
              <a:rect b="b" l="l" r="r" t="t"/>
              <a:pathLst>
                <a:path extrusionOk="0" h="8996352" w="21640800">
                  <a:moveTo>
                    <a:pt x="0" y="0"/>
                  </a:moveTo>
                  <a:lnTo>
                    <a:pt x="21640800" y="0"/>
                  </a:lnTo>
                  <a:lnTo>
                    <a:pt x="21640800" y="8996352"/>
                  </a:lnTo>
                  <a:lnTo>
                    <a:pt x="0" y="89963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2"/>
            <p:cNvSpPr txBox="1"/>
            <p:nvPr/>
          </p:nvSpPr>
          <p:spPr>
            <a:xfrm>
              <a:off x="0" y="-142875"/>
              <a:ext cx="21640800" cy="91392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Las listas se utilizan para agrupar elementos relacionados y existen tres tipos principales de listas:</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2000"/>
                <a:buFont typeface="Arial"/>
                <a:buNone/>
              </a:pPr>
              <a:r>
                <a:t/>
              </a:r>
              <a:endParaRPr b="0" i="0" sz="20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ordenadas:</a:t>
              </a:r>
              <a:r>
                <a:rPr b="0" i="0" lang="en-US" sz="3200" u="none" cap="none" strike="noStrike">
                  <a:solidFill>
                    <a:srgbClr val="131416"/>
                  </a:solidFill>
                  <a:latin typeface="Open Sans"/>
                  <a:ea typeface="Open Sans"/>
                  <a:cs typeface="Open Sans"/>
                  <a:sym typeface="Open Sans"/>
                </a:rPr>
                <a:t> Son aquellas que nos muestran los elementos de la lista en orden. Para representar el orden tendremos los elementos numerados. Es decir, cada uno de los elementos irá precedido de un número o letra que establezca su orden.</a:t>
              </a:r>
              <a:endParaRPr b="0" i="0" sz="32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2000"/>
                <a:buFont typeface="Arial"/>
                <a:buNone/>
              </a:pPr>
              <a:r>
                <a:t/>
              </a:r>
              <a:endParaRPr b="0" i="0" sz="20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desordenadas</a:t>
              </a:r>
              <a:r>
                <a:rPr b="0" i="0" lang="en-US" sz="3200" u="none" cap="none" strike="noStrike">
                  <a:solidFill>
                    <a:srgbClr val="131416"/>
                  </a:solidFill>
                  <a:latin typeface="Open Sans"/>
                  <a:ea typeface="Open Sans"/>
                  <a:cs typeface="Open Sans"/>
                  <a:sym typeface="Open Sans"/>
                </a:rPr>
                <a:t> Nos sirven para mostrar los elementos sin ningún tipo de orden, simplemente precedidos por una viñeta que puede ser un punto, un cuadrado, etc.</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13" name="Shape 313"/>
        <p:cNvGrpSpPr/>
        <p:nvPr/>
      </p:nvGrpSpPr>
      <p:grpSpPr>
        <a:xfrm>
          <a:off x="0" y="0"/>
          <a:ext cx="0" cy="0"/>
          <a:chOff x="0" y="0"/>
          <a:chExt cx="0" cy="0"/>
        </a:xfrm>
      </p:grpSpPr>
      <p:sp>
        <p:nvSpPr>
          <p:cNvPr id="314" name="Google Shape;314;p13"/>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5" name="Google Shape;315;p13"/>
          <p:cNvGrpSpPr/>
          <p:nvPr/>
        </p:nvGrpSpPr>
        <p:grpSpPr>
          <a:xfrm>
            <a:off x="414625" y="196812"/>
            <a:ext cx="17458749" cy="9459392"/>
            <a:chOff x="0" y="-114300"/>
            <a:chExt cx="4598189" cy="2491363"/>
          </a:xfrm>
        </p:grpSpPr>
        <p:sp>
          <p:nvSpPr>
            <p:cNvPr id="316" name="Google Shape;316;p13"/>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3"/>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8" name="Google Shape;318;p13"/>
          <p:cNvGrpSpPr/>
          <p:nvPr/>
        </p:nvGrpSpPr>
        <p:grpSpPr>
          <a:xfrm>
            <a:off x="1028700" y="921544"/>
            <a:ext cx="16230600" cy="2120495"/>
            <a:chOff x="0" y="-142875"/>
            <a:chExt cx="21640800" cy="2827327"/>
          </a:xfrm>
        </p:grpSpPr>
        <p:sp>
          <p:nvSpPr>
            <p:cNvPr id="319" name="Google Shape;319;p13"/>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3"/>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Listas de definiciones:</a:t>
              </a:r>
              <a:r>
                <a:rPr b="0" i="0" lang="en-US" sz="3200" u="none" cap="none" strike="noStrike">
                  <a:solidFill>
                    <a:srgbClr val="131416"/>
                  </a:solidFill>
                  <a:latin typeface="Open Sans"/>
                  <a:ea typeface="Open Sans"/>
                  <a:cs typeface="Open Sans"/>
                  <a:sym typeface="Open Sans"/>
                </a:rPr>
                <a:t> Nos sirven para montar listas en las que tenemos la estructura valor y definición. Suelen ser listas para definir términos, como si fuese un diccionario, si bien pueden ser cualquier par valor-definición.</a:t>
              </a:r>
              <a:endParaRPr b="0" i="0" sz="1400" u="none" cap="none" strike="noStrike">
                <a:solidFill>
                  <a:srgbClr val="000000"/>
                </a:solidFill>
                <a:latin typeface="Arial"/>
                <a:ea typeface="Arial"/>
                <a:cs typeface="Arial"/>
                <a:sym typeface="Arial"/>
              </a:endParaRPr>
            </a:p>
          </p:txBody>
        </p:sp>
      </p:grpSp>
      <p:sp>
        <p:nvSpPr>
          <p:cNvPr id="321" name="Google Shape;321;p13"/>
          <p:cNvSpPr/>
          <p:nvPr/>
        </p:nvSpPr>
        <p:spPr>
          <a:xfrm>
            <a:off x="3540671" y="3519898"/>
            <a:ext cx="11206782" cy="5911577"/>
          </a:xfrm>
          <a:custGeom>
            <a:rect b="b" l="l" r="r" t="t"/>
            <a:pathLst>
              <a:path extrusionOk="0" h="5911577" w="11206782">
                <a:moveTo>
                  <a:pt x="0" y="0"/>
                </a:moveTo>
                <a:lnTo>
                  <a:pt x="11206782" y="0"/>
                </a:lnTo>
                <a:lnTo>
                  <a:pt x="11206782" y="5911577"/>
                </a:lnTo>
                <a:lnTo>
                  <a:pt x="0" y="591157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25" name="Shape 325"/>
        <p:cNvGrpSpPr/>
        <p:nvPr/>
      </p:nvGrpSpPr>
      <p:grpSpPr>
        <a:xfrm>
          <a:off x="0" y="0"/>
          <a:ext cx="0" cy="0"/>
          <a:chOff x="0" y="0"/>
          <a:chExt cx="0" cy="0"/>
        </a:xfrm>
      </p:grpSpPr>
      <p:sp>
        <p:nvSpPr>
          <p:cNvPr id="326" name="Google Shape;326;p1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7" name="Google Shape;327;p14"/>
          <p:cNvGrpSpPr/>
          <p:nvPr/>
        </p:nvGrpSpPr>
        <p:grpSpPr>
          <a:xfrm>
            <a:off x="414625" y="196812"/>
            <a:ext cx="17458749" cy="9459392"/>
            <a:chOff x="0" y="-114300"/>
            <a:chExt cx="4598189" cy="2491363"/>
          </a:xfrm>
        </p:grpSpPr>
        <p:sp>
          <p:nvSpPr>
            <p:cNvPr id="328" name="Google Shape;328;p1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4"/>
          <p:cNvGrpSpPr/>
          <p:nvPr/>
        </p:nvGrpSpPr>
        <p:grpSpPr>
          <a:xfrm>
            <a:off x="1028700" y="871538"/>
            <a:ext cx="16230602" cy="1256147"/>
            <a:chOff x="0" y="-209550"/>
            <a:chExt cx="21640802" cy="1674862"/>
          </a:xfrm>
        </p:grpSpPr>
        <p:sp>
          <p:nvSpPr>
            <p:cNvPr id="331" name="Google Shape;331;p1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FORMULARIO</a:t>
              </a:r>
              <a:endParaRPr b="0" i="0" sz="1400" u="none" cap="none" strike="noStrike">
                <a:solidFill>
                  <a:srgbClr val="000000"/>
                </a:solidFill>
                <a:latin typeface="Arial"/>
                <a:ea typeface="Arial"/>
                <a:cs typeface="Arial"/>
                <a:sym typeface="Arial"/>
              </a:endParaRPr>
            </a:p>
          </p:txBody>
        </p:sp>
      </p:grpSp>
      <p:grpSp>
        <p:nvGrpSpPr>
          <p:cNvPr id="333" name="Google Shape;333;p14"/>
          <p:cNvGrpSpPr/>
          <p:nvPr/>
        </p:nvGrpSpPr>
        <p:grpSpPr>
          <a:xfrm>
            <a:off x="1028700" y="2020528"/>
            <a:ext cx="16230600" cy="3473045"/>
            <a:chOff x="0" y="-142875"/>
            <a:chExt cx="21640800" cy="4630727"/>
          </a:xfrm>
        </p:grpSpPr>
        <p:sp>
          <p:nvSpPr>
            <p:cNvPr id="334" name="Google Shape;334;p14"/>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Los formularios son elementos esenciales para recopilar información del usuario y enviarla a un servidor para su procesamiento. Un formulario se define con el elemento &lt;form&gt; y puede contener varios elementos de entrada, como cuadros de texto, botones de opción, casillas de verificación, menús desplegables, botones de envío, y más.</a:t>
              </a:r>
              <a:endParaRPr b="0" i="0" sz="1400" u="none" cap="none" strike="noStrike">
                <a:solidFill>
                  <a:srgbClr val="000000"/>
                </a:solidFill>
                <a:latin typeface="Arial"/>
                <a:ea typeface="Arial"/>
                <a:cs typeface="Arial"/>
                <a:sym typeface="Arial"/>
              </a:endParaRPr>
            </a:p>
          </p:txBody>
        </p:sp>
      </p:grpSp>
      <p:sp>
        <p:nvSpPr>
          <p:cNvPr id="336" name="Google Shape;336;p14"/>
          <p:cNvSpPr/>
          <p:nvPr/>
        </p:nvSpPr>
        <p:spPr>
          <a:xfrm>
            <a:off x="3493434" y="6239585"/>
            <a:ext cx="11301259" cy="3008960"/>
          </a:xfrm>
          <a:custGeom>
            <a:rect b="b" l="l" r="r" t="t"/>
            <a:pathLst>
              <a:path extrusionOk="0" h="3008960" w="11301259">
                <a:moveTo>
                  <a:pt x="0" y="0"/>
                </a:moveTo>
                <a:lnTo>
                  <a:pt x="11301258" y="0"/>
                </a:lnTo>
                <a:lnTo>
                  <a:pt x="11301258" y="3008960"/>
                </a:lnTo>
                <a:lnTo>
                  <a:pt x="0" y="30089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40" name="Shape 340"/>
        <p:cNvGrpSpPr/>
        <p:nvPr/>
      </p:nvGrpSpPr>
      <p:grpSpPr>
        <a:xfrm>
          <a:off x="0" y="0"/>
          <a:ext cx="0" cy="0"/>
          <a:chOff x="0" y="0"/>
          <a:chExt cx="0" cy="0"/>
        </a:xfrm>
      </p:grpSpPr>
      <p:sp>
        <p:nvSpPr>
          <p:cNvPr id="341" name="Google Shape;341;p1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2" name="Google Shape;342;p15"/>
          <p:cNvGrpSpPr/>
          <p:nvPr/>
        </p:nvGrpSpPr>
        <p:grpSpPr>
          <a:xfrm>
            <a:off x="414625" y="196812"/>
            <a:ext cx="17458749" cy="9459392"/>
            <a:chOff x="0" y="-114300"/>
            <a:chExt cx="4598189" cy="2491363"/>
          </a:xfrm>
        </p:grpSpPr>
        <p:sp>
          <p:nvSpPr>
            <p:cNvPr id="343" name="Google Shape;343;p1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15"/>
          <p:cNvGrpSpPr/>
          <p:nvPr/>
        </p:nvGrpSpPr>
        <p:grpSpPr>
          <a:xfrm>
            <a:off x="1028700" y="871538"/>
            <a:ext cx="16230602" cy="1256147"/>
            <a:chOff x="0" y="-209550"/>
            <a:chExt cx="21640802" cy="1674862"/>
          </a:xfrm>
        </p:grpSpPr>
        <p:sp>
          <p:nvSpPr>
            <p:cNvPr id="346" name="Google Shape;346;p1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CSS?</a:t>
              </a:r>
              <a:endParaRPr b="0" i="0" sz="1400" u="none" cap="none" strike="noStrike">
                <a:solidFill>
                  <a:srgbClr val="000000"/>
                </a:solidFill>
                <a:latin typeface="Arial"/>
                <a:ea typeface="Arial"/>
                <a:cs typeface="Arial"/>
                <a:sym typeface="Arial"/>
              </a:endParaRPr>
            </a:p>
          </p:txBody>
        </p:sp>
      </p:grpSp>
      <p:grpSp>
        <p:nvGrpSpPr>
          <p:cNvPr id="348" name="Google Shape;348;p15"/>
          <p:cNvGrpSpPr/>
          <p:nvPr/>
        </p:nvGrpSpPr>
        <p:grpSpPr>
          <a:xfrm>
            <a:off x="1028700" y="2020528"/>
            <a:ext cx="16230600" cy="3473045"/>
            <a:chOff x="0" y="-142875"/>
            <a:chExt cx="21640800" cy="4630727"/>
          </a:xfrm>
        </p:grpSpPr>
        <p:sp>
          <p:nvSpPr>
            <p:cNvPr id="349" name="Google Shape;349;p15"/>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5"/>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CSS significa “Cascading Style Sheets” (hojas de estilo en cascada) es un lenguaje de hojas de estilo utilizado para describir la presentación y el diseño de un documento escrito en un lenguaje de marcado como HTML. CSS permite separar el contenido de la presentación visual, facilitando el control del estilo de múltiples páginas web de manera eficiente.</a:t>
              </a:r>
              <a:endParaRPr b="0" i="0" sz="1400" u="none" cap="none" strike="noStrike">
                <a:solidFill>
                  <a:srgbClr val="000000"/>
                </a:solidFill>
                <a:latin typeface="Arial"/>
                <a:ea typeface="Arial"/>
                <a:cs typeface="Arial"/>
                <a:sym typeface="Arial"/>
              </a:endParaRPr>
            </a:p>
          </p:txBody>
        </p:sp>
      </p:grpSp>
      <p:sp>
        <p:nvSpPr>
          <p:cNvPr id="351" name="Google Shape;351;p15"/>
          <p:cNvSpPr/>
          <p:nvPr/>
        </p:nvSpPr>
        <p:spPr>
          <a:xfrm>
            <a:off x="9990955" y="6144344"/>
            <a:ext cx="1931962" cy="2104501"/>
          </a:xfrm>
          <a:custGeom>
            <a:rect b="b" l="l" r="r" t="t"/>
            <a:pathLst>
              <a:path extrusionOk="0" h="2104501" w="1931962">
                <a:moveTo>
                  <a:pt x="0" y="0"/>
                </a:moveTo>
                <a:lnTo>
                  <a:pt x="1931962" y="0"/>
                </a:lnTo>
                <a:lnTo>
                  <a:pt x="1931962" y="2104501"/>
                </a:lnTo>
                <a:lnTo>
                  <a:pt x="0" y="2104501"/>
                </a:lnTo>
                <a:lnTo>
                  <a:pt x="0" y="0"/>
                </a:lnTo>
                <a:close/>
              </a:path>
            </a:pathLst>
          </a:custGeom>
          <a:blipFill rotWithShape="1">
            <a:blip r:embed="rId4">
              <a:alphaModFix/>
            </a:blip>
            <a:stretch>
              <a:fillRect b="0" l="-69535" r="-68730" t="-238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2" name="Google Shape;352;p15"/>
          <p:cNvGrpSpPr/>
          <p:nvPr/>
        </p:nvGrpSpPr>
        <p:grpSpPr>
          <a:xfrm>
            <a:off x="6365083" y="4749413"/>
            <a:ext cx="3625872" cy="3990231"/>
            <a:chOff x="0" y="-238125"/>
            <a:chExt cx="954962" cy="1050925"/>
          </a:xfrm>
        </p:grpSpPr>
        <p:sp>
          <p:nvSpPr>
            <p:cNvPr id="353" name="Google Shape;353;p15"/>
            <p:cNvSpPr/>
            <p:nvPr/>
          </p:nvSpPr>
          <p:spPr>
            <a:xfrm>
              <a:off x="0" y="0"/>
              <a:ext cx="954962" cy="812800"/>
            </a:xfrm>
            <a:custGeom>
              <a:rect b="b" l="l" r="r" t="t"/>
              <a:pathLst>
                <a:path extrusionOk="0" h="812800" w="954962">
                  <a:moveTo>
                    <a:pt x="0" y="0"/>
                  </a:moveTo>
                  <a:lnTo>
                    <a:pt x="954962" y="0"/>
                  </a:lnTo>
                  <a:lnTo>
                    <a:pt x="954962" y="812800"/>
                  </a:lnTo>
                  <a:lnTo>
                    <a:pt x="0" y="8128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5"/>
            <p:cNvSpPr txBox="1"/>
            <p:nvPr/>
          </p:nvSpPr>
          <p:spPr>
            <a:xfrm>
              <a:off x="0" y="-238125"/>
              <a:ext cx="954962" cy="1050925"/>
            </a:xfrm>
            <a:prstGeom prst="rect">
              <a:avLst/>
            </a:prstGeom>
            <a:noFill/>
            <a:ln>
              <a:noFill/>
            </a:ln>
          </p:spPr>
          <p:txBody>
            <a:bodyPr anchorCtr="0" anchor="ctr" bIns="50800" lIns="50800" spcFirstLastPara="1" rIns="50800" wrap="square" tIns="50800">
              <a:noAutofit/>
            </a:bodyPr>
            <a:lstStyle/>
            <a:p>
              <a:pPr indent="0" lvl="0" marL="0" marR="0" rtl="0" algn="l">
                <a:lnSpc>
                  <a:spcPct val="140000"/>
                </a:lnSpc>
                <a:spcBef>
                  <a:spcPts val="0"/>
                </a:spcBef>
                <a:spcAft>
                  <a:spcPts val="0"/>
                </a:spcAft>
                <a:buClr>
                  <a:srgbClr val="000000"/>
                </a:buClr>
                <a:buSzPts val="12000"/>
                <a:buFont typeface="Arial"/>
                <a:buNone/>
              </a:pPr>
              <a:r>
                <a:rPr b="0" i="0" lang="en-US" sz="12000" u="none" cap="none" strike="noStrike">
                  <a:solidFill>
                    <a:srgbClr val="000000"/>
                  </a:solidFill>
                  <a:latin typeface="Archivo Black"/>
                  <a:ea typeface="Archivo Black"/>
                  <a:cs typeface="Archivo Black"/>
                  <a:sym typeface="Archivo Black"/>
                </a:rPr>
                <a:t>CSS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58" name="Shape 358"/>
        <p:cNvGrpSpPr/>
        <p:nvPr/>
      </p:nvGrpSpPr>
      <p:grpSpPr>
        <a:xfrm>
          <a:off x="0" y="0"/>
          <a:ext cx="0" cy="0"/>
          <a:chOff x="0" y="0"/>
          <a:chExt cx="0" cy="0"/>
        </a:xfrm>
      </p:grpSpPr>
      <p:sp>
        <p:nvSpPr>
          <p:cNvPr id="359" name="Google Shape;359;p1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0" name="Google Shape;360;p16"/>
          <p:cNvGrpSpPr/>
          <p:nvPr/>
        </p:nvGrpSpPr>
        <p:grpSpPr>
          <a:xfrm>
            <a:off x="414625" y="196812"/>
            <a:ext cx="17458749" cy="9459392"/>
            <a:chOff x="0" y="-114300"/>
            <a:chExt cx="4598189" cy="2491363"/>
          </a:xfrm>
        </p:grpSpPr>
        <p:sp>
          <p:nvSpPr>
            <p:cNvPr id="361" name="Google Shape;361;p1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p16"/>
          <p:cNvGrpSpPr/>
          <p:nvPr/>
        </p:nvGrpSpPr>
        <p:grpSpPr>
          <a:xfrm>
            <a:off x="1028700" y="871538"/>
            <a:ext cx="16230602" cy="1256147"/>
            <a:chOff x="0" y="-209550"/>
            <a:chExt cx="21640802" cy="1674862"/>
          </a:xfrm>
        </p:grpSpPr>
        <p:sp>
          <p:nvSpPr>
            <p:cNvPr id="364" name="Google Shape;364;p1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SINTAXIS EN CSS</a:t>
              </a:r>
              <a:endParaRPr b="0" i="0" sz="1400" u="none" cap="none" strike="noStrike">
                <a:solidFill>
                  <a:srgbClr val="000000"/>
                </a:solidFill>
                <a:latin typeface="Arial"/>
                <a:ea typeface="Arial"/>
                <a:cs typeface="Arial"/>
                <a:sym typeface="Arial"/>
              </a:endParaRPr>
            </a:p>
          </p:txBody>
        </p:sp>
      </p:grpSp>
      <p:grpSp>
        <p:nvGrpSpPr>
          <p:cNvPr id="366" name="Google Shape;366;p16"/>
          <p:cNvGrpSpPr/>
          <p:nvPr/>
        </p:nvGrpSpPr>
        <p:grpSpPr>
          <a:xfrm>
            <a:off x="1028700" y="2020528"/>
            <a:ext cx="10111346" cy="2120495"/>
            <a:chOff x="0" y="-142875"/>
            <a:chExt cx="13481795" cy="2827327"/>
          </a:xfrm>
        </p:grpSpPr>
        <p:sp>
          <p:nvSpPr>
            <p:cNvPr id="367" name="Google Shape;367;p16"/>
            <p:cNvSpPr/>
            <p:nvPr/>
          </p:nvSpPr>
          <p:spPr>
            <a:xfrm>
              <a:off x="0" y="0"/>
              <a:ext cx="13481794" cy="2684452"/>
            </a:xfrm>
            <a:custGeom>
              <a:rect b="b" l="l" r="r" t="t"/>
              <a:pathLst>
                <a:path extrusionOk="0" h="2684452" w="13481794">
                  <a:moveTo>
                    <a:pt x="0" y="0"/>
                  </a:moveTo>
                  <a:lnTo>
                    <a:pt x="13481794" y="0"/>
                  </a:lnTo>
                  <a:lnTo>
                    <a:pt x="13481794"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txBox="1"/>
            <p:nvPr/>
          </p:nvSpPr>
          <p:spPr>
            <a:xfrm>
              <a:off x="0" y="-142875"/>
              <a:ext cx="13481795"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La sintaxis de CSS sigue una estructura simple y clara para aplicar estilos a los elementos HTML. Se basa en reglas que incluyen un selector y una declaración.</a:t>
              </a:r>
              <a:endParaRPr b="0" i="0" sz="1400" u="none" cap="none" strike="noStrike">
                <a:solidFill>
                  <a:srgbClr val="000000"/>
                </a:solidFill>
                <a:latin typeface="Arial"/>
                <a:ea typeface="Arial"/>
                <a:cs typeface="Arial"/>
                <a:sym typeface="Arial"/>
              </a:endParaRPr>
            </a:p>
          </p:txBody>
        </p:sp>
      </p:grpSp>
      <p:grpSp>
        <p:nvGrpSpPr>
          <p:cNvPr id="369" name="Google Shape;369;p16"/>
          <p:cNvGrpSpPr/>
          <p:nvPr/>
        </p:nvGrpSpPr>
        <p:grpSpPr>
          <a:xfrm>
            <a:off x="1028700" y="4893497"/>
            <a:ext cx="16230600" cy="2120495"/>
            <a:chOff x="0" y="-142875"/>
            <a:chExt cx="21640800" cy="2827327"/>
          </a:xfrm>
        </p:grpSpPr>
        <p:sp>
          <p:nvSpPr>
            <p:cNvPr id="370" name="Google Shape;370;p16"/>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Selector:</a:t>
              </a:r>
              <a:r>
                <a:rPr b="0" i="0" lang="en-US" sz="3200" u="none" cap="none" strike="noStrike">
                  <a:solidFill>
                    <a:srgbClr val="131416"/>
                  </a:solidFill>
                  <a:latin typeface="Open Sans"/>
                  <a:ea typeface="Open Sans"/>
                  <a:cs typeface="Open Sans"/>
                  <a:sym typeface="Open Sans"/>
                </a:rPr>
                <a:t> Es el elemento HTML al cual se le aplicarán los estilos (p, .clase, #id).</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Propiedad:</a:t>
              </a:r>
              <a:r>
                <a:rPr b="0" i="0" lang="en-US" sz="3200" u="none" cap="none" strike="noStrike">
                  <a:solidFill>
                    <a:srgbClr val="131416"/>
                  </a:solidFill>
                  <a:latin typeface="Open Sans"/>
                  <a:ea typeface="Open Sans"/>
                  <a:cs typeface="Open Sans"/>
                  <a:sym typeface="Open Sans"/>
                </a:rPr>
                <a:t> Es el atributo que se desea modificar (color, font-size, margin).</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Valor:</a:t>
              </a:r>
              <a:r>
                <a:rPr b="0" i="0" lang="en-US" sz="3200" u="none" cap="none" strike="noStrike">
                  <a:solidFill>
                    <a:srgbClr val="131416"/>
                  </a:solidFill>
                  <a:latin typeface="Open Sans"/>
                  <a:ea typeface="Open Sans"/>
                  <a:cs typeface="Open Sans"/>
                  <a:sym typeface="Open Sans"/>
                </a:rPr>
                <a:t> Es el valor que se asigna a la propiedad (red, 16px, 10px).</a:t>
              </a:r>
              <a:endParaRPr b="0" i="0" sz="1400" u="none" cap="none" strike="noStrike">
                <a:solidFill>
                  <a:srgbClr val="000000"/>
                </a:solidFill>
                <a:latin typeface="Arial"/>
                <a:ea typeface="Arial"/>
                <a:cs typeface="Arial"/>
                <a:sym typeface="Arial"/>
              </a:endParaRPr>
            </a:p>
          </p:txBody>
        </p:sp>
      </p:grpSp>
      <p:sp>
        <p:nvSpPr>
          <p:cNvPr id="372" name="Google Shape;372;p16"/>
          <p:cNvSpPr/>
          <p:nvPr/>
        </p:nvSpPr>
        <p:spPr>
          <a:xfrm>
            <a:off x="12154814" y="2200050"/>
            <a:ext cx="5104486" cy="1868606"/>
          </a:xfrm>
          <a:custGeom>
            <a:rect b="b" l="l" r="r" t="t"/>
            <a:pathLst>
              <a:path extrusionOk="0" h="1868606" w="5104486">
                <a:moveTo>
                  <a:pt x="0" y="0"/>
                </a:moveTo>
                <a:lnTo>
                  <a:pt x="5104486" y="0"/>
                </a:lnTo>
                <a:lnTo>
                  <a:pt x="5104486" y="1868607"/>
                </a:lnTo>
                <a:lnTo>
                  <a:pt x="0" y="1868607"/>
                </a:lnTo>
                <a:lnTo>
                  <a:pt x="0" y="0"/>
                </a:lnTo>
                <a:close/>
              </a:path>
            </a:pathLst>
          </a:custGeom>
          <a:blipFill rotWithShape="1">
            <a:blip r:embed="rId4">
              <a:alphaModFix/>
            </a:blip>
            <a:stretch>
              <a:fillRect b="-30902" l="-29948" r="-27119" t="-1195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6"/>
          <p:cNvSpPr/>
          <p:nvPr/>
        </p:nvSpPr>
        <p:spPr>
          <a:xfrm>
            <a:off x="4284422" y="7417194"/>
            <a:ext cx="9719156" cy="1384679"/>
          </a:xfrm>
          <a:custGeom>
            <a:rect b="b" l="l" r="r" t="t"/>
            <a:pathLst>
              <a:path extrusionOk="0" h="1384679" w="9719156">
                <a:moveTo>
                  <a:pt x="0" y="0"/>
                </a:moveTo>
                <a:lnTo>
                  <a:pt x="9719156" y="0"/>
                </a:lnTo>
                <a:lnTo>
                  <a:pt x="9719156" y="1384679"/>
                </a:lnTo>
                <a:lnTo>
                  <a:pt x="0" y="1384679"/>
                </a:lnTo>
                <a:lnTo>
                  <a:pt x="0" y="0"/>
                </a:lnTo>
                <a:close/>
              </a:path>
            </a:pathLst>
          </a:custGeom>
          <a:blipFill rotWithShape="1">
            <a:blip r:embed="rId4">
              <a:alphaModFix/>
            </a:blip>
            <a:stretch>
              <a:fillRect b="-221538" l="0" r="0" t="-881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77" name="Shape 377"/>
        <p:cNvGrpSpPr/>
        <p:nvPr/>
      </p:nvGrpSpPr>
      <p:grpSpPr>
        <a:xfrm>
          <a:off x="0" y="0"/>
          <a:ext cx="0" cy="0"/>
          <a:chOff x="0" y="0"/>
          <a:chExt cx="0" cy="0"/>
        </a:xfrm>
      </p:grpSpPr>
      <p:sp>
        <p:nvSpPr>
          <p:cNvPr id="378" name="Google Shape;378;p1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9" name="Google Shape;379;p17"/>
          <p:cNvGrpSpPr/>
          <p:nvPr/>
        </p:nvGrpSpPr>
        <p:grpSpPr>
          <a:xfrm>
            <a:off x="414625" y="196812"/>
            <a:ext cx="17458749" cy="9459392"/>
            <a:chOff x="0" y="-114300"/>
            <a:chExt cx="4598189" cy="2491363"/>
          </a:xfrm>
        </p:grpSpPr>
        <p:sp>
          <p:nvSpPr>
            <p:cNvPr id="380" name="Google Shape;380;p1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17"/>
          <p:cNvGrpSpPr/>
          <p:nvPr/>
        </p:nvGrpSpPr>
        <p:grpSpPr>
          <a:xfrm>
            <a:off x="1028700" y="871538"/>
            <a:ext cx="16230602" cy="1256147"/>
            <a:chOff x="0" y="-209550"/>
            <a:chExt cx="21640802" cy="1674862"/>
          </a:xfrm>
        </p:grpSpPr>
        <p:sp>
          <p:nvSpPr>
            <p:cNvPr id="383" name="Google Shape;383;p17"/>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7"/>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BOX MODEL</a:t>
              </a:r>
              <a:endParaRPr b="0" i="0" sz="1400" u="none" cap="none" strike="noStrike">
                <a:solidFill>
                  <a:srgbClr val="000000"/>
                </a:solidFill>
                <a:latin typeface="Arial"/>
                <a:ea typeface="Arial"/>
                <a:cs typeface="Arial"/>
                <a:sym typeface="Arial"/>
              </a:endParaRPr>
            </a:p>
          </p:txBody>
        </p:sp>
      </p:grpSp>
      <p:grpSp>
        <p:nvGrpSpPr>
          <p:cNvPr id="385" name="Google Shape;385;p17"/>
          <p:cNvGrpSpPr/>
          <p:nvPr/>
        </p:nvGrpSpPr>
        <p:grpSpPr>
          <a:xfrm>
            <a:off x="1028700" y="2020528"/>
            <a:ext cx="16230600" cy="3473045"/>
            <a:chOff x="0" y="-142875"/>
            <a:chExt cx="21640800" cy="4630727"/>
          </a:xfrm>
        </p:grpSpPr>
        <p:sp>
          <p:nvSpPr>
            <p:cNvPr id="386" name="Google Shape;386;p17"/>
            <p:cNvSpPr/>
            <p:nvPr/>
          </p:nvSpPr>
          <p:spPr>
            <a:xfrm>
              <a:off x="0" y="0"/>
              <a:ext cx="21640800" cy="4487852"/>
            </a:xfrm>
            <a:custGeom>
              <a:rect b="b" l="l" r="r" t="t"/>
              <a:pathLst>
                <a:path extrusionOk="0" h="4487852" w="21640800">
                  <a:moveTo>
                    <a:pt x="0" y="0"/>
                  </a:moveTo>
                  <a:lnTo>
                    <a:pt x="21640800" y="0"/>
                  </a:lnTo>
                  <a:lnTo>
                    <a:pt x="21640800" y="4487852"/>
                  </a:lnTo>
                  <a:lnTo>
                    <a:pt x="0" y="44878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7"/>
            <p:cNvSpPr txBox="1"/>
            <p:nvPr/>
          </p:nvSpPr>
          <p:spPr>
            <a:xfrm>
              <a:off x="0" y="-142875"/>
              <a:ext cx="21640800" cy="46307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El Modelo de Caja (Box Model) es un concepto fundamental en CSS que describe cómo se distribuye el espacio de un elemento en una página web. Cada elemento HTML puede ser considerado como una caja rectangular, y el modelo define cómo se gestionan sus componentes: contenido, relleno (padding), borde (border) y margen (margin).</a:t>
              </a:r>
              <a:endParaRPr b="0" i="0" sz="1400" u="none" cap="none" strike="noStrike">
                <a:solidFill>
                  <a:srgbClr val="000000"/>
                </a:solidFill>
                <a:latin typeface="Arial"/>
                <a:ea typeface="Arial"/>
                <a:cs typeface="Arial"/>
                <a:sym typeface="Arial"/>
              </a:endParaRPr>
            </a:p>
          </p:txBody>
        </p:sp>
      </p:grpSp>
      <p:sp>
        <p:nvSpPr>
          <p:cNvPr id="388" name="Google Shape;388;p17"/>
          <p:cNvSpPr/>
          <p:nvPr/>
        </p:nvSpPr>
        <p:spPr>
          <a:xfrm>
            <a:off x="6216268" y="5964601"/>
            <a:ext cx="5855465" cy="3293699"/>
          </a:xfrm>
          <a:custGeom>
            <a:rect b="b" l="l" r="r" t="t"/>
            <a:pathLst>
              <a:path extrusionOk="0" h="3293699" w="5855465">
                <a:moveTo>
                  <a:pt x="0" y="0"/>
                </a:moveTo>
                <a:lnTo>
                  <a:pt x="5855464" y="0"/>
                </a:lnTo>
                <a:lnTo>
                  <a:pt x="5855464" y="3293699"/>
                </a:lnTo>
                <a:lnTo>
                  <a:pt x="0" y="32936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392" name="Shape 392"/>
        <p:cNvGrpSpPr/>
        <p:nvPr/>
      </p:nvGrpSpPr>
      <p:grpSpPr>
        <a:xfrm>
          <a:off x="0" y="0"/>
          <a:ext cx="0" cy="0"/>
          <a:chOff x="0" y="0"/>
          <a:chExt cx="0" cy="0"/>
        </a:xfrm>
      </p:grpSpPr>
      <p:sp>
        <p:nvSpPr>
          <p:cNvPr id="393" name="Google Shape;393;p1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4" name="Google Shape;394;p18"/>
          <p:cNvGrpSpPr/>
          <p:nvPr/>
        </p:nvGrpSpPr>
        <p:grpSpPr>
          <a:xfrm>
            <a:off x="414625" y="196812"/>
            <a:ext cx="17458749" cy="9459392"/>
            <a:chOff x="0" y="-114300"/>
            <a:chExt cx="4598189" cy="2491363"/>
          </a:xfrm>
        </p:grpSpPr>
        <p:sp>
          <p:nvSpPr>
            <p:cNvPr id="395" name="Google Shape;395;p1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7" name="Google Shape;397;p18"/>
          <p:cNvGrpSpPr/>
          <p:nvPr/>
        </p:nvGrpSpPr>
        <p:grpSpPr>
          <a:xfrm>
            <a:off x="1028700" y="4436846"/>
            <a:ext cx="16230602" cy="1256147"/>
            <a:chOff x="0" y="-209550"/>
            <a:chExt cx="21640802" cy="1674862"/>
          </a:xfrm>
        </p:grpSpPr>
        <p:sp>
          <p:nvSpPr>
            <p:cNvPr id="398" name="Google Shape;398;p1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03" name="Shape 403"/>
        <p:cNvGrpSpPr/>
        <p:nvPr/>
      </p:nvGrpSpPr>
      <p:grpSpPr>
        <a:xfrm>
          <a:off x="0" y="0"/>
          <a:ext cx="0" cy="0"/>
          <a:chOff x="0" y="0"/>
          <a:chExt cx="0" cy="0"/>
        </a:xfrm>
      </p:grpSpPr>
      <p:sp>
        <p:nvSpPr>
          <p:cNvPr id="404" name="Google Shape;404;p1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5" name="Google Shape;405;p19"/>
          <p:cNvGrpSpPr/>
          <p:nvPr/>
        </p:nvGrpSpPr>
        <p:grpSpPr>
          <a:xfrm>
            <a:off x="414625" y="196812"/>
            <a:ext cx="17458749" cy="9459392"/>
            <a:chOff x="0" y="-114300"/>
            <a:chExt cx="4598189" cy="2491363"/>
          </a:xfrm>
        </p:grpSpPr>
        <p:sp>
          <p:nvSpPr>
            <p:cNvPr id="406" name="Google Shape;406;p1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8" name="Google Shape;408;p19"/>
          <p:cNvGrpSpPr/>
          <p:nvPr/>
        </p:nvGrpSpPr>
        <p:grpSpPr>
          <a:xfrm>
            <a:off x="1028700" y="871538"/>
            <a:ext cx="16230602" cy="1256147"/>
            <a:chOff x="0" y="-209550"/>
            <a:chExt cx="21640802" cy="1674862"/>
          </a:xfrm>
        </p:grpSpPr>
        <p:sp>
          <p:nvSpPr>
            <p:cNvPr id="409" name="Google Shape;409;p1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Arial"/>
                <a:ea typeface="Arial"/>
                <a:cs typeface="Arial"/>
                <a:sym typeface="Arial"/>
              </a:endParaRPr>
            </a:p>
          </p:txBody>
        </p:sp>
      </p:grpSp>
      <p:grpSp>
        <p:nvGrpSpPr>
          <p:cNvPr id="411" name="Google Shape;411;p19"/>
          <p:cNvGrpSpPr/>
          <p:nvPr/>
        </p:nvGrpSpPr>
        <p:grpSpPr>
          <a:xfrm>
            <a:off x="1028700" y="2020528"/>
            <a:ext cx="16230600" cy="6178145"/>
            <a:chOff x="0" y="-142875"/>
            <a:chExt cx="21640800" cy="8237527"/>
          </a:xfrm>
        </p:grpSpPr>
        <p:sp>
          <p:nvSpPr>
            <p:cNvPr id="412" name="Google Shape;412;p19"/>
            <p:cNvSpPr/>
            <p:nvPr/>
          </p:nvSpPr>
          <p:spPr>
            <a:xfrm>
              <a:off x="0" y="0"/>
              <a:ext cx="21640800" cy="8094652"/>
            </a:xfrm>
            <a:custGeom>
              <a:rect b="b" l="l" r="r" t="t"/>
              <a:pathLst>
                <a:path extrusionOk="0" h="8094652" w="21640800">
                  <a:moveTo>
                    <a:pt x="0" y="0"/>
                  </a:moveTo>
                  <a:lnTo>
                    <a:pt x="21640800" y="0"/>
                  </a:lnTo>
                  <a:lnTo>
                    <a:pt x="21640800" y="8094652"/>
                  </a:lnTo>
                  <a:lnTo>
                    <a:pt x="0" y="80946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9"/>
            <p:cNvSpPr txBox="1"/>
            <p:nvPr/>
          </p:nvSpPr>
          <p:spPr>
            <a:xfrm>
              <a:off x="0" y="-142875"/>
              <a:ext cx="21640800" cy="82375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estructura el contenido, CSS lo diseña.</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elementos HTML están formados por etiquetas de apertura y cierre.</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Los párrafos se crean con &lt;p&gt; y son bloques de texto.</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Estilos CSS permiten cambiar colores, tamaños y posiciones.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Tablas se construyen con &lt;table&gt;, &lt;tr&gt;, &lt;td&gt;, y &lt;th&gt;.</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Imágenes se insertan con &lt;img&gt; usando el atributo src.</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Listas pueden ser ordenadas &lt;ol&gt; o no ordenadas &lt;ul&gt;.</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Selectores CSS permiten aplicar estilos a elementos específicos (.clase, #id, elemento).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17" name="Shape 417"/>
        <p:cNvGrpSpPr/>
        <p:nvPr/>
      </p:nvGrpSpPr>
      <p:grpSpPr>
        <a:xfrm>
          <a:off x="0" y="0"/>
          <a:ext cx="0" cy="0"/>
          <a:chOff x="0" y="0"/>
          <a:chExt cx="0" cy="0"/>
        </a:xfrm>
      </p:grpSpPr>
      <p:sp>
        <p:nvSpPr>
          <p:cNvPr id="418" name="Google Shape;418;p2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9" name="Google Shape;419;p20"/>
          <p:cNvGrpSpPr/>
          <p:nvPr/>
        </p:nvGrpSpPr>
        <p:grpSpPr>
          <a:xfrm>
            <a:off x="414625" y="196812"/>
            <a:ext cx="17458749" cy="9459392"/>
            <a:chOff x="0" y="-114300"/>
            <a:chExt cx="4598189" cy="2491363"/>
          </a:xfrm>
        </p:grpSpPr>
        <p:sp>
          <p:nvSpPr>
            <p:cNvPr id="420" name="Google Shape;420;p2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20"/>
          <p:cNvGrpSpPr/>
          <p:nvPr/>
        </p:nvGrpSpPr>
        <p:grpSpPr>
          <a:xfrm>
            <a:off x="1028700" y="3195793"/>
            <a:ext cx="16230602" cy="1256147"/>
            <a:chOff x="0" y="-209550"/>
            <a:chExt cx="21640802" cy="1674862"/>
          </a:xfrm>
        </p:grpSpPr>
        <p:sp>
          <p:nvSpPr>
            <p:cNvPr id="423" name="Google Shape;423;p2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HONESTIDAD</a:t>
              </a:r>
              <a:endParaRPr b="0" i="0" sz="1400" u="none" cap="none" strike="noStrike">
                <a:solidFill>
                  <a:srgbClr val="000000"/>
                </a:solidFill>
                <a:latin typeface="Arial"/>
                <a:ea typeface="Arial"/>
                <a:cs typeface="Arial"/>
                <a:sym typeface="Arial"/>
              </a:endParaRPr>
            </a:p>
          </p:txBody>
        </p:sp>
      </p:grpSp>
      <p:grpSp>
        <p:nvGrpSpPr>
          <p:cNvPr id="425" name="Google Shape;425;p20"/>
          <p:cNvGrpSpPr/>
          <p:nvPr/>
        </p:nvGrpSpPr>
        <p:grpSpPr>
          <a:xfrm>
            <a:off x="1028700" y="4570865"/>
            <a:ext cx="16230600" cy="2363179"/>
            <a:chOff x="0" y="-238125"/>
            <a:chExt cx="21640800" cy="3150904"/>
          </a:xfrm>
        </p:grpSpPr>
        <p:sp>
          <p:nvSpPr>
            <p:cNvPr id="426" name="Google Shape;426;p20"/>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0"/>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Clr>
                  <a:srgbClr val="000000"/>
                </a:buClr>
                <a:buSzPts val="5198"/>
                <a:buFont typeface="Arial"/>
                <a:buNone/>
              </a:pPr>
              <a:r>
                <a:rPr b="0" i="0" lang="en-US" sz="5198" u="none" cap="none" strike="noStrike">
                  <a:solidFill>
                    <a:srgbClr val="131416"/>
                  </a:solidFill>
                  <a:latin typeface="Open Sans"/>
                  <a:ea typeface="Open Sans"/>
                  <a:cs typeface="Open Sans"/>
                  <a:sym typeface="Open Sans"/>
                </a:rPr>
                <a:t>“La honestidad es el primer capítulo en el libro de la sabiduría." — Thomas Jefferson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31" name="Shape 431"/>
        <p:cNvGrpSpPr/>
        <p:nvPr/>
      </p:nvGrpSpPr>
      <p:grpSpPr>
        <a:xfrm>
          <a:off x="0" y="0"/>
          <a:ext cx="0" cy="0"/>
          <a:chOff x="0" y="0"/>
          <a:chExt cx="0" cy="0"/>
        </a:xfrm>
      </p:grpSpPr>
      <p:sp>
        <p:nvSpPr>
          <p:cNvPr id="432" name="Google Shape;432;p2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3" name="Google Shape;433;p21"/>
          <p:cNvGrpSpPr/>
          <p:nvPr/>
        </p:nvGrpSpPr>
        <p:grpSpPr>
          <a:xfrm>
            <a:off x="414625" y="196812"/>
            <a:ext cx="17458749" cy="9459392"/>
            <a:chOff x="0" y="-114300"/>
            <a:chExt cx="4598189" cy="2491363"/>
          </a:xfrm>
        </p:grpSpPr>
        <p:sp>
          <p:nvSpPr>
            <p:cNvPr id="434" name="Google Shape;434;p2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21"/>
          <p:cNvGrpSpPr/>
          <p:nvPr/>
        </p:nvGrpSpPr>
        <p:grpSpPr>
          <a:xfrm>
            <a:off x="1028700" y="871538"/>
            <a:ext cx="16230602" cy="1256147"/>
            <a:chOff x="0" y="-209550"/>
            <a:chExt cx="21640802" cy="1674862"/>
          </a:xfrm>
        </p:grpSpPr>
        <p:sp>
          <p:nvSpPr>
            <p:cNvPr id="437" name="Google Shape;437;p2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Arial"/>
                <a:ea typeface="Arial"/>
                <a:cs typeface="Arial"/>
                <a:sym typeface="Arial"/>
              </a:endParaRPr>
            </a:p>
          </p:txBody>
        </p:sp>
      </p:grpSp>
      <p:grpSp>
        <p:nvGrpSpPr>
          <p:cNvPr id="439" name="Google Shape;439;p21"/>
          <p:cNvGrpSpPr/>
          <p:nvPr/>
        </p:nvGrpSpPr>
        <p:grpSpPr>
          <a:xfrm>
            <a:off x="1028700" y="2020528"/>
            <a:ext cx="16230600" cy="5501870"/>
            <a:chOff x="0" y="-142875"/>
            <a:chExt cx="21640800" cy="7335827"/>
          </a:xfrm>
        </p:grpSpPr>
        <p:sp>
          <p:nvSpPr>
            <p:cNvPr id="440" name="Google Shape;440;p21"/>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1"/>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HTML: Lenguaje de etiquetas de hipertexto. (s/f). MDN Web Docs. Recuperado el 21 de mayo de 2025, de </a:t>
              </a:r>
              <a:r>
                <a:rPr b="0" i="0" lang="en-US" sz="3200" u="sng" cap="none" strike="noStrike">
                  <a:solidFill>
                    <a:srgbClr val="131416"/>
                  </a:solidFill>
                  <a:latin typeface="Open Sans"/>
                  <a:ea typeface="Open Sans"/>
                  <a:cs typeface="Open Sans"/>
                  <a:sym typeface="Open Sans"/>
                  <a:hlinkClick r:id="rId4">
                    <a:extLst>
                      <a:ext uri="{A12FA001-AC4F-418D-AE19-62706E023703}">
                        <ahyp:hlinkClr val="tx"/>
                      </a:ext>
                    </a:extLst>
                  </a:hlinkClick>
                </a:rPr>
                <a:t>https://developer.mozilla.org/es/docs/Web/HTML</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5">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Lenguaje HTML - HTML en español. (s/f). Lenguajehtml.com. Recuperado el 22 de mayo de 2025, de </a:t>
              </a:r>
              <a:r>
                <a:rPr b="0" i="0" lang="en-US" sz="3200" u="sng" cap="none" strike="noStrike">
                  <a:solidFill>
                    <a:srgbClr val="131416"/>
                  </a:solidFill>
                  <a:latin typeface="Open Sans"/>
                  <a:ea typeface="Open Sans"/>
                  <a:cs typeface="Open Sans"/>
                  <a:sym typeface="Open Sans"/>
                  <a:hlinkClick r:id="rId6">
                    <a:extLst>
                      <a:ext uri="{A12FA001-AC4F-418D-AE19-62706E023703}">
                        <ahyp:hlinkClr val="tx"/>
                      </a:ext>
                    </a:extLst>
                  </a:hlinkClick>
                </a:rPr>
                <a:t>https://lenguajehtml.com/</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7">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CSS. (s/f). MDN Web Docs. Recuperado el 22 de mayo de 2025, de </a:t>
              </a:r>
              <a:r>
                <a:rPr b="0" i="0" lang="en-US" sz="3200" u="sng" cap="none" strike="noStrike">
                  <a:solidFill>
                    <a:srgbClr val="131416"/>
                  </a:solidFill>
                  <a:latin typeface="Open Sans"/>
                  <a:ea typeface="Open Sans"/>
                  <a:cs typeface="Open Sans"/>
                  <a:sym typeface="Open Sans"/>
                  <a:hlinkClick r:id="rId8">
                    <a:extLst>
                      <a:ext uri="{A12FA001-AC4F-418D-AE19-62706E023703}">
                        <ahyp:hlinkClr val="tx"/>
                      </a:ext>
                    </a:extLst>
                  </a:hlinkClick>
                </a:rPr>
                <a:t>https://developer.mozilla.org/es/docs/Web/CSS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E87BD"/>
            </a:gs>
            <a:gs pos="100000">
              <a:srgbClr val="EB5515"/>
            </a:gs>
          </a:gsLst>
          <a:lin ang="5400000" scaled="0"/>
        </a:gradFill>
      </p:bgPr>
    </p:bg>
    <p:spTree>
      <p:nvGrpSpPr>
        <p:cNvPr id="445" name="Shape 445"/>
        <p:cNvGrpSpPr/>
        <p:nvPr/>
      </p:nvGrpSpPr>
      <p:grpSpPr>
        <a:xfrm>
          <a:off x="0" y="0"/>
          <a:ext cx="0" cy="0"/>
          <a:chOff x="0" y="0"/>
          <a:chExt cx="0" cy="0"/>
        </a:xfrm>
      </p:grpSpPr>
      <p:sp>
        <p:nvSpPr>
          <p:cNvPr id="446" name="Google Shape;446;p2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7" name="Google Shape;447;p22"/>
          <p:cNvGrpSpPr/>
          <p:nvPr/>
        </p:nvGrpSpPr>
        <p:grpSpPr>
          <a:xfrm>
            <a:off x="414625" y="196812"/>
            <a:ext cx="17458749" cy="9459392"/>
            <a:chOff x="0" y="-114300"/>
            <a:chExt cx="4598189" cy="2491363"/>
          </a:xfrm>
        </p:grpSpPr>
        <p:sp>
          <p:nvSpPr>
            <p:cNvPr id="448" name="Google Shape;448;p2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0" name="Google Shape;450;p22"/>
          <p:cNvGrpSpPr/>
          <p:nvPr/>
        </p:nvGrpSpPr>
        <p:grpSpPr>
          <a:xfrm>
            <a:off x="4814550" y="3274804"/>
            <a:ext cx="8658900" cy="2029500"/>
            <a:chOff x="0" y="-152400"/>
            <a:chExt cx="11545200" cy="2706000"/>
          </a:xfrm>
        </p:grpSpPr>
        <p:sp>
          <p:nvSpPr>
            <p:cNvPr id="451" name="Google Shape;451;p22"/>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2"/>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28648"/>
                </a:lnSpc>
                <a:spcBef>
                  <a:spcPts val="0"/>
                </a:spcBef>
                <a:spcAft>
                  <a:spcPts val="0"/>
                </a:spcAft>
                <a:buClr>
                  <a:srgbClr val="000000"/>
                </a:buClr>
                <a:buSzPts val="6098"/>
                <a:buFont typeface="Arial"/>
                <a:buNone/>
              </a:pPr>
              <a:r>
                <a:t/>
              </a:r>
              <a:endParaRPr b="0" i="0" sz="6098" u="none" cap="none" strike="noStrike">
                <a:solidFill>
                  <a:srgbClr val="131416"/>
                </a:solidFill>
                <a:latin typeface="Impact"/>
                <a:ea typeface="Impact"/>
                <a:cs typeface="Impact"/>
                <a:sym typeface="Impact"/>
              </a:endParaRPr>
            </a:p>
          </p:txBody>
        </p:sp>
      </p:grpSp>
      <p:grpSp>
        <p:nvGrpSpPr>
          <p:cNvPr id="453" name="Google Shape;453;p22"/>
          <p:cNvGrpSpPr/>
          <p:nvPr/>
        </p:nvGrpSpPr>
        <p:grpSpPr>
          <a:xfrm>
            <a:off x="5414714" y="5679497"/>
            <a:ext cx="6704991" cy="1177131"/>
            <a:chOff x="0" y="-371475"/>
            <a:chExt cx="8939988" cy="1569508"/>
          </a:xfrm>
        </p:grpSpPr>
        <p:sp>
          <p:nvSpPr>
            <p:cNvPr id="454" name="Google Shape;454;p22"/>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2"/>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Clr>
                  <a:srgbClr val="000000"/>
                </a:buClr>
                <a:buSzPts val="4999"/>
                <a:buFont typeface="Arial"/>
                <a:buNone/>
              </a:pPr>
              <a:r>
                <a:rPr b="0" i="0" lang="en-US" sz="4999"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grpSp>
      <p:sp>
        <p:nvSpPr>
          <p:cNvPr id="456" name="Google Shape;456;p22"/>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4">
              <a:alphaModFix/>
            </a:blip>
            <a:stretch>
              <a:fillRect b="0" l="-6"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7" name="Google Shape;457;p22"/>
          <p:cNvGrpSpPr/>
          <p:nvPr/>
        </p:nvGrpSpPr>
        <p:grpSpPr>
          <a:xfrm>
            <a:off x="2411098" y="7785435"/>
            <a:ext cx="13465804" cy="833755"/>
            <a:chOff x="0" y="-152400"/>
            <a:chExt cx="17954405" cy="1111673"/>
          </a:xfrm>
        </p:grpSpPr>
        <p:sp>
          <p:nvSpPr>
            <p:cNvPr id="458" name="Google Shape;458;p22"/>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2"/>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