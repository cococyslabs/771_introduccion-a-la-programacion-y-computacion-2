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Playfair Display"/>
      <p:regular r:id="rId48"/>
      <p:bold r:id="rId49"/>
      <p:italic r:id="rId50"/>
      <p:boldItalic r:id="rId51"/>
    </p:embeddedFont>
    <p:embeddedFont>
      <p:font typeface="Montserrat"/>
      <p:regular r:id="rId52"/>
      <p:bold r:id="rId53"/>
      <p:italic r:id="rId54"/>
      <p:boldItalic r:id="rId55"/>
    </p:embeddedFont>
    <p:embeddedFont>
      <p:font typeface="Lato"/>
      <p:regular r:id="rId56"/>
      <p:bold r:id="rId57"/>
      <p:italic r:id="rId58"/>
      <p:boldItalic r:id="rId59"/>
    </p:embeddedFont>
    <p:embeddedFont>
      <p:font typeface="Oswald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9A16CB-C8E0-4492-9147-9B2639FAF1A7}">
  <a:tblStyle styleId="{F49A16CB-C8E0-4492-9147-9B2639FAF1A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AD0ECB5-55A6-4245-BEFE-BEB0B922B19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font" Target="fonts/Roboto-regular.fntdata"/><Relationship Id="rId43" Type="http://schemas.openxmlformats.org/officeDocument/2006/relationships/slide" Target="slides/slide35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PlayfairDisplay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PlayfairDispl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1" Type="http://schemas.openxmlformats.org/officeDocument/2006/relationships/font" Target="fonts/Oswald-bold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font" Target="fonts/Oswald-regular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PlayfairDisplay-boldItalic.fntdata"/><Relationship Id="rId50" Type="http://schemas.openxmlformats.org/officeDocument/2006/relationships/font" Target="fonts/PlayfairDisplay-italic.fntdata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3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2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5.xml"/><Relationship Id="rId57" Type="http://schemas.openxmlformats.org/officeDocument/2006/relationships/font" Target="fonts/Lato-bold.fntdata"/><Relationship Id="rId12" Type="http://schemas.openxmlformats.org/officeDocument/2006/relationships/slide" Target="slides/slide4.xml"/><Relationship Id="rId56" Type="http://schemas.openxmlformats.org/officeDocument/2006/relationships/font" Target="fonts/Lato-regular.fntdata"/><Relationship Id="rId15" Type="http://schemas.openxmlformats.org/officeDocument/2006/relationships/slide" Target="slides/slide7.xml"/><Relationship Id="rId59" Type="http://schemas.openxmlformats.org/officeDocument/2006/relationships/font" Target="fonts/Lato-boldItalic.fntdata"/><Relationship Id="rId14" Type="http://schemas.openxmlformats.org/officeDocument/2006/relationships/slide" Target="slides/slide6.xml"/><Relationship Id="rId58" Type="http://schemas.openxmlformats.org/officeDocument/2006/relationships/font" Target="fonts/Lato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616ffa73c_0_4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9616ffa73c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616ffa73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616ffa73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616ffa73c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616ffa73c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616ffa73c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616ffa73c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616ffa73c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616ffa73c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616ffa73c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616ffa73c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616ffa73c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616ffa73c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16ffa73c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9616ffa73c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616ffa73c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616ffa73c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616ffa73c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616ffa73c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616ffa73c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616ffa73c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616ffa73c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616ffa73c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077aec1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077aec1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16ffa73c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9616ffa73c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616ffa73c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616ffa73c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16ffa73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616ffa73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616ffa73c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9616ffa73c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616ffa73c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616ffa73c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616ffa73c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9616ffa73c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616ffa73c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616ffa73c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616ffa73c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616ffa73c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616ffa73c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616ffa73c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616ffa73c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616ffa73c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9616ffa73c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9616ffa73c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616ffa73c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616ffa73c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616ffa73c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616ffa73c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616ffa73c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9616ffa73c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616ffa73c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9616ffa73c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616ffa73c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9616ffa73c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076dad2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d076dad2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076dad25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076dad25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076dad25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076dad25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076dad25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d076dad25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076dad25e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d076dad25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8.png"/><Relationship Id="rId13" Type="http://schemas.openxmlformats.org/officeDocument/2006/relationships/image" Target="../media/image9.png"/><Relationship Id="rId1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15" Type="http://schemas.openxmlformats.org/officeDocument/2006/relationships/image" Target="../media/image3.png"/><Relationship Id="rId14" Type="http://schemas.openxmlformats.org/officeDocument/2006/relationships/image" Target="../media/image8.png"/><Relationship Id="rId17" Type="http://schemas.openxmlformats.org/officeDocument/2006/relationships/image" Target="../media/image4.png"/><Relationship Id="rId16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6" name="Google Shape;116;p19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7" name="Google Shape;117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3" name="Google Shape;123;p20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4" name="Google Shape;124;p20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5" name="Google Shape;125;p20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38" name="Google Shape;138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3" name="Google Shape;143;p23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45" name="Google Shape;145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0" name="Google Shape;170;p28"/>
          <p:cNvSpPr/>
          <p:nvPr/>
        </p:nvSpPr>
        <p:spPr>
          <a:xfrm rot="8477726">
            <a:off x="6111179" y="-1124101"/>
            <a:ext cx="2341466" cy="1941288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1"/>
                </a:lnTo>
                <a:lnTo>
                  <a:pt x="0" y="3884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8"/>
          <p:cNvSpPr/>
          <p:nvPr/>
        </p:nvSpPr>
        <p:spPr>
          <a:xfrm rot="2322274">
            <a:off x="7663365" y="-266692"/>
            <a:ext cx="2341466" cy="1502445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7"/>
                </a:lnTo>
                <a:lnTo>
                  <a:pt x="0" y="30063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28"/>
          <p:cNvSpPr/>
          <p:nvPr/>
        </p:nvSpPr>
        <p:spPr>
          <a:xfrm rot="5055654">
            <a:off x="8252562" y="1981941"/>
            <a:ext cx="2342638" cy="1891022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8"/>
          <p:cNvSpPr/>
          <p:nvPr/>
        </p:nvSpPr>
        <p:spPr>
          <a:xfrm rot="-3483315">
            <a:off x="7667199" y="4020037"/>
            <a:ext cx="2346588" cy="1505731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28"/>
          <p:cNvSpPr/>
          <p:nvPr/>
        </p:nvSpPr>
        <p:spPr>
          <a:xfrm rot="8959864">
            <a:off x="-568796" y="-567682"/>
            <a:ext cx="2342257" cy="1502953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28"/>
          <p:cNvSpPr/>
          <p:nvPr/>
        </p:nvSpPr>
        <p:spPr>
          <a:xfrm rot="5400000">
            <a:off x="-455755" y="4283944"/>
            <a:ext cx="2342609" cy="1890998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28"/>
          <p:cNvSpPr/>
          <p:nvPr/>
        </p:nvSpPr>
        <p:spPr>
          <a:xfrm rot="5400000">
            <a:off x="1602322" y="4692722"/>
            <a:ext cx="2342609" cy="1942236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0"/>
                </a:lnTo>
                <a:lnTo>
                  <a:pt x="0" y="3884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28"/>
          <p:cNvSpPr/>
          <p:nvPr/>
        </p:nvSpPr>
        <p:spPr>
          <a:xfrm rot="5400000">
            <a:off x="931397" y="-1385055"/>
            <a:ext cx="2342609" cy="2018903"/>
          </a:xfrm>
          <a:custGeom>
            <a:rect b="b" l="l" r="r" t="t"/>
            <a:pathLst>
              <a:path extrusionOk="0" h="4037805" w="4685217">
                <a:moveTo>
                  <a:pt x="0" y="0"/>
                </a:moveTo>
                <a:lnTo>
                  <a:pt x="4685216" y="0"/>
                </a:lnTo>
                <a:lnTo>
                  <a:pt x="4685216" y="4037805"/>
                </a:lnTo>
                <a:lnTo>
                  <a:pt x="0" y="4037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28"/>
          <p:cNvSpPr/>
          <p:nvPr/>
        </p:nvSpPr>
        <p:spPr>
          <a:xfrm rot="5400000">
            <a:off x="7944202" y="1425738"/>
            <a:ext cx="871749" cy="844804"/>
          </a:xfrm>
          <a:custGeom>
            <a:rect b="b" l="l" r="r" t="t"/>
            <a:pathLst>
              <a:path extrusionOk="0" h="1689608" w="1743498">
                <a:moveTo>
                  <a:pt x="0" y="0"/>
                </a:moveTo>
                <a:lnTo>
                  <a:pt x="1743498" y="0"/>
                </a:lnTo>
                <a:lnTo>
                  <a:pt x="1743498" y="1689608"/>
                </a:lnTo>
                <a:lnTo>
                  <a:pt x="0" y="1689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28"/>
          <p:cNvSpPr/>
          <p:nvPr/>
        </p:nvSpPr>
        <p:spPr>
          <a:xfrm rot="5400000">
            <a:off x="-1351661" y="2694468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28"/>
          <p:cNvSpPr/>
          <p:nvPr/>
        </p:nvSpPr>
        <p:spPr>
          <a:xfrm rot="10003604">
            <a:off x="6802359" y="4547632"/>
            <a:ext cx="2346734" cy="2689021"/>
          </a:xfrm>
          <a:custGeom>
            <a:rect b="b" l="l" r="r" t="t"/>
            <a:pathLst>
              <a:path extrusionOk="0" h="5368589" w="4685217">
                <a:moveTo>
                  <a:pt x="0" y="0"/>
                </a:moveTo>
                <a:lnTo>
                  <a:pt x="4685217" y="0"/>
                </a:lnTo>
                <a:lnTo>
                  <a:pt x="4685217" y="5368589"/>
                </a:lnTo>
                <a:lnTo>
                  <a:pt x="0" y="5368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28"/>
          <p:cNvSpPr/>
          <p:nvPr/>
        </p:nvSpPr>
        <p:spPr>
          <a:xfrm rot="817112">
            <a:off x="3342937" y="-1520401"/>
            <a:ext cx="2755396" cy="2284474"/>
          </a:xfrm>
          <a:custGeom>
            <a:rect b="b" l="l" r="r" t="t"/>
            <a:pathLst>
              <a:path extrusionOk="0" h="4577826" w="5521501">
                <a:moveTo>
                  <a:pt x="0" y="0"/>
                </a:moveTo>
                <a:lnTo>
                  <a:pt x="5521501" y="0"/>
                </a:lnTo>
                <a:lnTo>
                  <a:pt x="5521501" y="4577827"/>
                </a:lnTo>
                <a:lnTo>
                  <a:pt x="0" y="457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28"/>
          <p:cNvSpPr/>
          <p:nvPr/>
        </p:nvSpPr>
        <p:spPr>
          <a:xfrm rot="817112">
            <a:off x="5372884" y="4584490"/>
            <a:ext cx="2555946" cy="2119112"/>
          </a:xfrm>
          <a:custGeom>
            <a:rect b="b" l="l" r="r" t="t"/>
            <a:pathLst>
              <a:path extrusionOk="0" h="4246459" w="5121825">
                <a:moveTo>
                  <a:pt x="0" y="0"/>
                </a:moveTo>
                <a:lnTo>
                  <a:pt x="5121826" y="0"/>
                </a:lnTo>
                <a:lnTo>
                  <a:pt x="5121826" y="4246459"/>
                </a:lnTo>
                <a:lnTo>
                  <a:pt x="0" y="4246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28"/>
          <p:cNvSpPr/>
          <p:nvPr/>
        </p:nvSpPr>
        <p:spPr>
          <a:xfrm rot="5400000">
            <a:off x="3400696" y="4456059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8"/>
          <p:cNvSpPr/>
          <p:nvPr/>
        </p:nvSpPr>
        <p:spPr>
          <a:xfrm rot="7588154">
            <a:off x="-1594862" y="930589"/>
            <a:ext cx="2345008" cy="1892935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8"/>
          <p:cNvSpPr/>
          <p:nvPr/>
        </p:nvSpPr>
        <p:spPr>
          <a:xfrm rot="-8233555">
            <a:off x="6970548" y="-162079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8"/>
          <p:cNvSpPr/>
          <p:nvPr/>
        </p:nvSpPr>
        <p:spPr>
          <a:xfrm rot="-8233555">
            <a:off x="4522863" y="499277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28"/>
          <p:cNvSpPr/>
          <p:nvPr/>
        </p:nvSpPr>
        <p:spPr>
          <a:xfrm rot="-8233555">
            <a:off x="-1640503" y="-346504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6" y="0"/>
                </a:lnTo>
                <a:lnTo>
                  <a:pt x="4685216" y="5614093"/>
                </a:lnTo>
                <a:lnTo>
                  <a:pt x="0" y="5614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28"/>
          <p:cNvSpPr/>
          <p:nvPr/>
        </p:nvSpPr>
        <p:spPr>
          <a:xfrm rot="4934090">
            <a:off x="84549" y="4260092"/>
            <a:ext cx="2340646" cy="2804695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2" name="Google Shape;202;p31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0" name="Google Shape;210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3" name="Google Shape;213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3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35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5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b="0" i="0" sz="18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hyperlink" Target="https://learn.microsoft.com/es-es/aspnet/core/razor-pages/?view=aspnetcore-10.0&amp;tabs=visual-studio" TargetMode="External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hyperlink" Target="http://program.cs" TargetMode="External"/><Relationship Id="rId5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38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{F49A16CB-C8E0-4492-9147-9B2639FAF1A7}</a:tableStyleId>
              </a:tblPr>
              <a:tblGrid>
                <a:gridCol w="1518200"/>
                <a:gridCol w="2172375"/>
              </a:tblGrid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700" u="none" cap="none" strike="noStrike"/>
                        <a:t>Martes, </a:t>
                      </a:r>
                      <a:r>
                        <a:rPr lang="es" sz="1700"/>
                        <a:t>17</a:t>
                      </a:r>
                      <a:r>
                        <a:rPr lang="es" sz="1700" u="none" cap="none" strike="noStrike"/>
                        <a:t>/03/202</a:t>
                      </a:r>
                      <a:r>
                        <a:rPr lang="es" sz="1700"/>
                        <a:t>6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u="none" cap="none" strike="noStrike"/>
                        <a:t>17:20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38"/>
          <p:cNvSpPr/>
          <p:nvPr/>
        </p:nvSpPr>
        <p:spPr>
          <a:xfrm>
            <a:off x="1799025" y="2994338"/>
            <a:ext cx="36825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TOBÍAS RAFAEL ZAMORA SANTOS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1545463" y="2390625"/>
            <a:ext cx="50712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Desarrollo Web Frontend</a:t>
            </a:r>
            <a:endParaRPr b="1"/>
          </a:p>
        </p:txBody>
      </p:sp>
      <p:sp>
        <p:nvSpPr>
          <p:cNvPr id="241" name="Google Shape;241;p39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200"/>
              <a:t>Introducción a ASP.NET Core Razor Pages</a:t>
            </a:r>
            <a:endParaRPr b="1"/>
          </a:p>
        </p:txBody>
      </p:sp>
      <p:pic>
        <p:nvPicPr>
          <p:cNvPr id="242" name="Google Shape;2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9"/>
          <p:cNvSpPr txBox="1"/>
          <p:nvPr/>
        </p:nvSpPr>
        <p:spPr>
          <a:xfrm>
            <a:off x="598100" y="3912600"/>
            <a:ext cx="6034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Introducción a la Programación y Computación 2</a:t>
            </a:r>
            <a:br>
              <a:rPr b="1"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Escuela de Ingeniería en Ciencias y Sistemas</a:t>
            </a:r>
            <a:b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Facultad de Ingeniería</a:t>
            </a:r>
            <a:b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Universidad de San Carlos de Guatemala</a:t>
            </a:r>
            <a:endParaRPr sz="131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1101750" y="197300"/>
            <a:ext cx="1935300" cy="6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249" name="Google Shape;249;p40"/>
          <p:cNvSpPr txBox="1"/>
          <p:nvPr>
            <p:ph idx="1" type="subTitle"/>
          </p:nvPr>
        </p:nvSpPr>
        <p:spPr>
          <a:xfrm>
            <a:off x="654475" y="1477125"/>
            <a:ext cx="26061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</a:rPr>
              <a:t>La </a:t>
            </a:r>
            <a:r>
              <a:rPr lang="es" sz="1500">
                <a:solidFill>
                  <a:srgbClr val="000000"/>
                </a:solidFill>
              </a:rPr>
              <a:t>Web y las Interfaces (HTML)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250" name="Google Shape;250;p40"/>
          <p:cNvSpPr txBox="1"/>
          <p:nvPr>
            <p:ph type="title"/>
          </p:nvPr>
        </p:nvSpPr>
        <p:spPr>
          <a:xfrm>
            <a:off x="5829975" y="197300"/>
            <a:ext cx="2307600" cy="6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Recursos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1" name="Google Shape;251;p40"/>
          <p:cNvSpPr/>
          <p:nvPr/>
        </p:nvSpPr>
        <p:spPr>
          <a:xfrm>
            <a:off x="127875" y="764765"/>
            <a:ext cx="408986" cy="473563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40"/>
          <p:cNvSpPr/>
          <p:nvPr/>
        </p:nvSpPr>
        <p:spPr>
          <a:xfrm>
            <a:off x="5792475" y="1074300"/>
            <a:ext cx="2382600" cy="7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Documentación Razor Pages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40"/>
          <p:cNvSpPr/>
          <p:nvPr/>
        </p:nvSpPr>
        <p:spPr>
          <a:xfrm>
            <a:off x="128913" y="135394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40"/>
          <p:cNvSpPr txBox="1"/>
          <p:nvPr>
            <p:ph idx="1" type="subTitle"/>
          </p:nvPr>
        </p:nvSpPr>
        <p:spPr>
          <a:xfrm>
            <a:off x="1149025" y="973850"/>
            <a:ext cx="16170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</a:rPr>
              <a:t>Recordatorios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255" name="Google Shape;255;p40"/>
          <p:cNvSpPr/>
          <p:nvPr/>
        </p:nvSpPr>
        <p:spPr>
          <a:xfrm>
            <a:off x="129963" y="1900974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40"/>
          <p:cNvSpPr/>
          <p:nvPr/>
        </p:nvSpPr>
        <p:spPr>
          <a:xfrm>
            <a:off x="128913" y="244799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40"/>
          <p:cNvSpPr txBox="1"/>
          <p:nvPr>
            <p:ph idx="1" type="subTitle"/>
          </p:nvPr>
        </p:nvSpPr>
        <p:spPr>
          <a:xfrm>
            <a:off x="654475" y="2051325"/>
            <a:ext cx="28581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Requisitos y Creación del Proyecto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58" name="Google Shape;258;p40"/>
          <p:cNvSpPr txBox="1"/>
          <p:nvPr>
            <p:ph idx="1" type="subTitle"/>
          </p:nvPr>
        </p:nvSpPr>
        <p:spPr>
          <a:xfrm>
            <a:off x="654475" y="2570263"/>
            <a:ext cx="20004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¿Que es Razor Pages?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59" name="Google Shape;259;p40"/>
          <p:cNvSpPr txBox="1"/>
          <p:nvPr>
            <p:ph idx="1" type="subTitle"/>
          </p:nvPr>
        </p:nvSpPr>
        <p:spPr>
          <a:xfrm>
            <a:off x="654475" y="3141288"/>
            <a:ext cx="23826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Arquitectura de las Carpetas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60" name="Google Shape;260;p40"/>
          <p:cNvSpPr txBox="1"/>
          <p:nvPr>
            <p:ph idx="1" type="subTitle"/>
          </p:nvPr>
        </p:nvSpPr>
        <p:spPr>
          <a:xfrm>
            <a:off x="654475" y="3663400"/>
            <a:ext cx="31824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Estilos Manuales (Adiós Bootstrap)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61" name="Google Shape;261;p40"/>
          <p:cNvSpPr txBox="1"/>
          <p:nvPr>
            <p:ph idx="1" type="subTitle"/>
          </p:nvPr>
        </p:nvSpPr>
        <p:spPr>
          <a:xfrm>
            <a:off x="654475" y="4203313"/>
            <a:ext cx="38706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Creación Manual de Páginas (Sin Scaffolding)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128913" y="2995024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40"/>
          <p:cNvSpPr/>
          <p:nvPr/>
        </p:nvSpPr>
        <p:spPr>
          <a:xfrm>
            <a:off x="128913" y="354204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40"/>
          <p:cNvSpPr/>
          <p:nvPr/>
        </p:nvSpPr>
        <p:spPr>
          <a:xfrm>
            <a:off x="128913" y="4089074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40"/>
          <p:cNvSpPr/>
          <p:nvPr/>
        </p:nvSpPr>
        <p:spPr>
          <a:xfrm>
            <a:off x="128913" y="463609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40"/>
          <p:cNvSpPr txBox="1"/>
          <p:nvPr>
            <p:ph idx="1" type="subTitle"/>
          </p:nvPr>
        </p:nvSpPr>
        <p:spPr>
          <a:xfrm>
            <a:off x="640350" y="4707625"/>
            <a:ext cx="28581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Inyección de Dependencias</a:t>
            </a:r>
            <a:endParaRPr sz="1363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1046100" y="715025"/>
            <a:ext cx="7051800" cy="8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800"/>
              <a:t>Competencias a Desarrollar</a:t>
            </a:r>
            <a:endParaRPr b="1" sz="4800"/>
          </a:p>
        </p:txBody>
      </p:sp>
      <p:pic>
        <p:nvPicPr>
          <p:cNvPr id="272" name="Google Shape;27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1" title="cococys.png"/>
          <p:cNvPicPr preferRelativeResize="0"/>
          <p:nvPr/>
        </p:nvPicPr>
        <p:blipFill rotWithShape="1">
          <a:blip r:embed="rId4">
            <a:alphaModFix/>
          </a:blip>
          <a:srcRect b="7450" l="14872" r="0" t="0"/>
          <a:stretch/>
        </p:blipFill>
        <p:spPr>
          <a:xfrm>
            <a:off x="7335075" y="1962700"/>
            <a:ext cx="1808925" cy="31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1"/>
          <p:cNvSpPr txBox="1"/>
          <p:nvPr>
            <p:ph idx="1" type="body"/>
          </p:nvPr>
        </p:nvSpPr>
        <p:spPr>
          <a:xfrm>
            <a:off x="330675" y="1462750"/>
            <a:ext cx="6920700" cy="3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s" sz="1118">
                <a:solidFill>
                  <a:srgbClr val="FFFFFF"/>
                </a:solidFill>
              </a:rPr>
              <a:t>Competencias Específicas (Técnicas):</a:t>
            </a:r>
            <a:endParaRPr b="1"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Construcción de Estructuras Dinámicas:</a:t>
            </a:r>
            <a:r>
              <a:rPr lang="es" sz="1118">
                <a:solidFill>
                  <a:srgbClr val="FFFFFF"/>
                </a:solidFill>
              </a:rPr>
              <a:t> Implementar estructuras de datos lineales y no lineales (listas, colas, pilas, árboles) desde cero en la memoria RAM, sin depender de bases de datos u ORMs (Entity Framework).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Desarrollo Web Backend:</a:t>
            </a:r>
            <a:r>
              <a:rPr lang="es" sz="1118">
                <a:solidFill>
                  <a:srgbClr val="FFFFFF"/>
                </a:solidFill>
              </a:rPr>
              <a:t> Comprender y aplicar el ciclo de vida de una aplicación web (petición-respuesta) utilizando ASP.NET Core Razor Pages y el patrón de inyección de dependencias (Singleton).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Procesamiento de Archivos:</a:t>
            </a:r>
            <a:r>
              <a:rPr lang="es" sz="1118">
                <a:solidFill>
                  <a:srgbClr val="FFFFFF"/>
                </a:solidFill>
              </a:rPr>
              <a:t> Extraer, analizar y manipular información estructurada a partir de archivos de texto (XML) utilizando las clases nativas de C# (</a:t>
            </a:r>
            <a:r>
              <a:rPr lang="es" sz="1118">
                <a:solidFill>
                  <a:srgbClr val="188038"/>
                </a:solidFill>
              </a:rPr>
              <a:t>XmlDocument, StreamReader</a:t>
            </a:r>
            <a:r>
              <a:rPr lang="es" sz="1118">
                <a:solidFill>
                  <a:srgbClr val="FFFFFF"/>
                </a:solidFill>
              </a:rPr>
              <a:t>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Diseño de Interfaces (Frontend):</a:t>
            </a:r>
            <a:r>
              <a:rPr lang="es" sz="1118">
                <a:solidFill>
                  <a:srgbClr val="FFFFFF"/>
                </a:solidFill>
              </a:rPr>
              <a:t> Construir interfaces gráficas de usuario (GUI) modernas, limpias y responsivas integrando frameworks de utilidades CSS (Tailwind) con HTML.</a:t>
            </a:r>
            <a:endParaRPr sz="1118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s" sz="1118">
                <a:solidFill>
                  <a:srgbClr val="FFFFFF"/>
                </a:solidFill>
              </a:rPr>
              <a:t>Competencias Transversales (Analíticas):</a:t>
            </a:r>
            <a:endParaRPr b="1"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Separación de Responsabilidades:</a:t>
            </a:r>
            <a:r>
              <a:rPr lang="es" sz="1118">
                <a:solidFill>
                  <a:srgbClr val="FFFFFF"/>
                </a:solidFill>
              </a:rPr>
              <a:t> Aislar correctamente la lógica matemática y de almacenamiento (Backend/Estructuras) de la capa de presentación visual (Frontend/HTML).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Resolución de Problemas:</a:t>
            </a:r>
            <a:r>
              <a:rPr lang="es" sz="1118">
                <a:solidFill>
                  <a:srgbClr val="FFFFFF"/>
                </a:solidFill>
              </a:rPr>
              <a:t> Adaptar el pensamiento lógico tradicional (de aplicaciones de consola/escritorio) a las restricciones y naturaleza "sin estado" (stateless) del entorno web.</a:t>
            </a:r>
            <a:endParaRPr b="1" sz="139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La web y las Interfaces (HTML)</a:t>
            </a:r>
            <a:endParaRPr b="1"/>
          </a:p>
        </p:txBody>
      </p:sp>
      <p:sp>
        <p:nvSpPr>
          <p:cNvPr id="281" name="Google Shape;281;p4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¿Cómo funciona una interfaz web?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311700" y="1229875"/>
            <a:ext cx="4841100" cy="31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HTML (Estructura):</a:t>
            </a:r>
            <a:r>
              <a:rPr lang="es" sz="1400">
                <a:solidFill>
                  <a:srgbClr val="000000"/>
                </a:solidFill>
              </a:rPr>
              <a:t> Es el esqueleto de la página (textos, botones, tablas).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CSS (Diseño):</a:t>
            </a:r>
            <a:r>
              <a:rPr lang="es" sz="1400">
                <a:solidFill>
                  <a:srgbClr val="000000"/>
                </a:solidFill>
              </a:rPr>
              <a:t> Es la pintura y decoración (colores, márgenes, </a:t>
            </a:r>
            <a:r>
              <a:rPr lang="es" sz="1400">
                <a:solidFill>
                  <a:srgbClr val="000000"/>
                </a:solidFill>
              </a:rPr>
              <a:t>Bootstrap</a:t>
            </a:r>
            <a:r>
              <a:rPr lang="es" sz="1400">
                <a:solidFill>
                  <a:srgbClr val="000000"/>
                </a:solidFill>
              </a:rPr>
              <a:t>, Tailwind).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El Servidor (Backend en C#):</a:t>
            </a:r>
            <a:r>
              <a:rPr lang="es" sz="1400">
                <a:solidFill>
                  <a:srgbClr val="000000"/>
                </a:solidFill>
              </a:rPr>
              <a:t> Es el cerebro. Procesa clics, guarda datos y devuelve el HTML final al navegador.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El Reto:</a:t>
            </a:r>
            <a:r>
              <a:rPr lang="es" sz="1400">
                <a:solidFill>
                  <a:srgbClr val="000000"/>
                </a:solidFill>
              </a:rPr>
              <a:t> La web "no tiene memoria" (es </a:t>
            </a:r>
            <a:r>
              <a:rPr i="1" lang="es" sz="1400">
                <a:solidFill>
                  <a:srgbClr val="000000"/>
                </a:solidFill>
              </a:rPr>
              <a:t>stateless</a:t>
            </a:r>
            <a:r>
              <a:rPr lang="es" sz="1400">
                <a:solidFill>
                  <a:srgbClr val="000000"/>
                </a:solidFill>
              </a:rPr>
              <a:t>). Cada vez que cambiamos de página, todo se recarga.</a:t>
            </a:r>
            <a:endParaRPr/>
          </a:p>
        </p:txBody>
      </p:sp>
      <p:pic>
        <p:nvPicPr>
          <p:cNvPr id="288" name="Google Shape;28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9650" y="1274500"/>
            <a:ext cx="2118425" cy="145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Requisitos y Creación del Proyecto</a:t>
            </a:r>
            <a:endParaRPr b="1"/>
          </a:p>
        </p:txBody>
      </p:sp>
      <p:sp>
        <p:nvSpPr>
          <p:cNvPr id="295" name="Google Shape;295;p4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Preparando nuestro Entorno de Trabajo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5"/>
          <p:cNvSpPr txBox="1"/>
          <p:nvPr>
            <p:ph idx="1" type="body"/>
          </p:nvPr>
        </p:nvSpPr>
        <p:spPr>
          <a:xfrm>
            <a:off x="311700" y="1229875"/>
            <a:ext cx="4841100" cy="31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Herramientas necesarias:</a:t>
            </a:r>
            <a:r>
              <a:rPr lang="es" sz="1300">
                <a:solidFill>
                  <a:srgbClr val="000000"/>
                </a:solidFill>
              </a:rPr>
              <a:t> Visual Studio y el .NET SDK.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Instalación clave:</a:t>
            </a:r>
            <a:r>
              <a:rPr lang="es" sz="1300">
                <a:solidFill>
                  <a:srgbClr val="000000"/>
                </a:solidFill>
              </a:rPr>
              <a:t> En el instalador de Visual Studio, asegurarse de marcar la carga de trabajo </a:t>
            </a:r>
            <a:r>
              <a:rPr b="1" lang="es" sz="1300">
                <a:solidFill>
                  <a:srgbClr val="000000"/>
                </a:solidFill>
              </a:rPr>
              <a:t>"Desarrollo de ASP.NET y web"</a:t>
            </a:r>
            <a:r>
              <a:rPr lang="es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Creación del Proyecto: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AutoNum type="arabicPeriod"/>
            </a:pPr>
            <a:r>
              <a:rPr lang="es" sz="1300">
                <a:solidFill>
                  <a:srgbClr val="000000"/>
                </a:solidFill>
              </a:rPr>
              <a:t>Crear un nuevo proyecto.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s" sz="1300">
                <a:solidFill>
                  <a:srgbClr val="000000"/>
                </a:solidFill>
              </a:rPr>
              <a:t>Buscar y seleccionar la plantilla: </a:t>
            </a:r>
            <a:r>
              <a:rPr b="1" lang="es" sz="1300">
                <a:solidFill>
                  <a:srgbClr val="000000"/>
                </a:solidFill>
              </a:rPr>
              <a:t>"Aplicación web ASP.NET Core (Páginas de Razor)"</a:t>
            </a:r>
            <a:r>
              <a:rPr lang="es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s" sz="1300">
                <a:solidFill>
                  <a:srgbClr val="000000"/>
                </a:solidFill>
              </a:rPr>
              <a:t>Asignar nombre (Ej. </a:t>
            </a:r>
            <a:r>
              <a:rPr lang="es" sz="1300">
                <a:solidFill>
                  <a:srgbClr val="188038"/>
                </a:solidFill>
              </a:rPr>
              <a:t>Proyecto2_IPC2</a:t>
            </a:r>
            <a:r>
              <a:rPr lang="es" sz="1300">
                <a:solidFill>
                  <a:srgbClr val="000000"/>
                </a:solidFill>
              </a:rPr>
              <a:t>) y seleccionar la versión de .NET (Ej. .NET 10).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  <p:pic>
        <p:nvPicPr>
          <p:cNvPr id="302" name="Google Shape;30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6450" y="784250"/>
            <a:ext cx="2221626" cy="222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I</a:t>
            </a:r>
            <a:r>
              <a:rPr lang="es" sz="2700"/>
              <a:t>nstalar la Herramienta  </a:t>
            </a:r>
            <a:r>
              <a:rPr lang="es" sz="2700"/>
              <a:t>Desarrollo de ASP.NET y web</a:t>
            </a:r>
            <a:endParaRPr sz="2700"/>
          </a:p>
        </p:txBody>
      </p:sp>
      <p:pic>
        <p:nvPicPr>
          <p:cNvPr id="308" name="Google Shape;30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50" y="1277625"/>
            <a:ext cx="6011851" cy="32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6"/>
          <p:cNvSpPr/>
          <p:nvPr/>
        </p:nvSpPr>
        <p:spPr>
          <a:xfrm>
            <a:off x="521975" y="1645550"/>
            <a:ext cx="2222400" cy="1018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46" title="Buho4.png"/>
          <p:cNvPicPr preferRelativeResize="0"/>
          <p:nvPr/>
        </p:nvPicPr>
        <p:blipFill rotWithShape="1">
          <a:blip r:embed="rId5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Creación del Proyecto</a:t>
            </a:r>
            <a:endParaRPr sz="2700"/>
          </a:p>
        </p:txBody>
      </p:sp>
      <p:pic>
        <p:nvPicPr>
          <p:cNvPr id="317" name="Google Shape;3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150" y="1181350"/>
            <a:ext cx="6390776" cy="341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7" title="Buho4.png"/>
          <p:cNvPicPr preferRelativeResize="0"/>
          <p:nvPr/>
        </p:nvPicPr>
        <p:blipFill rotWithShape="1">
          <a:blip r:embed="rId5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7"/>
          <p:cNvSpPr/>
          <p:nvPr/>
        </p:nvSpPr>
        <p:spPr>
          <a:xfrm>
            <a:off x="1708313" y="1327225"/>
            <a:ext cx="4525500" cy="1018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8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¿Qué es Razor Pages?</a:t>
            </a:r>
            <a:endParaRPr b="1"/>
          </a:p>
        </p:txBody>
      </p:sp>
      <p:sp>
        <p:nvSpPr>
          <p:cNvPr id="327" name="Google Shape;327;p4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La Magia de Razor Pages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9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Concepto:</a:t>
            </a:r>
            <a:r>
              <a:rPr lang="es" sz="1400">
                <a:solidFill>
                  <a:srgbClr val="000000"/>
                </a:solidFill>
              </a:rPr>
              <a:t> Es un framework de Microsoft que nos permite combinar código HTML con código C# en un mismo archivo, haciendo que crear páginas dinámicas sea muy fácil y ordenado.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La Anatomía de una Página: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400">
                <a:solidFill>
                  <a:srgbClr val="188038"/>
                </a:solidFill>
              </a:rPr>
              <a:t>MiPagina.cshtml</a:t>
            </a:r>
            <a:r>
              <a:rPr b="1" lang="es" sz="1400">
                <a:solidFill>
                  <a:srgbClr val="000000"/>
                </a:solidFill>
              </a:rPr>
              <a:t> (Frontend):</a:t>
            </a:r>
            <a:r>
              <a:rPr lang="es" sz="1400">
                <a:solidFill>
                  <a:srgbClr val="000000"/>
                </a:solidFill>
              </a:rPr>
              <a:t> Aquí vive el HTML. Usamos el símbolo </a:t>
            </a:r>
            <a:r>
              <a:rPr lang="es" sz="1400">
                <a:solidFill>
                  <a:srgbClr val="188038"/>
                </a:solidFill>
              </a:rPr>
              <a:t>@</a:t>
            </a:r>
            <a:r>
              <a:rPr lang="es" sz="1400">
                <a:solidFill>
                  <a:srgbClr val="000000"/>
                </a:solidFill>
              </a:rPr>
              <a:t> para imprimir variables de C#.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400">
                <a:solidFill>
                  <a:srgbClr val="188038"/>
                </a:solidFill>
              </a:rPr>
              <a:t>MiPagina.cshtml.cs</a:t>
            </a:r>
            <a:r>
              <a:rPr b="1" lang="es" sz="1400">
                <a:solidFill>
                  <a:srgbClr val="000000"/>
                </a:solidFill>
              </a:rPr>
              <a:t> (Backend):</a:t>
            </a:r>
            <a:r>
              <a:rPr lang="es" sz="1400">
                <a:solidFill>
                  <a:srgbClr val="000000"/>
                </a:solidFill>
              </a:rPr>
              <a:t> Aquí vive la clase lógica (</a:t>
            </a:r>
            <a:r>
              <a:rPr lang="es" sz="1400">
                <a:solidFill>
                  <a:srgbClr val="188038"/>
                </a:solidFill>
              </a:rPr>
              <a:t>PageModel</a:t>
            </a:r>
            <a:r>
              <a:rPr lang="es" sz="1400">
                <a:solidFill>
                  <a:srgbClr val="000000"/>
                </a:solidFill>
              </a:rPr>
              <a:t>). Maneja los eventos (</a:t>
            </a:r>
            <a:r>
              <a:rPr lang="es" sz="1400">
                <a:solidFill>
                  <a:srgbClr val="188038"/>
                </a:solidFill>
              </a:rPr>
              <a:t>OnGet</a:t>
            </a:r>
            <a:r>
              <a:rPr lang="es" sz="1400">
                <a:solidFill>
                  <a:srgbClr val="000000"/>
                </a:solidFill>
              </a:rPr>
              <a:t>, </a:t>
            </a:r>
            <a:r>
              <a:rPr lang="es" sz="1400">
                <a:solidFill>
                  <a:srgbClr val="188038"/>
                </a:solidFill>
              </a:rPr>
              <a:t>OnPost, etc</a:t>
            </a:r>
            <a:r>
              <a:rPr lang="es" sz="1400">
                <a:solidFill>
                  <a:srgbClr val="000000"/>
                </a:solidFill>
              </a:rPr>
              <a:t>).</a:t>
            </a:r>
            <a:endParaRPr b="1" sz="1400">
              <a:solidFill>
                <a:srgbClr val="000000"/>
              </a:solidFill>
            </a:endParaRPr>
          </a:p>
        </p:txBody>
      </p:sp>
      <p:pic>
        <p:nvPicPr>
          <p:cNvPr id="334" name="Google Shape;33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0100" y="852775"/>
            <a:ext cx="3686400" cy="2019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9763" y="3986145"/>
            <a:ext cx="21907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Vista de la Plantilla Inicial</a:t>
            </a:r>
            <a:endParaRPr sz="2700"/>
          </a:p>
        </p:txBody>
      </p:sp>
      <p:pic>
        <p:nvPicPr>
          <p:cNvPr id="341" name="Google Shape;34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 title="Buho4.png"/>
          <p:cNvPicPr preferRelativeResize="0"/>
          <p:nvPr/>
        </p:nvPicPr>
        <p:blipFill rotWithShape="1">
          <a:blip r:embed="rId4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675" y="1366400"/>
            <a:ext cx="5415698" cy="305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Razor y Razor Pages</a:t>
            </a:r>
            <a:endParaRPr sz="2700"/>
          </a:p>
        </p:txBody>
      </p:sp>
      <p:pic>
        <p:nvPicPr>
          <p:cNvPr id="349" name="Google Shape;34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51" title="Buho4.png"/>
          <p:cNvPicPr preferRelativeResize="0"/>
          <p:nvPr/>
        </p:nvPicPr>
        <p:blipFill rotWithShape="1">
          <a:blip r:embed="rId4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1" title="Razor y Razor Pag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174425"/>
            <a:ext cx="5408813" cy="36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Arquitectura de Carpetas</a:t>
            </a:r>
            <a:endParaRPr b="1"/>
          </a:p>
        </p:txBody>
      </p:sp>
      <p:sp>
        <p:nvSpPr>
          <p:cNvPr id="358" name="Google Shape;358;p5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Organizando nuestro Proyecto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3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Pages</a:t>
            </a:r>
            <a:r>
              <a:rPr b="1" lang="es" sz="1300">
                <a:solidFill>
                  <a:srgbClr val="000000"/>
                </a:solidFill>
              </a:rPr>
              <a:t>:</a:t>
            </a:r>
            <a:r>
              <a:rPr lang="es" sz="1300">
                <a:solidFill>
                  <a:srgbClr val="000000"/>
                </a:solidFill>
              </a:rPr>
              <a:t> Aquí viven todas nuestras vistas web. El archivo maestro </a:t>
            </a:r>
            <a:r>
              <a:rPr lang="es" sz="1300">
                <a:solidFill>
                  <a:srgbClr val="188038"/>
                </a:solidFill>
              </a:rPr>
              <a:t>_Layout.cshtml</a:t>
            </a:r>
            <a:r>
              <a:rPr lang="es" sz="1300">
                <a:solidFill>
                  <a:srgbClr val="000000"/>
                </a:solidFill>
              </a:rPr>
              <a:t> aplica su diseño a todo lo que esté aquí adentro.</a:t>
            </a:r>
            <a:endParaRPr sz="13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wwwroot</a:t>
            </a:r>
            <a:r>
              <a:rPr b="1" lang="es" sz="1300">
                <a:solidFill>
                  <a:srgbClr val="000000"/>
                </a:solidFill>
              </a:rPr>
              <a:t>:</a:t>
            </a:r>
            <a:r>
              <a:rPr lang="es" sz="1300">
                <a:solidFill>
                  <a:srgbClr val="000000"/>
                </a:solidFill>
              </a:rPr>
              <a:t> La única carpeta pública. Aquí guardamos nuestros estilos CSS manuales, imágenes y JavaScript.</a:t>
            </a:r>
            <a:endParaRPr sz="13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Models</a:t>
            </a:r>
            <a:r>
              <a:rPr b="1" lang="es" sz="1300">
                <a:solidFill>
                  <a:srgbClr val="000000"/>
                </a:solidFill>
              </a:rPr>
              <a:t> (Carpeta manual):</a:t>
            </a:r>
            <a:r>
              <a:rPr lang="es" sz="1300">
                <a:solidFill>
                  <a:srgbClr val="000000"/>
                </a:solidFill>
              </a:rPr>
              <a:t> Para crear nuestras clases (Ej. </a:t>
            </a:r>
            <a:r>
              <a:rPr lang="es" sz="1300">
                <a:solidFill>
                  <a:srgbClr val="188038"/>
                </a:solidFill>
              </a:rPr>
              <a:t>Vehiculo.cs</a:t>
            </a:r>
            <a:r>
              <a:rPr lang="es" sz="1300">
                <a:solidFill>
                  <a:srgbClr val="000000"/>
                </a:solidFill>
              </a:rPr>
              <a:t>, </a:t>
            </a:r>
            <a:r>
              <a:rPr lang="es" sz="1300">
                <a:solidFill>
                  <a:srgbClr val="188038"/>
                </a:solidFill>
              </a:rPr>
              <a:t>Piloto.cs</a:t>
            </a:r>
            <a:r>
              <a:rPr lang="es" sz="1300">
                <a:solidFill>
                  <a:srgbClr val="000000"/>
                </a:solidFill>
              </a:rPr>
              <a:t>).</a:t>
            </a:r>
            <a:endParaRPr sz="13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EstructurasDeDatos</a:t>
            </a:r>
            <a:r>
              <a:rPr b="1" lang="es" sz="1300">
                <a:solidFill>
                  <a:srgbClr val="000000"/>
                </a:solidFill>
              </a:rPr>
              <a:t> (Carpeta manual):</a:t>
            </a:r>
            <a:r>
              <a:rPr lang="es" sz="1300">
                <a:solidFill>
                  <a:srgbClr val="000000"/>
                </a:solidFill>
              </a:rPr>
              <a:t> Aquí programaremos nuestra lógica pura (Nodos, Listas Enlazadas, Árboles).</a:t>
            </a:r>
            <a:endParaRPr b="1" sz="1600">
              <a:solidFill>
                <a:srgbClr val="000000"/>
              </a:solidFill>
            </a:endParaRPr>
          </a:p>
        </p:txBody>
      </p:sp>
      <p:pic>
        <p:nvPicPr>
          <p:cNvPr id="365" name="Google Shape;36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1675" y="947175"/>
            <a:ext cx="231457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4"/>
          <p:cNvSpPr txBox="1"/>
          <p:nvPr>
            <p:ph type="title"/>
          </p:nvPr>
        </p:nvSpPr>
        <p:spPr>
          <a:xfrm>
            <a:off x="311700" y="5129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_Layout.cshtml</a:t>
            </a:r>
            <a:endParaRPr/>
          </a:p>
        </p:txBody>
      </p:sp>
      <p:pic>
        <p:nvPicPr>
          <p:cNvPr id="371" name="Google Shape;37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58650"/>
            <a:ext cx="5469640" cy="37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6016175" y="820925"/>
            <a:ext cx="26817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En este archivos se encuentra el html principal, el cual en la </a:t>
            </a:r>
            <a:r>
              <a:rPr lang="es">
                <a:solidFill>
                  <a:srgbClr val="000000"/>
                </a:solidFill>
              </a:rPr>
              <a:t>parte</a:t>
            </a:r>
            <a:r>
              <a:rPr lang="es">
                <a:solidFill>
                  <a:srgbClr val="000000"/>
                </a:solidFill>
              </a:rPr>
              <a:t> de </a:t>
            </a:r>
            <a:r>
              <a:rPr b="1" lang="es">
                <a:solidFill>
                  <a:srgbClr val="000000"/>
                </a:solidFill>
              </a:rPr>
              <a:t>@</a:t>
            </a:r>
            <a:r>
              <a:rPr b="1" lang="es">
                <a:solidFill>
                  <a:srgbClr val="74531F"/>
                </a:solidFill>
              </a:rPr>
              <a:t>RenderBody</a:t>
            </a:r>
            <a:r>
              <a:rPr b="1" lang="es">
                <a:solidFill>
                  <a:srgbClr val="000000"/>
                </a:solidFill>
              </a:rPr>
              <a:t>() </a:t>
            </a:r>
            <a:r>
              <a:rPr lang="es">
                <a:solidFill>
                  <a:srgbClr val="000000"/>
                </a:solidFill>
              </a:rPr>
              <a:t>renderiza</a:t>
            </a:r>
            <a:r>
              <a:rPr lang="es">
                <a:solidFill>
                  <a:srgbClr val="000000"/>
                </a:solidFill>
              </a:rPr>
              <a:t> todos los elementos hijo que vayamos agregando.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5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Estilos Manuales (</a:t>
            </a:r>
            <a:r>
              <a:rPr b="1" lang="es"/>
              <a:t>Adiós</a:t>
            </a:r>
            <a:r>
              <a:rPr b="1" lang="es"/>
              <a:t> Bootstrap)</a:t>
            </a:r>
            <a:endParaRPr b="1"/>
          </a:p>
        </p:txBody>
      </p:sp>
      <p:sp>
        <p:nvSpPr>
          <p:cNvPr id="380" name="Google Shape;380;p5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Tomando el control del Diseño (CSS)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6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</a:rPr>
              <a:t>Por defecto, el proyecto incluye </a:t>
            </a:r>
            <a:r>
              <a:rPr i="1" lang="es" sz="1400">
                <a:solidFill>
                  <a:srgbClr val="000000"/>
                </a:solidFill>
              </a:rPr>
              <a:t>Bootstrap</a:t>
            </a:r>
            <a:r>
              <a:rPr lang="es" sz="1400">
                <a:solidFill>
                  <a:srgbClr val="000000"/>
                </a:solidFill>
              </a:rPr>
              <a:t>, pero </a:t>
            </a:r>
            <a:r>
              <a:rPr b="1" lang="es" sz="1400">
                <a:solidFill>
                  <a:srgbClr val="000000"/>
                </a:solidFill>
              </a:rPr>
              <a:t>podemos removerlo</a:t>
            </a:r>
            <a:r>
              <a:rPr lang="es" sz="1400">
                <a:solidFill>
                  <a:srgbClr val="000000"/>
                </a:solidFill>
              </a:rPr>
              <a:t> para usar nuestro propio CSS o librerías modernas como </a:t>
            </a:r>
            <a:r>
              <a:rPr i="1" lang="es" sz="1400">
                <a:solidFill>
                  <a:srgbClr val="000000"/>
                </a:solidFill>
              </a:rPr>
              <a:t>Tailwind CSS</a:t>
            </a:r>
            <a:r>
              <a:rPr lang="e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Pasos para el CSS Manual: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Ir a </a:t>
            </a:r>
            <a:r>
              <a:rPr lang="es" sz="1400">
                <a:solidFill>
                  <a:srgbClr val="188038"/>
                </a:solidFill>
              </a:rPr>
              <a:t>wwwroot/css/site.css</a:t>
            </a:r>
            <a:r>
              <a:rPr lang="es" sz="1400">
                <a:solidFill>
                  <a:srgbClr val="000000"/>
                </a:solidFill>
              </a:rPr>
              <a:t> y borrar el código por defecto.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Escribir nuestras propias reglas CSS.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El archivo </a:t>
            </a:r>
            <a:r>
              <a:rPr lang="es" sz="1400">
                <a:solidFill>
                  <a:srgbClr val="188038"/>
                </a:solidFill>
              </a:rPr>
              <a:t>_Layout.cshtml</a:t>
            </a:r>
            <a:r>
              <a:rPr lang="es" sz="1400">
                <a:solidFill>
                  <a:srgbClr val="000000"/>
                </a:solidFill>
              </a:rPr>
              <a:t> ya enlaza este archivo a todas nuestras páginas.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387" name="Google Shape;387;p56" title="Buho6.png"/>
          <p:cNvPicPr preferRelativeResize="0"/>
          <p:nvPr/>
        </p:nvPicPr>
        <p:blipFill rotWithShape="1">
          <a:blip r:embed="rId4">
            <a:alphaModFix/>
          </a:blip>
          <a:srcRect b="12490" l="0" r="0" t="9834"/>
          <a:stretch/>
        </p:blipFill>
        <p:spPr>
          <a:xfrm>
            <a:off x="5662600" y="182150"/>
            <a:ext cx="3225774" cy="37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type="title"/>
          </p:nvPr>
        </p:nvSpPr>
        <p:spPr>
          <a:xfrm>
            <a:off x="311700" y="779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Cambio de CSS, de Bootstrap a Tailwind</a:t>
            </a:r>
            <a:endParaRPr/>
          </a:p>
        </p:txBody>
      </p:sp>
      <p:pic>
        <p:nvPicPr>
          <p:cNvPr id="393" name="Google Shape;3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75" y="1487700"/>
            <a:ext cx="6507326" cy="284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7" title="Buho4.png"/>
          <p:cNvPicPr preferRelativeResize="0"/>
          <p:nvPr/>
        </p:nvPicPr>
        <p:blipFill rotWithShape="1">
          <a:blip r:embed="rId5">
            <a:alphaModFix/>
          </a:blip>
          <a:srcRect b="20429" l="0" r="0" t="12349"/>
          <a:stretch/>
        </p:blipFill>
        <p:spPr>
          <a:xfrm>
            <a:off x="6940850" y="1524862"/>
            <a:ext cx="2076500" cy="20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8"/>
          <p:cNvSpPr txBox="1"/>
          <p:nvPr>
            <p:ph type="ctrTitle"/>
          </p:nvPr>
        </p:nvSpPr>
        <p:spPr>
          <a:xfrm>
            <a:off x="266850" y="1958300"/>
            <a:ext cx="8692500" cy="6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180"/>
              <a:t>Creación Manual de Páginas (Sin Scaffolding)</a:t>
            </a:r>
            <a:endParaRPr b="1" sz="3180"/>
          </a:p>
        </p:txBody>
      </p:sp>
      <p:sp>
        <p:nvSpPr>
          <p:cNvPr id="402" name="Google Shape;402;p58"/>
          <p:cNvSpPr txBox="1"/>
          <p:nvPr>
            <p:ph idx="1" type="subTitle"/>
          </p:nvPr>
        </p:nvSpPr>
        <p:spPr>
          <a:xfrm>
            <a:off x="26683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Creando Páginas desde Cero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9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Concepto:</a:t>
            </a:r>
            <a:r>
              <a:rPr lang="es" sz="1400">
                <a:solidFill>
                  <a:srgbClr val="000000"/>
                </a:solidFill>
              </a:rPr>
              <a:t> Evitaremos el </a:t>
            </a:r>
            <a:r>
              <a:rPr i="1" lang="es" sz="1400">
                <a:solidFill>
                  <a:srgbClr val="000000"/>
                </a:solidFill>
              </a:rPr>
              <a:t>Scaffolding</a:t>
            </a:r>
            <a:r>
              <a:rPr lang="es" sz="1400">
                <a:solidFill>
                  <a:srgbClr val="000000"/>
                </a:solidFill>
              </a:rPr>
              <a:t> con Entity Framework porque nosotros construiremos nuestras propias estructuras de datos en memoria (Listas, Árboles).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Los Pasos: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Clic derecho en la carpeta </a:t>
            </a:r>
            <a:r>
              <a:rPr lang="es" sz="1400">
                <a:solidFill>
                  <a:srgbClr val="188038"/>
                </a:solidFill>
              </a:rPr>
              <a:t>Pages</a:t>
            </a:r>
            <a:r>
              <a:rPr lang="es" sz="1400">
                <a:solidFill>
                  <a:srgbClr val="000000"/>
                </a:solidFill>
              </a:rPr>
              <a:t> &gt; </a:t>
            </a:r>
            <a:r>
              <a:rPr i="1" lang="es" sz="1400">
                <a:solidFill>
                  <a:srgbClr val="000000"/>
                </a:solidFill>
              </a:rPr>
              <a:t>Agregar</a:t>
            </a:r>
            <a:r>
              <a:rPr lang="es" sz="1400">
                <a:solidFill>
                  <a:srgbClr val="000000"/>
                </a:solidFill>
              </a:rPr>
              <a:t> &gt; </a:t>
            </a:r>
            <a:r>
              <a:rPr i="1" lang="es" sz="1400">
                <a:solidFill>
                  <a:srgbClr val="000000"/>
                </a:solidFill>
              </a:rPr>
              <a:t>Nuevo elemento</a:t>
            </a:r>
            <a:r>
              <a:rPr lang="e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Seleccionar </a:t>
            </a:r>
            <a:r>
              <a:rPr b="1" lang="es" sz="1400">
                <a:solidFill>
                  <a:srgbClr val="000000"/>
                </a:solidFill>
              </a:rPr>
              <a:t>"Página de Razor vacía"</a:t>
            </a:r>
            <a:r>
              <a:rPr lang="es" sz="1400">
                <a:solidFill>
                  <a:srgbClr val="000000"/>
                </a:solidFill>
              </a:rPr>
              <a:t> (¡Muy importante!).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Asignar nombre (Ej. </a:t>
            </a:r>
            <a:r>
              <a:rPr lang="es" sz="1400">
                <a:solidFill>
                  <a:srgbClr val="188038"/>
                </a:solidFill>
              </a:rPr>
              <a:t>MiVista.cshtml</a:t>
            </a:r>
            <a:r>
              <a:rPr lang="es" sz="1400">
                <a:solidFill>
                  <a:srgbClr val="000000"/>
                </a:solidFill>
              </a:rPr>
              <a:t>). Visual Studio creará la pareja de archivos limpia.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409" name="Google Shape;409;p59" title="Buho3.png"/>
          <p:cNvPicPr preferRelativeResize="0"/>
          <p:nvPr/>
        </p:nvPicPr>
        <p:blipFill rotWithShape="1">
          <a:blip r:embed="rId4">
            <a:alphaModFix/>
          </a:blip>
          <a:srcRect b="19402" l="0" r="0" t="18350"/>
          <a:stretch/>
        </p:blipFill>
        <p:spPr>
          <a:xfrm>
            <a:off x="5662625" y="679725"/>
            <a:ext cx="3225774" cy="3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0"/>
          <p:cNvSpPr txBox="1"/>
          <p:nvPr>
            <p:ph idx="1" type="body"/>
          </p:nvPr>
        </p:nvSpPr>
        <p:spPr>
          <a:xfrm>
            <a:off x="140075" y="992550"/>
            <a:ext cx="5103900" cy="3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¿Qué es Entity Framework (EF Core)?</a:t>
            </a:r>
            <a:endParaRPr b="1"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En términos sencillos, </a:t>
            </a:r>
            <a:r>
              <a:rPr b="1" lang="es" sz="1100">
                <a:solidFill>
                  <a:srgbClr val="000000"/>
                </a:solidFill>
              </a:rPr>
              <a:t>Entity Framework es un ORM (Object-Relational Mapper o Mapeador Objeto-Relacional) oficial de Microsoft.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Funciona como un </a:t>
            </a:r>
            <a:r>
              <a:rPr b="1" lang="es" sz="1100">
                <a:solidFill>
                  <a:srgbClr val="000000"/>
                </a:solidFill>
              </a:rPr>
              <a:t>"traductor automático"</a:t>
            </a:r>
            <a:r>
              <a:rPr lang="es" sz="1100">
                <a:solidFill>
                  <a:srgbClr val="000000"/>
                </a:solidFill>
              </a:rPr>
              <a:t> entre tu código de C# y una base de datos real (como SQL Server, MySQL o PostgreSQL).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El problema que resuelve:</a:t>
            </a:r>
            <a:r>
              <a:rPr lang="es" sz="1100">
                <a:solidFill>
                  <a:srgbClr val="000000"/>
                </a:solidFill>
              </a:rPr>
              <a:t> Normalmente, los lenguajes orientados a objetos (C#) y las bases de datos (SQL) hablan idiomas completamente distintos. Para guardar un dato, tendrías que abrir conexiones manuales y escribir texto en crudo como: </a:t>
            </a:r>
            <a:r>
              <a:rPr lang="es" sz="1100">
                <a:solidFill>
                  <a:srgbClr val="188038"/>
                </a:solidFill>
              </a:rPr>
              <a:t>INSERT INTO Estudiantes (Nombre, Carnet) VALUES ('Juan', '2026001');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La solución de Entity Framework:</a:t>
            </a:r>
            <a:r>
              <a:rPr lang="es" sz="1100">
                <a:solidFill>
                  <a:srgbClr val="000000"/>
                </a:solidFill>
              </a:rPr>
              <a:t> EF te permite olvidarte de escribir código SQL. Tú simplemente trabajas con tus clases normales de C# y EF hace la magia por debajo. En lugar de la consulta SQL de arriba, con EF solo escribes: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416" name="Google Shape;416;p60"/>
          <p:cNvSpPr txBox="1"/>
          <p:nvPr/>
        </p:nvSpPr>
        <p:spPr>
          <a:xfrm>
            <a:off x="5747600" y="240375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latin typeface="Roboto"/>
                <a:ea typeface="Roboto"/>
                <a:cs typeface="Roboto"/>
                <a:sym typeface="Roboto"/>
              </a:rPr>
              <a:t>Y Entity Framework se encarga de traducirlo a SQL, conectarse a la base de datos, guardar la información y cerrar la conexión.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295" y="1312870"/>
            <a:ext cx="3749500" cy="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1"/>
          <p:cNvSpPr txBox="1"/>
          <p:nvPr>
            <p:ph type="title"/>
          </p:nvPr>
        </p:nvSpPr>
        <p:spPr>
          <a:xfrm>
            <a:off x="311700" y="530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</a:t>
            </a:r>
            <a:r>
              <a:rPr lang="es"/>
              <a:t> de Page sin Scraffolding </a:t>
            </a:r>
            <a:endParaRPr/>
          </a:p>
        </p:txBody>
      </p:sp>
      <p:pic>
        <p:nvPicPr>
          <p:cNvPr id="423" name="Google Shape;42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81775"/>
            <a:ext cx="5417875" cy="3245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61"/>
          <p:cNvPicPr preferRelativeResize="0"/>
          <p:nvPr/>
        </p:nvPicPr>
        <p:blipFill rotWithShape="1">
          <a:blip r:embed="rId5">
            <a:alphaModFix/>
          </a:blip>
          <a:srcRect b="8044" l="0" r="0" t="-3812"/>
          <a:stretch/>
        </p:blipFill>
        <p:spPr>
          <a:xfrm>
            <a:off x="6314775" y="191950"/>
            <a:ext cx="2467149" cy="34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>
            <p:ph type="title"/>
          </p:nvPr>
        </p:nvSpPr>
        <p:spPr>
          <a:xfrm>
            <a:off x="311700" y="530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Page sin Scraffolding </a:t>
            </a:r>
            <a:endParaRPr/>
          </a:p>
        </p:txBody>
      </p:sp>
      <p:pic>
        <p:nvPicPr>
          <p:cNvPr id="431" name="Google Shape;43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050" y="1137950"/>
            <a:ext cx="5409216" cy="37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62"/>
          <p:cNvPicPr preferRelativeResize="0"/>
          <p:nvPr/>
        </p:nvPicPr>
        <p:blipFill rotWithShape="1">
          <a:blip r:embed="rId5">
            <a:alphaModFix/>
          </a:blip>
          <a:srcRect b="8044" l="0" r="0" t="-3812"/>
          <a:stretch/>
        </p:blipFill>
        <p:spPr>
          <a:xfrm>
            <a:off x="6314775" y="191950"/>
            <a:ext cx="2467149" cy="34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Inyección de Dependencias</a:t>
            </a:r>
            <a:endParaRPr b="1"/>
          </a:p>
        </p:txBody>
      </p:sp>
      <p:sp>
        <p:nvSpPr>
          <p:cNvPr id="440" name="Google Shape;440;p6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El cerebro del Estado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4"/>
          <p:cNvSpPr txBox="1"/>
          <p:nvPr>
            <p:ph idx="1" type="body"/>
          </p:nvPr>
        </p:nvSpPr>
        <p:spPr>
          <a:xfrm>
            <a:off x="140075" y="992550"/>
            <a:ext cx="4841100" cy="3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</a:rPr>
              <a:t>El Problema:</a:t>
            </a:r>
            <a:r>
              <a:rPr lang="es" sz="1700">
                <a:solidFill>
                  <a:srgbClr val="000000"/>
                </a:solidFill>
              </a:rPr>
              <a:t> Como la web no tiene memoria, las variables normales se borran en cada recarga. ¿Dónde guardamos nuestras Listas Enlazadas?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</a:rPr>
              <a:t>La Solución (Singleton):</a:t>
            </a:r>
            <a:r>
              <a:rPr lang="es" sz="1700">
                <a:solidFill>
                  <a:srgbClr val="000000"/>
                </a:solidFill>
              </a:rPr>
              <a:t> Creamos una clase Gestor/Repositorio y le decimos a .NET que la mantenga viva en la memoria RAM todo el tiempo.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solidFill>
                  <a:srgbClr val="000000"/>
                </a:solidFill>
              </a:rPr>
              <a:t>Esto </a:t>
            </a:r>
            <a:r>
              <a:rPr lang="es" sz="1700">
                <a:solidFill>
                  <a:srgbClr val="000000"/>
                </a:solidFill>
              </a:rPr>
              <a:t>irá</a:t>
            </a:r>
            <a:r>
              <a:rPr lang="es" sz="1700">
                <a:solidFill>
                  <a:srgbClr val="000000"/>
                </a:solidFill>
              </a:rPr>
              <a:t> en el archivo </a:t>
            </a:r>
            <a:r>
              <a:rPr lang="es" sz="1700">
                <a:solidFill>
                  <a:srgbClr val="188038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Program.cs</a:t>
            </a:r>
            <a:r>
              <a:rPr lang="es" sz="1700">
                <a:solidFill>
                  <a:srgbClr val="000000"/>
                </a:solidFill>
              </a:rPr>
              <a:t> que es donde inicia nuestra aplicación.</a:t>
            </a:r>
            <a:endParaRPr sz="1700">
              <a:solidFill>
                <a:srgbClr val="000000"/>
              </a:solidFill>
            </a:endParaRPr>
          </a:p>
        </p:txBody>
      </p:sp>
      <p:pic>
        <p:nvPicPr>
          <p:cNvPr id="447" name="Google Shape;447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175" y="992550"/>
            <a:ext cx="3858025" cy="2162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65"/>
          <p:cNvSpPr txBox="1"/>
          <p:nvPr>
            <p:ph type="ctrTitle"/>
          </p:nvPr>
        </p:nvSpPr>
        <p:spPr>
          <a:xfrm>
            <a:off x="859050" y="754100"/>
            <a:ext cx="74259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Conceptos Clave Aprendidos</a:t>
            </a:r>
            <a:endParaRPr b="1"/>
          </a:p>
        </p:txBody>
      </p:sp>
      <p:sp>
        <p:nvSpPr>
          <p:cNvPr id="454" name="Google Shape;454;p65"/>
          <p:cNvSpPr txBox="1"/>
          <p:nvPr>
            <p:ph idx="1" type="subTitle"/>
          </p:nvPr>
        </p:nvSpPr>
        <p:spPr>
          <a:xfrm>
            <a:off x="460950" y="1557549"/>
            <a:ext cx="8222100" cy="30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600">
                <a:solidFill>
                  <a:srgbClr val="000000"/>
                </a:solidFill>
              </a:rPr>
              <a:t>1. Fundamentos de la Interfaz (Frontend)</a:t>
            </a:r>
            <a:endParaRPr b="1"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Archivos </a:t>
            </a:r>
            <a:r>
              <a:rPr b="1" lang="es" sz="4600">
                <a:solidFill>
                  <a:srgbClr val="188038"/>
                </a:solidFill>
              </a:rPr>
              <a:t>.cshtml</a:t>
            </a:r>
            <a:r>
              <a:rPr b="1" lang="es" sz="4600">
                <a:solidFill>
                  <a:srgbClr val="000000"/>
                </a:solidFill>
              </a:rPr>
              <a:t> (Razor):</a:t>
            </a:r>
            <a:r>
              <a:rPr lang="es" sz="4600">
                <a:solidFill>
                  <a:srgbClr val="000000"/>
                </a:solidFill>
              </a:rPr>
              <a:t> El lienzo donde HTML y C# conviven. Sirven para crear interfaces web dinámicas.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188038"/>
                </a:solidFill>
              </a:rPr>
              <a:t>_Layout.cshtml</a:t>
            </a:r>
            <a:r>
              <a:rPr b="1" lang="es" sz="4600">
                <a:solidFill>
                  <a:srgbClr val="000000"/>
                </a:solidFill>
              </a:rPr>
              <a:t> y </a:t>
            </a:r>
            <a:r>
              <a:rPr b="1" lang="es" sz="4600">
                <a:solidFill>
                  <a:srgbClr val="188038"/>
                </a:solidFill>
              </a:rPr>
              <a:t>@RenderBody()</a:t>
            </a:r>
            <a:r>
              <a:rPr b="1" lang="es" sz="4600">
                <a:solidFill>
                  <a:srgbClr val="000000"/>
                </a:solidFill>
              </a:rPr>
              <a:t>:</a:t>
            </a:r>
            <a:r>
              <a:rPr lang="es" sz="4600">
                <a:solidFill>
                  <a:srgbClr val="000000"/>
                </a:solidFill>
              </a:rPr>
              <a:t> El patrón de diseño de plantillas. El Layout es el "marco" fijo (menús, footers) y el RenderBody es el "agujero" donde se inyecta el contenido de cada página individual.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Enrutamiento (</a:t>
            </a:r>
            <a:r>
              <a:rPr b="1" lang="es" sz="4600">
                <a:solidFill>
                  <a:srgbClr val="188038"/>
                </a:solidFill>
              </a:rPr>
              <a:t>asp-page</a:t>
            </a:r>
            <a:r>
              <a:rPr b="1" lang="es" sz="4600">
                <a:solidFill>
                  <a:srgbClr val="000000"/>
                </a:solidFill>
              </a:rPr>
              <a:t>):</a:t>
            </a:r>
            <a:r>
              <a:rPr lang="es" sz="4600">
                <a:solidFill>
                  <a:srgbClr val="000000"/>
                </a:solidFill>
              </a:rPr>
              <a:t> La forma correcta de navegar entre páginas en ASP.NET Core. Usar la ruta absoluta (ej. </a:t>
            </a:r>
            <a:r>
              <a:rPr lang="es" sz="4600">
                <a:solidFill>
                  <a:srgbClr val="188038"/>
                </a:solidFill>
              </a:rPr>
              <a:t>asp-page="/Index"</a:t>
            </a:r>
            <a:r>
              <a:rPr lang="es" sz="4600">
                <a:solidFill>
                  <a:srgbClr val="000000"/>
                </a:solidFill>
              </a:rPr>
              <a:t>) asegura que los enlaces no se rompan sin importar en qué subcarpeta se encuentre el usuario.</a:t>
            </a:r>
            <a:endParaRPr sz="4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600">
                <a:solidFill>
                  <a:srgbClr val="000000"/>
                </a:solidFill>
              </a:rPr>
              <a:t>2. Diseño Web Moderno</a:t>
            </a:r>
            <a:endParaRPr b="1"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Tailwind CSS (Vía CDN):</a:t>
            </a:r>
            <a:r>
              <a:rPr lang="es" sz="4600">
                <a:solidFill>
                  <a:srgbClr val="000000"/>
                </a:solidFill>
              </a:rPr>
              <a:t> Un framework de utilidades CSS que permite diseñar directamente en el HTML sin escribir archivos </a:t>
            </a:r>
            <a:r>
              <a:rPr lang="es" sz="4600">
                <a:solidFill>
                  <a:srgbClr val="188038"/>
                </a:solidFill>
              </a:rPr>
              <a:t>.css</a:t>
            </a:r>
            <a:r>
              <a:rPr lang="es" sz="4600">
                <a:solidFill>
                  <a:srgbClr val="000000"/>
                </a:solidFill>
              </a:rPr>
              <a:t> separados.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CSS Reset (Preflight):</a:t>
            </a:r>
            <a:r>
              <a:rPr lang="es" sz="4600">
                <a:solidFill>
                  <a:srgbClr val="000000"/>
                </a:solidFill>
              </a:rPr>
              <a:t> El proceso automático de Tailwind que limpia los márgenes y estilos por defecto de los navegadores para darte una base de diseño consistente (haciendo innecesario el código de Bootstrap sobrante).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Escapar caracteres en Razor (</a:t>
            </a:r>
            <a:r>
              <a:rPr b="1" lang="es" sz="4600">
                <a:solidFill>
                  <a:srgbClr val="188038"/>
                </a:solidFill>
              </a:rPr>
              <a:t>@@</a:t>
            </a:r>
            <a:r>
              <a:rPr b="1" lang="es" sz="4600">
                <a:solidFill>
                  <a:srgbClr val="000000"/>
                </a:solidFill>
              </a:rPr>
              <a:t>):</a:t>
            </a:r>
            <a:r>
              <a:rPr lang="es" sz="4600">
                <a:solidFill>
                  <a:srgbClr val="000000"/>
                </a:solidFill>
              </a:rPr>
              <a:t> La regla vital de usar un doble arroba en los </a:t>
            </a:r>
            <a:r>
              <a:rPr lang="es" sz="4600">
                <a:solidFill>
                  <a:srgbClr val="188038"/>
                </a:solidFill>
              </a:rPr>
              <a:t>.cshtml</a:t>
            </a:r>
            <a:r>
              <a:rPr lang="es" sz="4600">
                <a:solidFill>
                  <a:srgbClr val="000000"/>
                </a:solidFill>
              </a:rPr>
              <a:t> para que el servidor lo interprete como texto normal de HTML (o de un CDN) y no como el inicio de una instrucción en C#.</a:t>
            </a:r>
            <a:endParaRPr sz="4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6"/>
          <p:cNvSpPr txBox="1"/>
          <p:nvPr>
            <p:ph type="ctrTitle"/>
          </p:nvPr>
        </p:nvSpPr>
        <p:spPr>
          <a:xfrm>
            <a:off x="859050" y="754100"/>
            <a:ext cx="74259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Conceptos Clave Aprendidos</a:t>
            </a:r>
            <a:endParaRPr b="1"/>
          </a:p>
        </p:txBody>
      </p:sp>
      <p:sp>
        <p:nvSpPr>
          <p:cNvPr id="461" name="Google Shape;461;p66"/>
          <p:cNvSpPr txBox="1"/>
          <p:nvPr>
            <p:ph idx="1" type="subTitle"/>
          </p:nvPr>
        </p:nvSpPr>
        <p:spPr>
          <a:xfrm>
            <a:off x="460950" y="1592900"/>
            <a:ext cx="82221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490">
                <a:solidFill>
                  <a:srgbClr val="000000"/>
                </a:solidFill>
              </a:rPr>
              <a:t>3. Comunicación Cliente - Servidor</a:t>
            </a:r>
            <a:endParaRPr b="1"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El atributo </a:t>
            </a:r>
            <a:r>
              <a:rPr b="1" lang="es" sz="4490">
                <a:solidFill>
                  <a:srgbClr val="188038"/>
                </a:solidFill>
              </a:rPr>
              <a:t>enctype="multipart/form-data"</a:t>
            </a:r>
            <a:r>
              <a:rPr b="1" lang="es" sz="4490">
                <a:solidFill>
                  <a:srgbClr val="000000"/>
                </a:solidFill>
              </a:rPr>
              <a:t>:</a:t>
            </a:r>
            <a:r>
              <a:rPr lang="es" sz="4490">
                <a:solidFill>
                  <a:srgbClr val="000000"/>
                </a:solidFill>
              </a:rPr>
              <a:t> El requisito obligatorio en los formularios HTML para poder enviar archivos físicos a través de internet.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188038"/>
                </a:solidFill>
              </a:rPr>
              <a:t>IFormFile</a:t>
            </a:r>
            <a:r>
              <a:rPr b="1" lang="es" sz="4490">
                <a:solidFill>
                  <a:srgbClr val="000000"/>
                </a:solidFill>
              </a:rPr>
              <a:t> y Streams:</a:t>
            </a:r>
            <a:r>
              <a:rPr lang="es" sz="4490">
                <a:solidFill>
                  <a:srgbClr val="000000"/>
                </a:solidFill>
              </a:rPr>
              <a:t> El concepto de que la web no envía "rutas de disco duro" (</a:t>
            </a:r>
            <a:r>
              <a:rPr lang="es" sz="4490">
                <a:solidFill>
                  <a:srgbClr val="188038"/>
                </a:solidFill>
              </a:rPr>
              <a:t>C:\...</a:t>
            </a:r>
            <a:r>
              <a:rPr lang="es" sz="4490">
                <a:solidFill>
                  <a:srgbClr val="000000"/>
                </a:solidFill>
              </a:rPr>
              <a:t>), sino que envía el archivo como un flujo de bytes en la memoria RAM, listo para ser leído por herramientas como </a:t>
            </a:r>
            <a:r>
              <a:rPr lang="es" sz="4490">
                <a:solidFill>
                  <a:srgbClr val="188038"/>
                </a:solidFill>
              </a:rPr>
              <a:t>XmlDocument</a:t>
            </a:r>
            <a:r>
              <a:rPr lang="es" sz="4490">
                <a:solidFill>
                  <a:srgbClr val="000000"/>
                </a:solidFill>
              </a:rPr>
              <a:t>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El Ciclo de Vida y </a:t>
            </a:r>
            <a:r>
              <a:rPr b="1" lang="es" sz="4490">
                <a:solidFill>
                  <a:srgbClr val="188038"/>
                </a:solidFill>
              </a:rPr>
              <a:t>return Page()</a:t>
            </a:r>
            <a:r>
              <a:rPr b="1" lang="es" sz="4490">
                <a:solidFill>
                  <a:srgbClr val="000000"/>
                </a:solidFill>
              </a:rPr>
              <a:t>:</a:t>
            </a:r>
            <a:r>
              <a:rPr lang="es" sz="4490">
                <a:solidFill>
                  <a:srgbClr val="000000"/>
                </a:solidFill>
              </a:rPr>
              <a:t> El entendimiento de que la web es </a:t>
            </a:r>
            <a:r>
              <a:rPr i="1" lang="es" sz="4490">
                <a:solidFill>
                  <a:srgbClr val="000000"/>
                </a:solidFill>
              </a:rPr>
              <a:t>stateless</a:t>
            </a:r>
            <a:r>
              <a:rPr lang="es" sz="4490">
                <a:solidFill>
                  <a:srgbClr val="000000"/>
                </a:solidFill>
              </a:rPr>
              <a:t> (sin estado). Para que el usuario vea un cambio en pantalla (como el texto del XML), el servidor debe procesar los datos, volver a inyectarlos en la variable </a:t>
            </a:r>
            <a:r>
              <a:rPr lang="es" sz="4490">
                <a:solidFill>
                  <a:srgbClr val="188038"/>
                </a:solidFill>
              </a:rPr>
              <a:t>@Model</a:t>
            </a:r>
            <a:r>
              <a:rPr lang="es" sz="4490">
                <a:solidFill>
                  <a:srgbClr val="000000"/>
                </a:solidFill>
              </a:rPr>
              <a:t> y recargar la página completa.</a:t>
            </a:r>
            <a:endParaRPr sz="44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490">
                <a:solidFill>
                  <a:srgbClr val="000000"/>
                </a:solidFill>
              </a:rPr>
              <a:t>4. Arquitectura y Lógica (Backend)</a:t>
            </a:r>
            <a:endParaRPr b="1"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Páginas Vacías vs. Scaffolding:</a:t>
            </a:r>
            <a:r>
              <a:rPr lang="es" sz="4490">
                <a:solidFill>
                  <a:srgbClr val="000000"/>
                </a:solidFill>
              </a:rPr>
              <a:t> La decisión pedagógica de crear vistas manualmente para tener control total, evitando el código autogenerado que oculta el funcionamiento real de la web.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Entity Framework (ORM):</a:t>
            </a:r>
            <a:r>
              <a:rPr lang="es" sz="4490">
                <a:solidFill>
                  <a:srgbClr val="000000"/>
                </a:solidFill>
              </a:rPr>
              <a:t> El traductor automático entre C# y las bases de datos. Un concepto clave para entender </a:t>
            </a:r>
            <a:r>
              <a:rPr b="1" lang="es" sz="4490">
                <a:solidFill>
                  <a:srgbClr val="000000"/>
                </a:solidFill>
              </a:rPr>
              <a:t>por qué se omite</a:t>
            </a:r>
            <a:r>
              <a:rPr lang="es" sz="4490">
                <a:solidFill>
                  <a:srgbClr val="000000"/>
                </a:solidFill>
              </a:rPr>
              <a:t> en el curso de Estructuras de Datos (para poder programar los nodos, listas y árboles a mano).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Inyección de Dependencias (Singleton):</a:t>
            </a:r>
            <a:r>
              <a:rPr lang="es" sz="4490">
                <a:solidFill>
                  <a:srgbClr val="000000"/>
                </a:solidFill>
              </a:rPr>
              <a:t> El patrón de diseño que nos permite crear un "Gestor" central y mantenerlo vivo en la memoria RAM del servidor. Es el secreto para que los datos de los drones y mensajes no se borren cada vez que el usuario cambia de página.</a:t>
            </a:r>
            <a:endParaRPr sz="449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7"/>
          <p:cNvSpPr txBox="1"/>
          <p:nvPr>
            <p:ph type="ctrTitle"/>
          </p:nvPr>
        </p:nvSpPr>
        <p:spPr>
          <a:xfrm>
            <a:off x="2134950" y="754100"/>
            <a:ext cx="4874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Valores y Actitudes</a:t>
            </a:r>
            <a:endParaRPr b="1"/>
          </a:p>
        </p:txBody>
      </p:sp>
      <p:sp>
        <p:nvSpPr>
          <p:cNvPr id="468" name="Google Shape;468;p67"/>
          <p:cNvSpPr txBox="1"/>
          <p:nvPr>
            <p:ph idx="1" type="subTitle"/>
          </p:nvPr>
        </p:nvSpPr>
        <p:spPr>
          <a:xfrm>
            <a:off x="460950" y="1592900"/>
            <a:ext cx="82221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475">
                <a:solidFill>
                  <a:srgbClr val="000000"/>
                </a:solidFill>
              </a:rPr>
              <a:t>Valores (El código de ética del desarrollador):</a:t>
            </a:r>
            <a:endParaRPr b="1"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Honestidad Académica:</a:t>
            </a:r>
            <a:r>
              <a:rPr lang="es" sz="2475">
                <a:solidFill>
                  <a:srgbClr val="000000"/>
                </a:solidFill>
              </a:rPr>
              <a:t> El código debe ser de autoría propia. Se vale investigar y apoyarse en la comunidad, pero copiar y pegar sin entender (o clonar proyectos) anula el propósito de aprender estructuras de datos.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Responsabilidad y Disciplina:</a:t>
            </a:r>
            <a:r>
              <a:rPr lang="es" sz="2475">
                <a:solidFill>
                  <a:srgbClr val="000000"/>
                </a:solidFill>
              </a:rPr>
              <a:t> Un proyecto web con estructuras manuales no se hace la noche anterior. La constancia y el manejo del tiempo son vitales para llegar a la fecha de entrega.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Perseverancia (Tolerancia a la frustración):</a:t>
            </a:r>
            <a:r>
              <a:rPr lang="es" sz="2475">
                <a:solidFill>
                  <a:srgbClr val="000000"/>
                </a:solidFill>
              </a:rPr>
              <a:t> Lidiar con errores de punteros, listas enlazadas o de la interfaz web es el pan de cada día. Un error en rojo no es un fracaso, es un paso más hacia la solución.</a:t>
            </a:r>
            <a:endParaRPr sz="247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475">
                <a:solidFill>
                  <a:srgbClr val="000000"/>
                </a:solidFill>
              </a:rPr>
              <a:t>Actitudes (La mentalidad frente al teclado):</a:t>
            </a:r>
            <a:endParaRPr b="1"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Proactividad e Investigación:</a:t>
            </a:r>
            <a:r>
              <a:rPr lang="es" sz="2475">
                <a:solidFill>
                  <a:srgbClr val="000000"/>
                </a:solidFill>
              </a:rPr>
              <a:t> Si un estilo de Tailwind no carga o el </a:t>
            </a:r>
            <a:r>
              <a:rPr lang="es" sz="2475">
                <a:solidFill>
                  <a:srgbClr val="188038"/>
                </a:solidFill>
              </a:rPr>
              <a:t>XmlDocument</a:t>
            </a:r>
            <a:r>
              <a:rPr lang="es" sz="2475">
                <a:solidFill>
                  <a:srgbClr val="000000"/>
                </a:solidFill>
              </a:rPr>
              <a:t> falla, la primera reacción debe ser consultar la documentación oficial o foros, no rendirse inmediatamente.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Pensamiento Crítico y Analítico:</a:t>
            </a:r>
            <a:r>
              <a:rPr lang="es" sz="2475">
                <a:solidFill>
                  <a:srgbClr val="000000"/>
                </a:solidFill>
              </a:rPr>
              <a:t> No se trata solo de que el código "funcione", sino de pensar: </a:t>
            </a:r>
            <a:r>
              <a:rPr i="1" lang="es" sz="2475">
                <a:solidFill>
                  <a:srgbClr val="000000"/>
                </a:solidFill>
              </a:rPr>
              <a:t>"¿Es una Lista Enlazada la mejor opción aquí, o debería usar una Pila?"</a:t>
            </a:r>
            <a:r>
              <a:rPr lang="es" sz="2475">
                <a:solidFill>
                  <a:srgbClr val="000000"/>
                </a:solidFill>
              </a:rPr>
              <a:t>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Adaptabilidad:</a:t>
            </a:r>
            <a:r>
              <a:rPr lang="es" sz="2475">
                <a:solidFill>
                  <a:srgbClr val="000000"/>
                </a:solidFill>
              </a:rPr>
              <a:t> Tener la mente abierta para desaprender lo que se sabía de aplicaciones de consola o escritorio, y adaptarse al ciclo de vida del entorno web (peticiones y recargas).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68" title="Buho4.png"/>
          <p:cNvPicPr preferRelativeResize="0"/>
          <p:nvPr/>
        </p:nvPicPr>
        <p:blipFill rotWithShape="1">
          <a:blip r:embed="rId3">
            <a:alphaModFix/>
          </a:blip>
          <a:srcRect b="18143" l="0" r="0" t="13420"/>
          <a:stretch/>
        </p:blipFill>
        <p:spPr>
          <a:xfrm>
            <a:off x="2959100" y="517850"/>
            <a:ext cx="3225800" cy="33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8"/>
          <p:cNvSpPr txBox="1"/>
          <p:nvPr/>
        </p:nvSpPr>
        <p:spPr>
          <a:xfrm>
            <a:off x="2242950" y="4098075"/>
            <a:ext cx="46581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57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Ejemplo Práctico</a:t>
            </a:r>
            <a:endParaRPr b="1" sz="457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9" title="Buho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75" y="242575"/>
            <a:ext cx="3105574" cy="4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9"/>
          <p:cNvSpPr txBox="1"/>
          <p:nvPr/>
        </p:nvSpPr>
        <p:spPr>
          <a:xfrm>
            <a:off x="3875700" y="1588200"/>
            <a:ext cx="4923600" cy="18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5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Practiquemos lo Aprendido</a:t>
            </a:r>
            <a:endParaRPr b="1" i="0" sz="28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70" title="Buho5.png"/>
          <p:cNvPicPr preferRelativeResize="0"/>
          <p:nvPr/>
        </p:nvPicPr>
        <p:blipFill rotWithShape="1">
          <a:blip r:embed="rId3">
            <a:alphaModFix/>
          </a:blip>
          <a:srcRect b="22309" l="0" r="0" t="16488"/>
          <a:stretch/>
        </p:blipFill>
        <p:spPr>
          <a:xfrm>
            <a:off x="2968250" y="579100"/>
            <a:ext cx="3207501" cy="29447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70"/>
          <p:cNvSpPr txBox="1"/>
          <p:nvPr/>
        </p:nvSpPr>
        <p:spPr>
          <a:xfrm>
            <a:off x="2545050" y="3523825"/>
            <a:ext cx="40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6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¿Dudas?</a:t>
            </a:r>
            <a:endParaRPr b="1" i="0" sz="3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71" title="Buho4.png"/>
          <p:cNvPicPr preferRelativeResize="0"/>
          <p:nvPr/>
        </p:nvPicPr>
        <p:blipFill rotWithShape="1">
          <a:blip r:embed="rId3">
            <a:alphaModFix/>
          </a:blip>
          <a:srcRect b="16307" l="0" r="0" t="10272"/>
          <a:stretch/>
        </p:blipFill>
        <p:spPr>
          <a:xfrm>
            <a:off x="5221825" y="548875"/>
            <a:ext cx="3673526" cy="404575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71"/>
          <p:cNvSpPr txBox="1"/>
          <p:nvPr/>
        </p:nvSpPr>
        <p:spPr>
          <a:xfrm>
            <a:off x="288025" y="1409800"/>
            <a:ext cx="4933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!Gracias por su Atención¡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223900" y="4153550"/>
            <a:ext cx="55572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RECUERDA QUE TENEMOS NUESTRO FORO SEMANAL DONDE PUEDES CONSULTAR CUALQUIER DUDA QUE TE SURJA EN LA SEMANA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7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9" name="Google Shape;499;p72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{7AD0ECB5-55A6-4245-BEFE-BEB0B922B191}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Nombre de la actividad: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Actividad Semana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Cantidad de participantes: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Doy fe que esta actividad está planificada en dtt (Sí/No):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0" name="Google Shape;500;p72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2"/>
          <p:cNvSpPr txBox="1"/>
          <p:nvPr/>
        </p:nvSpPr>
        <p:spPr>
          <a:xfrm>
            <a:off x="845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2" name="Google Shape;502;p72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{7AD0ECB5-55A6-4245-BEFE-BEB0B922B191}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fin: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Duración (min):</a:t>
                      </a:r>
                      <a:endParaRPr b="1" sz="5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3" name="Google Shape;503;p72"/>
          <p:cNvSpPr txBox="1"/>
          <p:nvPr/>
        </p:nvSpPr>
        <p:spPr>
          <a:xfrm>
            <a:off x="313080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72"/>
          <p:cNvSpPr txBox="1"/>
          <p:nvPr/>
        </p:nvSpPr>
        <p:spPr>
          <a:xfrm>
            <a:off x="6253150" y="2477900"/>
            <a:ext cx="28824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