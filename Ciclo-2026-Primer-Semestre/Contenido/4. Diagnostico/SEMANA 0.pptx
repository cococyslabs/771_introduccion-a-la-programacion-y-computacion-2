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Nunito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hNnIUI4MQMjJldOm1mlj8jn8zi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F786FE-52EA-4133-AFD2-198871ECF9D4}">
  <a:tblStyle styleId="{3CF786FE-52EA-4133-AFD2-198871ECF9D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uni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97" name="Google Shape;97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8" name="Google Shape;98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09" name="Google Shape;109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" name="Google Shape;110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23" name="Google Shape;123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4" name="Google Shape;124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33" name="Google Shape;133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4" name="Google Shape;134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44" name="Google Shape;144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5" name="Google Shape;145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5" name="Google Shape;155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6" name="Google Shape;156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67" name="Google Shape;167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8" name="Google Shape;168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9" name="Google Shape;179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89" name="Google Shape;189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0" name="Google Shape;190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02" name="Google Shape;202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3" name="Google Shape;203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06" name="Google Shape;206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15" name="Google Shape;215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6" name="Google Shape;216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19" name="Google Shape;219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26" name="Google Shape;226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7" name="Google Shape;227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30" name="Google Shape;230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1" name="Google Shape;241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44" name="Google Shape;244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54" name="Google Shape;254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5" name="Google Shape;255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58" name="Google Shape;258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64" name="Google Shape;264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5" name="Google Shape;265;p1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68" name="Google Shape;268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78" name="Google Shape;278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9" name="Google Shape;279;p1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82" name="Google Shape;282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hyperlink" Target="https://forms.gle/YWzPbW1CEthc71TF8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hyperlink" Target="https://forms.gle/EcTrfBJqWEr9voUSA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188"/>
            <a:ext cx="18253424" cy="10286619"/>
          </a:xfrm>
          <a:custGeom>
            <a:rect b="b" l="l" r="r" t="t"/>
            <a:pathLst>
              <a:path extrusionOk="0" h="13715492" w="24337899">
                <a:moveTo>
                  <a:pt x="0" y="0"/>
                </a:moveTo>
                <a:lnTo>
                  <a:pt x="24337899" y="0"/>
                </a:lnTo>
                <a:lnTo>
                  <a:pt x="24337899" y="13715492"/>
                </a:lnTo>
                <a:lnTo>
                  <a:pt x="0" y="13715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{3CF786FE-52EA-4133-AFD2-198871ECF9D4}</a:tableStyleId>
              </a:tblPr>
              <a:tblGrid>
                <a:gridCol w="3042075"/>
                <a:gridCol w="4336625"/>
              </a:tblGrid>
              <a:tr h="97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de Enero, 2026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17:20 PM</a:t>
                      </a:r>
                      <a:endParaRPr sz="1100" u="none" cap="none" strike="noStrike"/>
                    </a:p>
                  </a:txBody>
                  <a:tcPr marT="182850" marB="182850" marR="182850" marL="1828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"/>
          <p:cNvSpPr txBox="1"/>
          <p:nvPr/>
        </p:nvSpPr>
        <p:spPr>
          <a:xfrm>
            <a:off x="1028700" y="4199834"/>
            <a:ext cx="162306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[Sección X]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68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1" i="0" lang="en-US" sz="4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1309390" y="5934075"/>
            <a:ext cx="1566922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1" i="0" lang="en-US" sz="4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992600" y="2080895"/>
            <a:ext cx="14302800" cy="3201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Semana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6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Presentación y Diagnostico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28700" y="7677150"/>
            <a:ext cx="6981379" cy="1533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67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6689219" y="2337735"/>
            <a:ext cx="10086810" cy="6357536"/>
            <a:chOff x="0" y="-219075"/>
            <a:chExt cx="13449080" cy="8476715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3449080" cy="8257640"/>
            </a:xfrm>
            <a:custGeom>
              <a:rect b="b" l="l" r="r" t="t"/>
              <a:pathLst>
                <a:path extrusionOk="0" h="8257640" w="13449080">
                  <a:moveTo>
                    <a:pt x="0" y="0"/>
                  </a:moveTo>
                  <a:lnTo>
                    <a:pt x="13449080" y="0"/>
                  </a:lnTo>
                  <a:lnTo>
                    <a:pt x="13449080" y="8257640"/>
                  </a:lnTo>
                  <a:lnTo>
                    <a:pt x="0" y="825764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17" name="Google Shape;117;p3"/>
            <p:cNvSpPr txBox="1"/>
            <p:nvPr/>
          </p:nvSpPr>
          <p:spPr>
            <a:xfrm>
              <a:off x="0" y="-219075"/>
              <a:ext cx="13449080" cy="8476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Presentación Personal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Presentación De Estudiantes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Diagnóstico De Conocimientos Previos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Presentación Del Programa Del Curso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Horarios De Calificación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Diagnóstico Del Nuevo Laboratorio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31800" lvl="1" marL="863599" marR="0" rtl="0" algn="l">
                <a:lnSpc>
                  <a:spcPct val="1776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Nunito"/>
                <a:buAutoNum type="arabicPeriod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Recomendaciones, Consideraciones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3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119" name="Google Shape;119;p3"/>
          <p:cNvSpPr/>
          <p:nvPr/>
        </p:nvSpPr>
        <p:spPr>
          <a:xfrm>
            <a:off x="1511971" y="4172807"/>
            <a:ext cx="4816037" cy="4816037"/>
          </a:xfrm>
          <a:custGeom>
            <a:rect b="b" l="l" r="r" t="t"/>
            <a:pathLst>
              <a:path extrusionOk="0" h="4816037" w="4816037">
                <a:moveTo>
                  <a:pt x="0" y="0"/>
                </a:moveTo>
                <a:lnTo>
                  <a:pt x="4816038" y="0"/>
                </a:lnTo>
                <a:lnTo>
                  <a:pt x="4816038" y="4816037"/>
                </a:lnTo>
                <a:lnTo>
                  <a:pt x="0" y="4816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3"/>
          <p:cNvSpPr txBox="1"/>
          <p:nvPr/>
        </p:nvSpPr>
        <p:spPr>
          <a:xfrm>
            <a:off x="1545289" y="2085252"/>
            <a:ext cx="4749403" cy="1685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2053233" y="1696183"/>
            <a:ext cx="14181534" cy="166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Presentación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140" name="Google Shape;140;p5"/>
          <p:cNvSpPr txBox="1"/>
          <p:nvPr/>
        </p:nvSpPr>
        <p:spPr>
          <a:xfrm>
            <a:off x="1028700" y="4131396"/>
            <a:ext cx="12865291" cy="5126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1800" lvl="1" marL="863599" marR="0" rtl="0" algn="l">
              <a:lnSpc>
                <a:spcPct val="2076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Resolver cualquier duda y reforzar los temas abordados en clase.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1" marL="863599" marR="0" rtl="0" algn="l">
              <a:lnSpc>
                <a:spcPct val="2076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Guiar en la resolución de prácticas y proyectos.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1" marL="863599" marR="0" rtl="0" algn="l">
              <a:lnSpc>
                <a:spcPct val="2077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Acompañar el proceso de aprendizaje práctico mediante ejemplos impartidos en el laboratorio.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1463516" y="2102799"/>
            <a:ext cx="15360968" cy="166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Mi Rol Como Su Auxiliar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/>
        </p:nvSpPr>
        <p:spPr>
          <a:xfrm>
            <a:off x="1028700" y="3577623"/>
            <a:ext cx="16392734" cy="572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9416" lvl="1" marL="798831" marR="0" rtl="0" algn="just">
              <a:lnSpc>
                <a:spcPct val="2075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700"/>
              <a:buFont typeface="Arial"/>
              <a:buChar char="•"/>
            </a:pPr>
            <a:r>
              <a:rPr b="0" i="0" lang="en-US" sz="3700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Ayudar a mis estudiantes a comprender los tema impartidos durante el semestre.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9416" lvl="1" marL="798831" marR="0" rtl="0" algn="just">
              <a:lnSpc>
                <a:spcPct val="2075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700"/>
              <a:buFont typeface="Arial"/>
              <a:buChar char="•"/>
            </a:pPr>
            <a:r>
              <a:rPr b="0" i="0" lang="en-US" sz="3700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Participación activa de mis estudiantes durante las sesiones virtuales y durante las calificaciones.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9416" lvl="1" marL="798831" marR="0" rtl="0" algn="just">
              <a:lnSpc>
                <a:spcPct val="20767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700"/>
              <a:buFont typeface="Arial"/>
              <a:buChar char="•"/>
            </a:pPr>
            <a:r>
              <a:rPr b="0" i="0" lang="en-US" sz="3700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Entregar calificaciones y retroalimentaciones con tiempo para tranquilidad de mis estudiantes.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667941" y="1813394"/>
            <a:ext cx="16952119" cy="166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Mis Expectativas Del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12434511" y="3820790"/>
            <a:ext cx="4291355" cy="4291355"/>
          </a:xfrm>
          <a:custGeom>
            <a:rect b="b" l="l" r="r" t="t"/>
            <a:pathLst>
              <a:path extrusionOk="0" h="4291355" w="4291355">
                <a:moveTo>
                  <a:pt x="0" y="0"/>
                </a:moveTo>
                <a:lnTo>
                  <a:pt x="4291355" y="0"/>
                </a:lnTo>
                <a:lnTo>
                  <a:pt x="4291355" y="4291356"/>
                </a:lnTo>
                <a:lnTo>
                  <a:pt x="0" y="4291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7"/>
          <p:cNvSpPr txBox="1"/>
          <p:nvPr/>
        </p:nvSpPr>
        <p:spPr>
          <a:xfrm>
            <a:off x="1028700" y="5179146"/>
            <a:ext cx="12625499" cy="4079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1800" lvl="1" marL="863599" marR="0" rtl="0" algn="l">
              <a:lnSpc>
                <a:spcPct val="2076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Nombre Completo.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1" marL="863599" marR="0" rtl="0" algn="l">
              <a:lnSpc>
                <a:spcPct val="2076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¿Qué otros cursos estoy llevando?.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1" marL="863599" marR="0" rtl="0" algn="l">
              <a:lnSpc>
                <a:spcPct val="2076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Intereses y expectativas sobre este curso.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1" marL="863599" marR="0" rtl="0" algn="l">
              <a:lnSpc>
                <a:spcPct val="20772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Un dato curioso sobre sí mismo.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1028700" y="1769424"/>
            <a:ext cx="10942302" cy="3383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Presentación De Estudiantes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6493849" y="4726504"/>
            <a:ext cx="5300301" cy="5300301"/>
          </a:xfrm>
          <a:custGeom>
            <a:rect b="b" l="l" r="r" t="t"/>
            <a:pathLst>
              <a:path extrusionOk="0" h="5300301" w="5300301">
                <a:moveTo>
                  <a:pt x="0" y="0"/>
                </a:moveTo>
                <a:lnTo>
                  <a:pt x="5300302" y="0"/>
                </a:lnTo>
                <a:lnTo>
                  <a:pt x="5300302" y="5300301"/>
                </a:lnTo>
                <a:lnTo>
                  <a:pt x="0" y="5300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8"/>
          <p:cNvSpPr txBox="1"/>
          <p:nvPr/>
        </p:nvSpPr>
        <p:spPr>
          <a:xfrm>
            <a:off x="1514725" y="1343025"/>
            <a:ext cx="15258550" cy="3383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Diagnóstico De Conocimientos Previos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1514725" y="1584914"/>
            <a:ext cx="15258550" cy="3383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Presentación Del Programa Del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186" name="Google Shape;186;p9"/>
          <p:cNvSpPr/>
          <p:nvPr/>
        </p:nvSpPr>
        <p:spPr>
          <a:xfrm>
            <a:off x="6920390" y="5143500"/>
            <a:ext cx="4447220" cy="4447220"/>
          </a:xfrm>
          <a:custGeom>
            <a:rect b="b" l="l" r="r" t="t"/>
            <a:pathLst>
              <a:path extrusionOk="0" h="4447220" w="4447220">
                <a:moveTo>
                  <a:pt x="0" y="0"/>
                </a:moveTo>
                <a:lnTo>
                  <a:pt x="4447220" y="0"/>
                </a:lnTo>
                <a:lnTo>
                  <a:pt x="4447220" y="4447220"/>
                </a:lnTo>
                <a:lnTo>
                  <a:pt x="0" y="4447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196" name="Google Shape;196;p10"/>
          <p:cNvSpPr/>
          <p:nvPr/>
        </p:nvSpPr>
        <p:spPr>
          <a:xfrm>
            <a:off x="10910188" y="7421624"/>
            <a:ext cx="1984995" cy="1984995"/>
          </a:xfrm>
          <a:custGeom>
            <a:rect b="b" l="l" r="r" t="t"/>
            <a:pathLst>
              <a:path extrusionOk="0" h="1984995" w="1984995">
                <a:moveTo>
                  <a:pt x="0" y="0"/>
                </a:moveTo>
                <a:lnTo>
                  <a:pt x="1984995" y="0"/>
                </a:lnTo>
                <a:lnTo>
                  <a:pt x="1984995" y="1984995"/>
                </a:lnTo>
                <a:lnTo>
                  <a:pt x="0" y="1984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0"/>
          <p:cNvSpPr txBox="1"/>
          <p:nvPr/>
        </p:nvSpPr>
        <p:spPr>
          <a:xfrm>
            <a:off x="1514725" y="1584914"/>
            <a:ext cx="15258550" cy="166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Horarios De Calificación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1028700" y="3615723"/>
            <a:ext cx="15934509" cy="410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076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Este formulario tiene como finalidad recopilar información sobre los días y horarios disponibles para la calificación de prácticas y proyectos. Su propósito es contar con un registro que permita, durante el semestre, considerar la disponibilidad de los estudiantes y así seleccionar los momentos más adecuados para realizar las calificaciones.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12980330" y="7804845"/>
            <a:ext cx="3982879" cy="1094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sng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209" name="Google Shape;209;p11"/>
          <p:cNvSpPr/>
          <p:nvPr/>
        </p:nvSpPr>
        <p:spPr>
          <a:xfrm>
            <a:off x="6117490" y="6860237"/>
            <a:ext cx="1984995" cy="1984995"/>
          </a:xfrm>
          <a:custGeom>
            <a:rect b="b" l="l" r="r" t="t"/>
            <a:pathLst>
              <a:path extrusionOk="0" h="1984995" w="1984995">
                <a:moveTo>
                  <a:pt x="0" y="0"/>
                </a:moveTo>
                <a:lnTo>
                  <a:pt x="1984994" y="0"/>
                </a:lnTo>
                <a:lnTo>
                  <a:pt x="1984994" y="1984995"/>
                </a:lnTo>
                <a:lnTo>
                  <a:pt x="0" y="1984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1"/>
          <p:cNvSpPr txBox="1"/>
          <p:nvPr/>
        </p:nvSpPr>
        <p:spPr>
          <a:xfrm>
            <a:off x="1514725" y="1584914"/>
            <a:ext cx="15258550" cy="1668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Asignación DTT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1028700" y="3615723"/>
            <a:ext cx="15934509" cy="242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076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El presente formulario tiene por objeto recopilar los datos de los estudiantes inscritos en el curso de Introducción a la Programación y Computación 2 - Sección P, con el fin de gestionar su registro y asignación correspondiente en la plataforma del DTT.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8187751" y="7243458"/>
            <a:ext cx="3982641" cy="1094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sng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222" name="Google Shape;222;p12"/>
          <p:cNvSpPr/>
          <p:nvPr/>
        </p:nvSpPr>
        <p:spPr>
          <a:xfrm>
            <a:off x="7383425" y="5296388"/>
            <a:ext cx="3521149" cy="3961912"/>
          </a:xfrm>
          <a:custGeom>
            <a:rect b="b" l="l" r="r" t="t"/>
            <a:pathLst>
              <a:path extrusionOk="0" h="3961912" w="3521149">
                <a:moveTo>
                  <a:pt x="0" y="0"/>
                </a:moveTo>
                <a:lnTo>
                  <a:pt x="3521150" y="0"/>
                </a:lnTo>
                <a:lnTo>
                  <a:pt x="3521150" y="3961912"/>
                </a:lnTo>
                <a:lnTo>
                  <a:pt x="0" y="3961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2"/>
          <p:cNvSpPr txBox="1"/>
          <p:nvPr/>
        </p:nvSpPr>
        <p:spPr>
          <a:xfrm>
            <a:off x="1514725" y="1584914"/>
            <a:ext cx="15258550" cy="3383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Diagnóstico De Conocimientos De IPC2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3"/>
          <p:cNvGrpSpPr/>
          <p:nvPr/>
        </p:nvGrpSpPr>
        <p:grpSpPr>
          <a:xfrm>
            <a:off x="1654927" y="3425911"/>
            <a:ext cx="10107826" cy="6326332"/>
            <a:chOff x="0" y="-190500"/>
            <a:chExt cx="13477102" cy="8435110"/>
          </a:xfrm>
        </p:grpSpPr>
        <p:sp>
          <p:nvSpPr>
            <p:cNvPr id="233" name="Google Shape;233;p13"/>
            <p:cNvSpPr/>
            <p:nvPr/>
          </p:nvSpPr>
          <p:spPr>
            <a:xfrm>
              <a:off x="0" y="0"/>
              <a:ext cx="13477101" cy="8244610"/>
            </a:xfrm>
            <a:custGeom>
              <a:rect b="b" l="l" r="r" t="t"/>
              <a:pathLst>
                <a:path extrusionOk="0" h="8244610" w="13477101">
                  <a:moveTo>
                    <a:pt x="0" y="0"/>
                  </a:moveTo>
                  <a:lnTo>
                    <a:pt x="13477101" y="0"/>
                  </a:lnTo>
                  <a:lnTo>
                    <a:pt x="13477101" y="8244610"/>
                  </a:lnTo>
                  <a:lnTo>
                    <a:pt x="0" y="824461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34" name="Google Shape;234;p13"/>
            <p:cNvSpPr txBox="1"/>
            <p:nvPr/>
          </p:nvSpPr>
          <p:spPr>
            <a:xfrm>
              <a:off x="0" y="-190500"/>
              <a:ext cx="13477102" cy="8435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77826" lvl="1" marL="755652" marR="0" rtl="0" algn="l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Char char="•"/>
              </a:pPr>
              <a:r>
                <a:rPr b="0" i="0" lang="en-US" sz="35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No dejar las practicas o proyectos a última hora.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77826" lvl="1" marL="755652" marR="0" rtl="0" algn="l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Char char="•"/>
              </a:pPr>
              <a:r>
                <a:rPr b="0" i="0" lang="en-US" sz="35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Planificar bien el tiempo con relación a los otros cursos que se llevan.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77826" lvl="1" marL="755652" marR="0" rtl="0" algn="l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Char char="•"/>
              </a:pPr>
              <a:r>
                <a:rPr b="0" i="0" lang="en-US" sz="35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Investigar ejemplos en repositorios de GitHub.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77826" lvl="1" marL="755652" marR="0" rtl="0" algn="l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Char char="•"/>
              </a:pPr>
              <a:r>
                <a:rPr b="0" i="0" lang="en-US" sz="35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CÓDIGO ORDENADO, ARCHIVOS EN CARPETAS.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77826" lvl="1" marL="755652" marR="0" rtl="0" algn="l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Char char="•"/>
              </a:pPr>
              <a:r>
                <a:rPr b="0" i="0" lang="en-US" sz="3500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Nunca rendirse.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13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236" name="Google Shape;236;p13"/>
          <p:cNvSpPr/>
          <p:nvPr/>
        </p:nvSpPr>
        <p:spPr>
          <a:xfrm>
            <a:off x="11507049" y="4070327"/>
            <a:ext cx="5126024" cy="5126024"/>
          </a:xfrm>
          <a:custGeom>
            <a:rect b="b" l="l" r="r" t="t"/>
            <a:pathLst>
              <a:path extrusionOk="0" h="5126024" w="5126024">
                <a:moveTo>
                  <a:pt x="0" y="0"/>
                </a:moveTo>
                <a:lnTo>
                  <a:pt x="5126024" y="0"/>
                </a:lnTo>
                <a:lnTo>
                  <a:pt x="5126024" y="5126024"/>
                </a:lnTo>
                <a:lnTo>
                  <a:pt x="0" y="512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3"/>
          <p:cNvSpPr txBox="1"/>
          <p:nvPr/>
        </p:nvSpPr>
        <p:spPr>
          <a:xfrm>
            <a:off x="1654927" y="1635210"/>
            <a:ext cx="11473578" cy="1685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14"/>
          <p:cNvGrpSpPr/>
          <p:nvPr/>
        </p:nvGrpSpPr>
        <p:grpSpPr>
          <a:xfrm>
            <a:off x="1460793" y="3700197"/>
            <a:ext cx="9588352" cy="4687984"/>
            <a:chOff x="0" y="-219075"/>
            <a:chExt cx="12784469" cy="6250646"/>
          </a:xfrm>
        </p:grpSpPr>
        <p:sp>
          <p:nvSpPr>
            <p:cNvPr id="247" name="Google Shape;247;p14"/>
            <p:cNvSpPr/>
            <p:nvPr/>
          </p:nvSpPr>
          <p:spPr>
            <a:xfrm>
              <a:off x="0" y="0"/>
              <a:ext cx="12784469" cy="6031571"/>
            </a:xfrm>
            <a:custGeom>
              <a:rect b="b" l="l" r="r" t="t"/>
              <a:pathLst>
                <a:path extrusionOk="0" h="6031571" w="12784469">
                  <a:moveTo>
                    <a:pt x="0" y="0"/>
                  </a:moveTo>
                  <a:lnTo>
                    <a:pt x="12784469" y="0"/>
                  </a:lnTo>
                  <a:lnTo>
                    <a:pt x="12784469" y="6031571"/>
                  </a:lnTo>
                  <a:lnTo>
                    <a:pt x="0" y="6031571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48" name="Google Shape;248;p14"/>
            <p:cNvSpPr txBox="1"/>
            <p:nvPr/>
          </p:nvSpPr>
          <p:spPr>
            <a:xfrm>
              <a:off x="0" y="-219075"/>
              <a:ext cx="12784469" cy="62506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Respeto a los compañeros, catedrático y al auxiliar.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Todas las entregas serán por UEDi.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31800" lvl="1" marL="863599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Prohibido cualquier tipo de plagio.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31800" lvl="1" marL="863599" marR="0" rtl="0" algn="l">
                <a:lnSpc>
                  <a:spcPct val="1776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Priorizar ganar IPC2 y aprender.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" name="Google Shape;249;p14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250" name="Google Shape;250;p14"/>
          <p:cNvSpPr/>
          <p:nvPr/>
        </p:nvSpPr>
        <p:spPr>
          <a:xfrm>
            <a:off x="11049145" y="3237311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4"/>
          <p:cNvSpPr txBox="1"/>
          <p:nvPr/>
        </p:nvSpPr>
        <p:spPr>
          <a:xfrm>
            <a:off x="1460793" y="1818936"/>
            <a:ext cx="10389751" cy="1685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Consideraciones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 txBox="1"/>
          <p:nvPr/>
        </p:nvSpPr>
        <p:spPr>
          <a:xfrm>
            <a:off x="7207855" y="7348646"/>
            <a:ext cx="3872270" cy="1334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7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0" lang="en-US" sz="6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4576288" y="1604093"/>
            <a:ext cx="9135428" cy="5691759"/>
          </a:xfrm>
          <a:custGeom>
            <a:rect b="b" l="l" r="r" t="t"/>
            <a:pathLst>
              <a:path extrusionOk="0" h="7589012" w="12180570">
                <a:moveTo>
                  <a:pt x="0" y="0"/>
                </a:moveTo>
                <a:lnTo>
                  <a:pt x="12180570" y="0"/>
                </a:lnTo>
                <a:lnTo>
                  <a:pt x="12180570" y="7589012"/>
                </a:lnTo>
                <a:lnTo>
                  <a:pt x="0" y="7589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16"/>
          <p:cNvGrpSpPr/>
          <p:nvPr/>
        </p:nvGrpSpPr>
        <p:grpSpPr>
          <a:xfrm>
            <a:off x="963225" y="3604281"/>
            <a:ext cx="11674538" cy="5462186"/>
            <a:chOff x="0" y="-219075"/>
            <a:chExt cx="15566051" cy="7282915"/>
          </a:xfrm>
        </p:grpSpPr>
        <p:sp>
          <p:nvSpPr>
            <p:cNvPr id="271" name="Google Shape;271;p16"/>
            <p:cNvSpPr/>
            <p:nvPr/>
          </p:nvSpPr>
          <p:spPr>
            <a:xfrm>
              <a:off x="0" y="0"/>
              <a:ext cx="15566051" cy="7063840"/>
            </a:xfrm>
            <a:custGeom>
              <a:rect b="b" l="l" r="r" t="t"/>
              <a:pathLst>
                <a:path extrusionOk="0" h="7063840" w="15566051">
                  <a:moveTo>
                    <a:pt x="0" y="0"/>
                  </a:moveTo>
                  <a:lnTo>
                    <a:pt x="15566051" y="0"/>
                  </a:lnTo>
                  <a:lnTo>
                    <a:pt x="15566051" y="7063840"/>
                  </a:lnTo>
                  <a:lnTo>
                    <a:pt x="0" y="706384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72" name="Google Shape;272;p16"/>
            <p:cNvSpPr txBox="1"/>
            <p:nvPr/>
          </p:nvSpPr>
          <p:spPr>
            <a:xfrm>
              <a:off x="0" y="-219075"/>
              <a:ext cx="15566051" cy="7282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None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MEDIO OFICIAL PARA LA RESOLUCIÓN DE DUDAS SERÁ UEDI EN FOROS.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None/>
              </a:pPr>
              <a:r>
                <a:t/>
              </a:r>
              <a:endParaRPr b="1" i="0" sz="399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CORREO: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776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Asunto: [IPC2-P]DUDA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776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None/>
              </a:pPr>
              <a:r>
                <a:t/>
              </a:r>
              <a:endParaRPr b="0" i="0" sz="399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73" name="Google Shape;273;p16"/>
          <p:cNvSpPr/>
          <p:nvPr/>
        </p:nvSpPr>
        <p:spPr>
          <a:xfrm>
            <a:off x="666863" y="495194"/>
            <a:ext cx="10243280" cy="1066990"/>
          </a:xfrm>
          <a:custGeom>
            <a:rect b="b" l="l" r="r" t="t"/>
            <a:pathLst>
              <a:path extrusionOk="0" h="1422654" w="13657707">
                <a:moveTo>
                  <a:pt x="0" y="0"/>
                </a:moveTo>
                <a:lnTo>
                  <a:pt x="13657707" y="0"/>
                </a:lnTo>
                <a:lnTo>
                  <a:pt x="13657707" y="1422654"/>
                </a:lnTo>
                <a:lnTo>
                  <a:pt x="0" y="1422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6" l="0" r="0" t="-275"/>
            </a:stretch>
          </a:blipFill>
          <a:ln>
            <a:noFill/>
          </a:ln>
        </p:spPr>
      </p:sp>
      <p:sp>
        <p:nvSpPr>
          <p:cNvPr id="274" name="Google Shape;274;p16"/>
          <p:cNvSpPr/>
          <p:nvPr/>
        </p:nvSpPr>
        <p:spPr>
          <a:xfrm>
            <a:off x="12637763" y="4074021"/>
            <a:ext cx="4687011" cy="4687011"/>
          </a:xfrm>
          <a:custGeom>
            <a:rect b="b" l="l" r="r" t="t"/>
            <a:pathLst>
              <a:path extrusionOk="0" h="4687011" w="4687011">
                <a:moveTo>
                  <a:pt x="0" y="0"/>
                </a:moveTo>
                <a:lnTo>
                  <a:pt x="4687012" y="0"/>
                </a:lnTo>
                <a:lnTo>
                  <a:pt x="4687012" y="4687011"/>
                </a:lnTo>
                <a:lnTo>
                  <a:pt x="0" y="46870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6"/>
          <p:cNvSpPr txBox="1"/>
          <p:nvPr/>
        </p:nvSpPr>
        <p:spPr>
          <a:xfrm>
            <a:off x="963225" y="1736709"/>
            <a:ext cx="5739051" cy="1685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Contacto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4814550" y="5471802"/>
            <a:ext cx="8658900" cy="204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8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99"/>
              <a:buFont typeface="Arial"/>
              <a:buNone/>
            </a:pPr>
            <a:r>
              <a:rPr b="1" i="0" lang="en-US" sz="6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7765366" y="1239509"/>
            <a:ext cx="2757297" cy="3770948"/>
          </a:xfrm>
          <a:custGeom>
            <a:rect b="b" l="l" r="r" t="t"/>
            <a:pathLst>
              <a:path extrusionOk="0" h="5027930" w="3676396">
                <a:moveTo>
                  <a:pt x="0" y="0"/>
                </a:moveTo>
                <a:lnTo>
                  <a:pt x="3676396" y="0"/>
                </a:lnTo>
                <a:lnTo>
                  <a:pt x="3676396" y="5027930"/>
                </a:lnTo>
                <a:lnTo>
                  <a:pt x="0" y="5027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" r="-6" t="0"/>
            </a:stretch>
          </a:blipFill>
          <a:ln>
            <a:noFill/>
          </a:ln>
        </p:spPr>
      </p:sp>
      <p:sp>
        <p:nvSpPr>
          <p:cNvPr id="286" name="Google Shape;286;p17"/>
          <p:cNvSpPr txBox="1"/>
          <p:nvPr/>
        </p:nvSpPr>
        <p:spPr>
          <a:xfrm>
            <a:off x="2411098" y="7963545"/>
            <a:ext cx="13465804" cy="1083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76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131416"/>
                </a:solidFill>
                <a:latin typeface="Nunito"/>
                <a:ea typeface="Nunito"/>
                <a:cs typeface="Nunito"/>
                <a:sym typeface="Nunito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