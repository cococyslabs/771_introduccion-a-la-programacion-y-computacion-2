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y="5143500" cx="9144000"/>
  <p:notesSz cx="6858000" cy="9144000"/>
  <p:embeddedFontLst>
    <p:embeddedFont>
      <p:font typeface="Playfair Display"/>
      <p:regular r:id="rId41"/>
      <p:bold r:id="rId42"/>
      <p:italic r:id="rId43"/>
      <p:boldItalic r:id="rId44"/>
    </p:embeddedFont>
    <p:embeddedFont>
      <p:font typeface="Montserrat"/>
      <p:regular r:id="rId45"/>
      <p:bold r:id="rId46"/>
      <p:italic r:id="rId47"/>
      <p:boldItalic r:id="rId48"/>
    </p:embeddedFont>
    <p:embeddedFont>
      <p:font typeface="Lato"/>
      <p:regular r:id="rId49"/>
      <p:bold r:id="rId50"/>
      <p:italic r:id="rId51"/>
      <p:boldItalic r:id="rId52"/>
    </p:embeddedFont>
    <p:embeddedFont>
      <p:font typeface="Oswald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494AFA-61FD-492A-915B-3FA8901B531F}">
  <a:tblStyle styleId="{60494AFA-61FD-492A-915B-3FA8901B53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D020633-DFD8-49FE-81A5-B3AB1ECABED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font" Target="fonts/PlayfairDisplay-bold.fntdata"/><Relationship Id="rId41" Type="http://schemas.openxmlformats.org/officeDocument/2006/relationships/font" Target="fonts/PlayfairDisplay-regular.fntdata"/><Relationship Id="rId44" Type="http://schemas.openxmlformats.org/officeDocument/2006/relationships/font" Target="fonts/PlayfairDisplay-boldItalic.fntdata"/><Relationship Id="rId43" Type="http://schemas.openxmlformats.org/officeDocument/2006/relationships/font" Target="fonts/PlayfairDisplay-italic.fntdata"/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Lato-italic.fntdata"/><Relationship Id="rId50" Type="http://schemas.openxmlformats.org/officeDocument/2006/relationships/font" Target="fonts/Lato-bold.fntdata"/><Relationship Id="rId53" Type="http://schemas.openxmlformats.org/officeDocument/2006/relationships/font" Target="fonts/Oswald-regular.fntdata"/><Relationship Id="rId52" Type="http://schemas.openxmlformats.org/officeDocument/2006/relationships/font" Target="fonts/Lato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54" Type="http://schemas.openxmlformats.org/officeDocument/2006/relationships/font" Target="fonts/Oswald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244b2076d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d244b2076d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244b2076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244b2076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244b2076d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244b2076d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244b2076d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244b2076d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244b2076d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244b2076d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244b2076d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244b2076d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244b2076d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244b2076d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244b2076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244b2076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244b2076d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244b2076d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244b2076d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244b2076d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244b2076d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244b2076d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244b2076d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244b2076d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244b2076d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244b2076d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244b2076d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244b2076d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244b2076d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d244b2076d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244b2076d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244b2076d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244b2076d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244b2076d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244b2076d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d244b2076d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244b2076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244b2076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244b2076d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244b2076d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244b2076d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244b2076d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244b2076d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244b2076d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244b2076d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244b2076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244b2076d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d244b2076d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244b2076d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244b2076d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244b2076d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244b2076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244b2076d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244b2076d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244b2076d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d244b2076d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244b2076d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244b2076d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244b2076d_0_7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d244b2076d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244b2076d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244b2076d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31.png"/><Relationship Id="rId13" Type="http://schemas.openxmlformats.org/officeDocument/2006/relationships/image" Target="../media/image8.png"/><Relationship Id="rId1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5" Type="http://schemas.openxmlformats.org/officeDocument/2006/relationships/image" Target="../media/image7.png"/><Relationship Id="rId14" Type="http://schemas.openxmlformats.org/officeDocument/2006/relationships/image" Target="../media/image13.png"/><Relationship Id="rId17" Type="http://schemas.openxmlformats.org/officeDocument/2006/relationships/image" Target="../media/image18.png"/><Relationship Id="rId16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Relationship Id="rId8" Type="http://schemas.openxmlformats.org/officeDocument/2006/relationships/image" Target="../media/image3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9" name="Google Shape;159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5" name="Google Shape;165;p19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6" name="Google Shape;166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72" name="Google Shape;172;p20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3" name="Google Shape;173;p20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74" name="Google Shape;174;p20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5" name="Google Shape;175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86" name="Google Shape;186;p22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7" name="Google Shape;187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8" name="Google Shape;188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2" name="Google Shape;192;p23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94" name="Google Shape;194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5" name="Google Shape;195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6" name="Google Shape;196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7" name="Google Shape;207;p2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9" name="Google Shape;219;p28"/>
          <p:cNvSpPr/>
          <p:nvPr/>
        </p:nvSpPr>
        <p:spPr>
          <a:xfrm rot="8477726">
            <a:off x="6111179" y="-1124101"/>
            <a:ext cx="2341466" cy="1941288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1"/>
                </a:lnTo>
                <a:lnTo>
                  <a:pt x="0" y="3884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8"/>
          <p:cNvSpPr/>
          <p:nvPr/>
        </p:nvSpPr>
        <p:spPr>
          <a:xfrm rot="2322274">
            <a:off x="7663365" y="-266692"/>
            <a:ext cx="2341466" cy="1502445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7"/>
                </a:lnTo>
                <a:lnTo>
                  <a:pt x="0" y="3006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28"/>
          <p:cNvSpPr/>
          <p:nvPr/>
        </p:nvSpPr>
        <p:spPr>
          <a:xfrm rot="5055654">
            <a:off x="8252562" y="1981941"/>
            <a:ext cx="2342638" cy="1891022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8"/>
          <p:cNvSpPr/>
          <p:nvPr/>
        </p:nvSpPr>
        <p:spPr>
          <a:xfrm rot="-3483315">
            <a:off x="7667199" y="4020037"/>
            <a:ext cx="2346588" cy="1505731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8"/>
          <p:cNvSpPr/>
          <p:nvPr/>
        </p:nvSpPr>
        <p:spPr>
          <a:xfrm rot="8959864">
            <a:off x="-568796" y="-567682"/>
            <a:ext cx="2342257" cy="1502953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8"/>
          <p:cNvSpPr/>
          <p:nvPr/>
        </p:nvSpPr>
        <p:spPr>
          <a:xfrm rot="5400000">
            <a:off x="-455755" y="4283944"/>
            <a:ext cx="2342609" cy="1890998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28"/>
          <p:cNvSpPr/>
          <p:nvPr/>
        </p:nvSpPr>
        <p:spPr>
          <a:xfrm rot="5400000">
            <a:off x="1602322" y="4692722"/>
            <a:ext cx="2342609" cy="1942236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0"/>
                </a:lnTo>
                <a:lnTo>
                  <a:pt x="0" y="3884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28"/>
          <p:cNvSpPr/>
          <p:nvPr/>
        </p:nvSpPr>
        <p:spPr>
          <a:xfrm rot="5400000">
            <a:off x="931397" y="-1385055"/>
            <a:ext cx="2342609" cy="2018903"/>
          </a:xfrm>
          <a:custGeom>
            <a:rect b="b" l="l" r="r" t="t"/>
            <a:pathLst>
              <a:path extrusionOk="0" h="4037805" w="4685217">
                <a:moveTo>
                  <a:pt x="0" y="0"/>
                </a:moveTo>
                <a:lnTo>
                  <a:pt x="4685216" y="0"/>
                </a:lnTo>
                <a:lnTo>
                  <a:pt x="4685216" y="4037805"/>
                </a:lnTo>
                <a:lnTo>
                  <a:pt x="0" y="4037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28"/>
          <p:cNvSpPr/>
          <p:nvPr/>
        </p:nvSpPr>
        <p:spPr>
          <a:xfrm rot="5400000">
            <a:off x="7944202" y="1425738"/>
            <a:ext cx="871749" cy="844804"/>
          </a:xfrm>
          <a:custGeom>
            <a:rect b="b" l="l" r="r" t="t"/>
            <a:pathLst>
              <a:path extrusionOk="0" h="1689608" w="1743498">
                <a:moveTo>
                  <a:pt x="0" y="0"/>
                </a:moveTo>
                <a:lnTo>
                  <a:pt x="1743498" y="0"/>
                </a:lnTo>
                <a:lnTo>
                  <a:pt x="1743498" y="1689608"/>
                </a:lnTo>
                <a:lnTo>
                  <a:pt x="0" y="1689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28"/>
          <p:cNvSpPr/>
          <p:nvPr/>
        </p:nvSpPr>
        <p:spPr>
          <a:xfrm rot="5400000">
            <a:off x="-1351661" y="2694468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8"/>
          <p:cNvSpPr/>
          <p:nvPr/>
        </p:nvSpPr>
        <p:spPr>
          <a:xfrm rot="10003604">
            <a:off x="6802359" y="4547632"/>
            <a:ext cx="2346734" cy="2689021"/>
          </a:xfrm>
          <a:custGeom>
            <a:rect b="b" l="l" r="r" t="t"/>
            <a:pathLst>
              <a:path extrusionOk="0" h="5368589" w="4685217">
                <a:moveTo>
                  <a:pt x="0" y="0"/>
                </a:moveTo>
                <a:lnTo>
                  <a:pt x="4685217" y="0"/>
                </a:lnTo>
                <a:lnTo>
                  <a:pt x="4685217" y="5368589"/>
                </a:lnTo>
                <a:lnTo>
                  <a:pt x="0" y="5368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28"/>
          <p:cNvSpPr/>
          <p:nvPr/>
        </p:nvSpPr>
        <p:spPr>
          <a:xfrm rot="817112">
            <a:off x="3342937" y="-1520401"/>
            <a:ext cx="2755396" cy="2284474"/>
          </a:xfrm>
          <a:custGeom>
            <a:rect b="b" l="l" r="r" t="t"/>
            <a:pathLst>
              <a:path extrusionOk="0" h="4577826" w="5521501">
                <a:moveTo>
                  <a:pt x="0" y="0"/>
                </a:moveTo>
                <a:lnTo>
                  <a:pt x="5521501" y="0"/>
                </a:lnTo>
                <a:lnTo>
                  <a:pt x="5521501" y="4577827"/>
                </a:lnTo>
                <a:lnTo>
                  <a:pt x="0" y="457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28"/>
          <p:cNvSpPr/>
          <p:nvPr/>
        </p:nvSpPr>
        <p:spPr>
          <a:xfrm rot="817112">
            <a:off x="5372884" y="4584490"/>
            <a:ext cx="2555946" cy="2119112"/>
          </a:xfrm>
          <a:custGeom>
            <a:rect b="b" l="l" r="r" t="t"/>
            <a:pathLst>
              <a:path extrusionOk="0" h="4246459" w="5121825">
                <a:moveTo>
                  <a:pt x="0" y="0"/>
                </a:moveTo>
                <a:lnTo>
                  <a:pt x="5121826" y="0"/>
                </a:lnTo>
                <a:lnTo>
                  <a:pt x="5121826" y="4246459"/>
                </a:lnTo>
                <a:lnTo>
                  <a:pt x="0" y="4246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28"/>
          <p:cNvSpPr/>
          <p:nvPr/>
        </p:nvSpPr>
        <p:spPr>
          <a:xfrm rot="5400000">
            <a:off x="3400696" y="4456059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28"/>
          <p:cNvSpPr/>
          <p:nvPr/>
        </p:nvSpPr>
        <p:spPr>
          <a:xfrm rot="7588154">
            <a:off x="-1594862" y="930589"/>
            <a:ext cx="2345008" cy="1892935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8"/>
          <p:cNvSpPr/>
          <p:nvPr/>
        </p:nvSpPr>
        <p:spPr>
          <a:xfrm rot="-8233555">
            <a:off x="6970548" y="-162079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8"/>
          <p:cNvSpPr/>
          <p:nvPr/>
        </p:nvSpPr>
        <p:spPr>
          <a:xfrm rot="-8233555">
            <a:off x="4522863" y="499277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8"/>
          <p:cNvSpPr/>
          <p:nvPr/>
        </p:nvSpPr>
        <p:spPr>
          <a:xfrm rot="-8233555">
            <a:off x="-1640503" y="-346504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6" y="0"/>
                </a:lnTo>
                <a:lnTo>
                  <a:pt x="4685216" y="5614093"/>
                </a:lnTo>
                <a:lnTo>
                  <a:pt x="0" y="5614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28"/>
          <p:cNvSpPr/>
          <p:nvPr/>
        </p:nvSpPr>
        <p:spPr>
          <a:xfrm rot="4934090">
            <a:off x="84549" y="4260092"/>
            <a:ext cx="2340646" cy="2804695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3" name="Google Shape;243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2" name="Google Shape;262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3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35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7" name="Google Shape;267;p3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8" name="Google Shape;268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69" name="Google Shape;269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7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b="0" i="0" sz="18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2" name="Google Shape;212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aps.net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39.png"/><Relationship Id="rId6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38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{60494AFA-61FD-492A-915B-3FA8901B531F}</a:tableStyleId>
              </a:tblPr>
              <a:tblGrid>
                <a:gridCol w="1518200"/>
                <a:gridCol w="2172375"/>
              </a:tblGrid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700" u="none" cap="none" strike="noStrike"/>
                        <a:t>Martes, </a:t>
                      </a:r>
                      <a:r>
                        <a:rPr lang="es" sz="1700"/>
                        <a:t>24</a:t>
                      </a:r>
                      <a:r>
                        <a:rPr lang="es" sz="1700" u="none" cap="none" strike="noStrike"/>
                        <a:t>/03/202</a:t>
                      </a:r>
                      <a:r>
                        <a:rPr lang="es" sz="1700"/>
                        <a:t>6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u="none" cap="none" strike="noStrike"/>
                        <a:t>17:20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38"/>
          <p:cNvSpPr/>
          <p:nvPr/>
        </p:nvSpPr>
        <p:spPr>
          <a:xfrm>
            <a:off x="1799025" y="2994338"/>
            <a:ext cx="36825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TOBÍAS RAFAEL ZAMORA SANTOS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8"/>
          <p:cNvSpPr/>
          <p:nvPr/>
        </p:nvSpPr>
        <p:spPr>
          <a:xfrm>
            <a:off x="1545463" y="2390625"/>
            <a:ext cx="50712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ctrTitle"/>
          </p:nvPr>
        </p:nvSpPr>
        <p:spPr>
          <a:xfrm>
            <a:off x="2991625" y="1578400"/>
            <a:ext cx="60060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Desarrollo Web Frontend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9"/>
          <p:cNvSpPr txBox="1"/>
          <p:nvPr>
            <p:ph idx="1" type="subTitle"/>
          </p:nvPr>
        </p:nvSpPr>
        <p:spPr>
          <a:xfrm>
            <a:off x="5121025" y="2612800"/>
            <a:ext cx="36360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</a:t>
            </a:r>
            <a:r>
              <a:rPr lang="es">
                <a:solidFill>
                  <a:srgbClr val="FFFFFF"/>
                </a:solidFill>
              </a:rPr>
              <a:t>ntroducción a </a:t>
            </a:r>
            <a:r>
              <a:rPr lang="es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APS.NET</a:t>
            </a:r>
            <a:r>
              <a:rPr lang="es">
                <a:solidFill>
                  <a:srgbClr val="FFFFFF"/>
                </a:solidFill>
              </a:rPr>
              <a:t> CORE RAZOR PAGES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91" name="Google Shape;29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/>
        </p:nvSpPr>
        <p:spPr>
          <a:xfrm>
            <a:off x="50775" y="4250000"/>
            <a:ext cx="4462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Introducción a la Programación y Computación 2</a:t>
            </a:r>
            <a:br>
              <a:rPr b="1"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Escuela de Ingeniería en Ciencias y Sistemas</a:t>
            </a:r>
            <a:b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Facultad de Ingeniería</a:t>
            </a:r>
            <a:b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Universidad de San Carlos de Guatemala</a:t>
            </a:r>
            <a:endParaRPr sz="1314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/>
        </p:nvSpPr>
        <p:spPr>
          <a:xfrm>
            <a:off x="1583600" y="469675"/>
            <a:ext cx="1500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sz="4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40"/>
          <p:cNvSpPr txBox="1"/>
          <p:nvPr/>
        </p:nvSpPr>
        <p:spPr>
          <a:xfrm>
            <a:off x="6170700" y="469675"/>
            <a:ext cx="1771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Recursos</a:t>
            </a:r>
            <a:endParaRPr sz="4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40"/>
          <p:cNvSpPr/>
          <p:nvPr/>
        </p:nvSpPr>
        <p:spPr>
          <a:xfrm>
            <a:off x="1174625" y="1012215"/>
            <a:ext cx="408986" cy="473563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40"/>
          <p:cNvSpPr txBox="1"/>
          <p:nvPr/>
        </p:nvSpPr>
        <p:spPr>
          <a:xfrm>
            <a:off x="1495125" y="1122775"/>
            <a:ext cx="1617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Recordatorios</a:t>
            </a:r>
            <a:endParaRPr b="1"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391313" y="1641111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40"/>
          <p:cNvSpPr txBox="1"/>
          <p:nvPr/>
        </p:nvSpPr>
        <p:spPr>
          <a:xfrm>
            <a:off x="918225" y="157125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Navegación e 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interacción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Avanzada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391313" y="2209286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40"/>
          <p:cNvSpPr txBox="1"/>
          <p:nvPr/>
        </p:nvSpPr>
        <p:spPr>
          <a:xfrm>
            <a:off x="918225" y="1970138"/>
            <a:ext cx="2440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Navegación entre Páginas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918225" y="2329325"/>
            <a:ext cx="1328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 Helpers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918225" y="2708150"/>
            <a:ext cx="2706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Ciclo de Vida: Page 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Handlers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918225" y="308740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Problema de los Múltiples Botones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918225" y="344615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Manejadores Nombrados (Vistas)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918225" y="3845475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Manejadores Nombrados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918225" y="415190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PUT, 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DELETE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etc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918225" y="460355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“Pegamento”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391313" y="2777461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40"/>
          <p:cNvSpPr/>
          <p:nvPr/>
        </p:nvSpPr>
        <p:spPr>
          <a:xfrm>
            <a:off x="391313" y="3345636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40"/>
          <p:cNvSpPr/>
          <p:nvPr/>
        </p:nvSpPr>
        <p:spPr>
          <a:xfrm>
            <a:off x="391313" y="3913811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40"/>
          <p:cNvSpPr/>
          <p:nvPr/>
        </p:nvSpPr>
        <p:spPr>
          <a:xfrm>
            <a:off x="391313" y="4481986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1943538" y="595775"/>
            <a:ext cx="52569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3100"/>
              <a:t>Competencias a Desarrollar</a:t>
            </a:r>
            <a:endParaRPr b="1" sz="3100"/>
          </a:p>
        </p:txBody>
      </p:sp>
      <p:pic>
        <p:nvPicPr>
          <p:cNvPr id="321" name="Google Shape;32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1"/>
          <p:cNvSpPr txBox="1"/>
          <p:nvPr/>
        </p:nvSpPr>
        <p:spPr>
          <a:xfrm>
            <a:off x="856800" y="1169650"/>
            <a:ext cx="74304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Comprender el ciclo de vida de una Razor Page: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Diferenciar claramente en qué momento de la ejecución de la aplicación intervienen los métodos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OnGet 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Identificar las limitaciones y usos de los verbos HTTP en formularios web: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Entender por qué en aplicaciones web tradicionales se prioriza el uso de GET y POST, y cómo se estructuran las peticiones al servidor.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Asimilar el concepto de Tag Helpers: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Reconocer cómo ASP.NET Core facilita la generación de código HTML dinámico y seguro desde el lado del servidor.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Implementar navegación dinámica: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Utilizar correctamente el Tag Helper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para interconectar múltiples vistas dentro de la aplicación, asegurando un enrutamiento mantenible.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Gestionar múltiples acciones en una sola vista: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Codificar formularios complejos utilizando atributos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(Manejadores Nombrados) para capturar distintos eventos del usuario (ej. guardar, eliminar, actualizar) en un mismo archivo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Procesar entrada de datos y archivos: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Desarrollar la lógica de backend necesaria para capturar datos enviados por el usuario, incluyendo la carga y lectura de estructuras estructuradas como archivos XML (ideal para sistemas de gestión, como inventarios o control de drones).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726375" y="2038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Razor Pages: Navegación e Interacción Avanzada</a:t>
            </a:r>
            <a:endParaRPr b="1"/>
          </a:p>
        </p:txBody>
      </p:sp>
      <p:pic>
        <p:nvPicPr>
          <p:cNvPr id="328" name="Google Shape;3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type="title"/>
          </p:nvPr>
        </p:nvSpPr>
        <p:spPr>
          <a:xfrm>
            <a:off x="1484950" y="7911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Lato"/>
                <a:ea typeface="Lato"/>
                <a:cs typeface="Lato"/>
                <a:sym typeface="Lato"/>
              </a:rPr>
              <a:t>Recordatorio de la estructura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</a:t>
            </a:r>
            <a:r>
              <a:rPr lang="e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.cshtml.cs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 y la inyección de dependencias (Singleton).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4" name="Google Shape;33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97475"/>
            <a:ext cx="8839201" cy="210496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/>
          <p:nvPr/>
        </p:nvSpPr>
        <p:spPr>
          <a:xfrm>
            <a:off x="509825" y="1909975"/>
            <a:ext cx="5570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Inyección</a:t>
            </a: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 Dependencia, por medio de Singleton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4"/>
          <p:cNvSpPr txBox="1"/>
          <p:nvPr/>
        </p:nvSpPr>
        <p:spPr>
          <a:xfrm>
            <a:off x="1162100" y="792800"/>
            <a:ext cx="50385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Archivos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</a:t>
            </a:r>
            <a:r>
              <a:rPr lang="es" sz="18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(Diseño)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s" sz="18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.cshtml.cs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(Lógica)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3" name="Google Shape;34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800" y="1357075"/>
            <a:ext cx="22288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00" y="2202575"/>
            <a:ext cx="3578950" cy="234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3975" y="2223250"/>
            <a:ext cx="3900526" cy="229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 txBox="1"/>
          <p:nvPr/>
        </p:nvSpPr>
        <p:spPr>
          <a:xfrm>
            <a:off x="1738875" y="4606100"/>
            <a:ext cx="112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(Diseño)</a:t>
            </a:r>
            <a:endParaRPr/>
          </a:p>
        </p:txBody>
      </p:sp>
      <p:sp>
        <p:nvSpPr>
          <p:cNvPr id="347" name="Google Shape;347;p44"/>
          <p:cNvSpPr txBox="1"/>
          <p:nvPr/>
        </p:nvSpPr>
        <p:spPr>
          <a:xfrm>
            <a:off x="6113175" y="4606100"/>
            <a:ext cx="10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(Lógica)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726375" y="2038000"/>
            <a:ext cx="52044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Navegación entre Páginas</a:t>
            </a:r>
            <a:endParaRPr b="1"/>
          </a:p>
        </p:txBody>
      </p:sp>
      <p:pic>
        <p:nvPicPr>
          <p:cNvPr id="353" name="Google Shape;35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1340700" y="821125"/>
            <a:ext cx="64626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Lato"/>
                <a:ea typeface="Lato"/>
                <a:cs typeface="Lato"/>
                <a:sym typeface="Lato"/>
              </a:rPr>
              <a:t>¿</a:t>
            </a:r>
            <a:r>
              <a:rPr b="1" lang="es" sz="2800">
                <a:latin typeface="Lato"/>
                <a:ea typeface="Lato"/>
                <a:cs typeface="Lato"/>
                <a:sym typeface="Lato"/>
              </a:rPr>
              <a:t>Cómo</a:t>
            </a:r>
            <a:r>
              <a:rPr b="1" lang="es" sz="2800">
                <a:latin typeface="Lato"/>
                <a:ea typeface="Lato"/>
                <a:cs typeface="Lato"/>
                <a:sym typeface="Lato"/>
              </a:rPr>
              <a:t> nos movemos en Razor Pages?</a:t>
            </a:r>
            <a:endParaRPr b="1"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9" name="Google Shape;35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6"/>
          <p:cNvSpPr txBox="1"/>
          <p:nvPr>
            <p:ph type="title"/>
          </p:nvPr>
        </p:nvSpPr>
        <p:spPr>
          <a:xfrm>
            <a:off x="345275" y="1672650"/>
            <a:ext cx="83073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 HTML tradicional usamos el atributo</a:t>
            </a:r>
            <a:r>
              <a:rPr lang="es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href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pero en ASP.NET Core utilizamos los </a:t>
            </a:r>
            <a:r>
              <a:rPr b="1"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 Helpers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Puntos clave:</a:t>
            </a:r>
            <a:endParaRPr b="1"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Char char="●"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 Tag Helper facilita la creación de HTML dinámico desde el lado del servidor.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Para enlaces, usamos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Char char="●"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Ventaja: Calcula las rutas automáticamente sin importar si cambias la estructura de carpetas a futuro.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Tag Helpers en Acción (Código)</a:t>
            </a:r>
            <a:endParaRPr b="1"/>
          </a:p>
        </p:txBody>
      </p:sp>
      <p:pic>
        <p:nvPicPr>
          <p:cNvPr id="366" name="Google Shape;3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400" y="3111050"/>
            <a:ext cx="595312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8"/>
          <p:cNvPicPr preferRelativeResize="0"/>
          <p:nvPr/>
        </p:nvPicPr>
        <p:blipFill rotWithShape="1">
          <a:blip r:embed="rId4">
            <a:alphaModFix/>
          </a:blip>
          <a:srcRect b="0" l="0" r="30700" t="0"/>
          <a:stretch/>
        </p:blipFill>
        <p:spPr>
          <a:xfrm>
            <a:off x="3114050" y="1139650"/>
            <a:ext cx="5703375" cy="23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400" y="1116963"/>
            <a:ext cx="25336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8"/>
          <p:cNvSpPr txBox="1"/>
          <p:nvPr>
            <p:ph type="title"/>
          </p:nvPr>
        </p:nvSpPr>
        <p:spPr>
          <a:xfrm>
            <a:off x="375250" y="3853875"/>
            <a:ext cx="8307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Tenemos que indicar en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dirección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nuestra vista en este caso nuestro archivo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GestionDeDrones.cshtml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no hace falta poner la extencion pero si se debe de colocar la ruta correcta.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El Ciclo de Vida: Page Handlers</a:t>
            </a:r>
            <a:endParaRPr b="1"/>
          </a:p>
        </p:txBody>
      </p:sp>
      <p:pic>
        <p:nvPicPr>
          <p:cNvPr id="381" name="Google Shape;3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1484950" y="8136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Comunicando la Vista con el Backend</a:t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7" name="Google Shape;38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0"/>
          <p:cNvSpPr txBox="1"/>
          <p:nvPr>
            <p:ph type="title"/>
          </p:nvPr>
        </p:nvSpPr>
        <p:spPr>
          <a:xfrm>
            <a:off x="255275" y="1522050"/>
            <a:ext cx="8307300" cy="24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¿Cómo sabe el archivo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qué hacer cuando el usuario interactúa? A través de los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Page Handlers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Puntos clave: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1"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OnGet()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 ejecuta al cargar la página (petición GET). Ideal para inicializar variables o mostrar datos.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1"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OnPost()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 ejecuta al enviar un formulario (petición POST). Ideal para guardar, procesar o modificar información.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500" y="2000100"/>
            <a:ext cx="8647005" cy="29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 txBox="1"/>
          <p:nvPr>
            <p:ph type="title"/>
          </p:nvPr>
        </p:nvSpPr>
        <p:spPr>
          <a:xfrm>
            <a:off x="1387100" y="784063"/>
            <a:ext cx="72504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Handler siempre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estará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 la etiqueta form, se indica para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actuará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en este caso para el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post, de esta forma en el archivo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lógico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cuando detecte un post entrara directo al OnPost.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44900"/>
            <a:ext cx="8839199" cy="132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0575" y="2911053"/>
            <a:ext cx="7402861" cy="1997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3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El Problema de los </a:t>
            </a:r>
            <a:r>
              <a:rPr b="1" lang="es"/>
              <a:t>Múltiples</a:t>
            </a:r>
            <a:r>
              <a:rPr b="1" lang="es"/>
              <a:t> Botones</a:t>
            </a:r>
            <a:endParaRPr b="1"/>
          </a:p>
        </p:txBody>
      </p:sp>
      <p:pic>
        <p:nvPicPr>
          <p:cNvPr id="408" name="Google Shape;4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4"/>
          <p:cNvSpPr txBox="1"/>
          <p:nvPr>
            <p:ph type="title"/>
          </p:nvPr>
        </p:nvSpPr>
        <p:spPr>
          <a:xfrm>
            <a:off x="1484950" y="8136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Formularios Complejos</a:t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" name="Google Shape;415;p54"/>
          <p:cNvSpPr txBox="1"/>
          <p:nvPr>
            <p:ph type="title"/>
          </p:nvPr>
        </p:nvSpPr>
        <p:spPr>
          <a:xfrm>
            <a:off x="727650" y="1455675"/>
            <a:ext cx="4708200" cy="32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Char char="●"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Planteamiento: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¿Qué pasa si en una misma vista tengo un botón para "Guardar", otro para "Eliminar" y otro para "Cargar XML"?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Char char="●"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Solución: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Si solo usamos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OnPost()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no sabremos qué botón presionó el usuario. Aquí entran los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Manejadores Nombrados (Named Handlers)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6" name="Google Shape;41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750" y="940075"/>
            <a:ext cx="2181050" cy="394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Manejadores Nombrados (Vista)</a:t>
            </a:r>
            <a:endParaRPr b="1"/>
          </a:p>
        </p:txBody>
      </p:sp>
      <p:pic>
        <p:nvPicPr>
          <p:cNvPr id="422" name="Google Shape;4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6"/>
          <p:cNvSpPr txBox="1"/>
          <p:nvPr>
            <p:ph type="title"/>
          </p:nvPr>
        </p:nvSpPr>
        <p:spPr>
          <a:xfrm>
            <a:off x="1522425" y="8061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Atributo </a:t>
            </a:r>
            <a:r>
              <a:rPr b="1" lang="es" sz="26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endParaRPr b="1" sz="26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56"/>
          <p:cNvSpPr txBox="1"/>
          <p:nvPr>
            <p:ph type="title"/>
          </p:nvPr>
        </p:nvSpPr>
        <p:spPr>
          <a:xfrm>
            <a:off x="727650" y="1455675"/>
            <a:ext cx="73851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 damos un nombre específico a la acción de cada botón dentro del formulario.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0" name="Google Shape;43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888" y="2799025"/>
            <a:ext cx="7134225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4100" y="710125"/>
            <a:ext cx="5607525" cy="31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7"/>
          <p:cNvSpPr txBox="1"/>
          <p:nvPr>
            <p:ph type="title"/>
          </p:nvPr>
        </p:nvSpPr>
        <p:spPr>
          <a:xfrm>
            <a:off x="165300" y="1192125"/>
            <a:ext cx="30888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Aca podemos ver el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uso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los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named handlers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si se dan cuenta en el mismo form hay dos botones, uno para cargar el XML y el otro para generar un archivo de salida,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agregó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la etiqueta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seguido del nombre diferencial, con esto en nuestra clase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podremos distingir al OnPost, esta forma ya existira un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OnPostCargarXml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 un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OnPostGenerarXml </a:t>
            </a:r>
            <a:endParaRPr sz="25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8" name="Google Shape;43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9000" y="3953800"/>
            <a:ext cx="3810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9000" y="4573550"/>
            <a:ext cx="3810000" cy="433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96550" y="1997400"/>
            <a:ext cx="7318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Manejadores Nombrados (Lógica C#)</a:t>
            </a:r>
            <a:endParaRPr b="1"/>
          </a:p>
        </p:txBody>
      </p:sp>
      <p:pic>
        <p:nvPicPr>
          <p:cNvPr id="445" name="Google Shape;44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9"/>
          <p:cNvSpPr txBox="1"/>
          <p:nvPr>
            <p:ph type="title"/>
          </p:nvPr>
        </p:nvSpPr>
        <p:spPr>
          <a:xfrm>
            <a:off x="1522425" y="8061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Capturando la Acción en el </a:t>
            </a:r>
            <a:r>
              <a:rPr b="1" lang="es" sz="26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</a:t>
            </a:r>
            <a:endParaRPr b="1" sz="26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59"/>
          <p:cNvSpPr txBox="1"/>
          <p:nvPr>
            <p:ph type="title"/>
          </p:nvPr>
        </p:nvSpPr>
        <p:spPr>
          <a:xfrm>
            <a:off x="727650" y="1455675"/>
            <a:ext cx="8082300" cy="1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 el backend, creamos métodos que combinen la palabra OnPost con el nombre del handler definido en la vista.</a:t>
            </a:r>
            <a:endParaRPr sz="3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3" name="Google Shape;4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774" y="2459300"/>
            <a:ext cx="4750977" cy="18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9"/>
          <p:cNvPicPr preferRelativeResize="0"/>
          <p:nvPr/>
        </p:nvPicPr>
        <p:blipFill rotWithShape="1">
          <a:blip r:embed="rId5">
            <a:alphaModFix/>
          </a:blip>
          <a:srcRect b="0" l="0" r="5060" t="0"/>
          <a:stretch/>
        </p:blipFill>
        <p:spPr>
          <a:xfrm>
            <a:off x="88550" y="2616675"/>
            <a:ext cx="4062375" cy="9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>
            <p:ph type="title"/>
          </p:nvPr>
        </p:nvSpPr>
        <p:spPr>
          <a:xfrm>
            <a:off x="96550" y="1997400"/>
            <a:ext cx="7318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¿Y qué pasa con PUT, DELETE, etc.?</a:t>
            </a:r>
            <a:endParaRPr b="1"/>
          </a:p>
        </p:txBody>
      </p:sp>
      <p:pic>
        <p:nvPicPr>
          <p:cNvPr id="460" name="Google Shape;4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1"/>
          <p:cNvSpPr txBox="1"/>
          <p:nvPr>
            <p:ph type="title"/>
          </p:nvPr>
        </p:nvSpPr>
        <p:spPr>
          <a:xfrm>
            <a:off x="1522425" y="8061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Limitaciones de HTML vs. APIs</a:t>
            </a:r>
            <a:endParaRPr b="1" sz="26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61"/>
          <p:cNvSpPr txBox="1"/>
          <p:nvPr>
            <p:ph type="title"/>
          </p:nvPr>
        </p:nvSpPr>
        <p:spPr>
          <a:xfrm>
            <a:off x="727650" y="1455675"/>
            <a:ext cx="8082300" cy="28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Puntos clave: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Los formularios HTML estándar (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&lt;form&gt;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solo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soportan los métodos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GET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POST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Aunque en C# podemos escribir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OnPut()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OnDelete()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un botón de HTML no puede llamarlos directamente.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Regla general por ahora: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Todo envío de datos, actualización o eliminación desde la interfaz web clásica se manejará a través de variaciones de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(usando Named Handlers).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2"/>
          <p:cNvSpPr txBox="1"/>
          <p:nvPr>
            <p:ph idx="4294967295" type="body"/>
          </p:nvPr>
        </p:nvSpPr>
        <p:spPr>
          <a:xfrm>
            <a:off x="1943538" y="738250"/>
            <a:ext cx="52569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3100"/>
              <a:t>Conceptos Clave Aprendidos</a:t>
            </a:r>
            <a:endParaRPr b="1" sz="3100"/>
          </a:p>
        </p:txBody>
      </p:sp>
      <p:sp>
        <p:nvSpPr>
          <p:cNvPr id="474" name="Google Shape;474;p62"/>
          <p:cNvSpPr txBox="1"/>
          <p:nvPr/>
        </p:nvSpPr>
        <p:spPr>
          <a:xfrm>
            <a:off x="488100" y="1402125"/>
            <a:ext cx="8167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Enrutamiento del lado del servidor (Server-side Routing):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Uso de Tag Helpers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para la resolución dinámica de rutas dentro de la estructura del proyecto, independientemente de la navegación estática.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Manejadores de Página (Page Handlers):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Métodos fundamentales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OnGet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que dictan el comportamiento del backend según el tipo de petición HTTP recibida.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Manejadores Nombrados (Named Handlers):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Técnica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para multiplexar acciones dentro de un mismo formulario, permitiendo ejecutar diferentes bloques de lógica (como registrar, eliminar o cargar un archivo) desde una sola vista.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Enlace de Datos Bidireccional (Data Binding):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Sincronización automática entre los elementos de la interfaz de usuario (HTML) y el modelo de datos subyacente (C#) mediante el atributo 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[BindProperty]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Separación de Responsabilidades (Separation of Concerns - SoC):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Principio arquitectónico aplicado al separar estrictamente la presentación visual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de la lógica de procesamiento y control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.cshtml.cs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3"/>
          <p:cNvSpPr txBox="1"/>
          <p:nvPr>
            <p:ph idx="4294967295" type="body"/>
          </p:nvPr>
        </p:nvSpPr>
        <p:spPr>
          <a:xfrm>
            <a:off x="2754596" y="828200"/>
            <a:ext cx="36348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3100"/>
              <a:t>Valores y Actitudes</a:t>
            </a:r>
            <a:endParaRPr b="1" sz="3100"/>
          </a:p>
        </p:txBody>
      </p:sp>
      <p:sp>
        <p:nvSpPr>
          <p:cNvPr id="481" name="Google Shape;481;p63"/>
          <p:cNvSpPr txBox="1"/>
          <p:nvPr/>
        </p:nvSpPr>
        <p:spPr>
          <a:xfrm>
            <a:off x="520500" y="1461500"/>
            <a:ext cx="810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Orden y Estructura: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Promover la limpieza en el código y el respeto por la arquitectura del framework, manteniendo la lógica separada de las vistas para crear sistemas escalables y fáciles de mantener.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Responsabilidad Técnica: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Concienciar sobre el manejo adecuado de las peticiones web y la validación de los datos o archivos (como la lectura de un XML) que ingresan al sistema, asegurando que el software no falle ante entradas inesperadas.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Pensamiento Analítico: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Fomentar la capacidad de trazar mentalmente el recorrido de los datos, desde que el usuario hace clic en la interfaz hasta que la lógica en C# procesa la información y devuelve una respuesta.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Curiosidad Tecnológica: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Impulsar el interés por comprender cómo funcionan realmente las cosas "por debajo", como entender las limitaciones de los verbos HTTP en los navegadores estándar frente a las API modernas.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64" title="Buho4.png"/>
          <p:cNvPicPr preferRelativeResize="0"/>
          <p:nvPr/>
        </p:nvPicPr>
        <p:blipFill rotWithShape="1">
          <a:blip r:embed="rId3">
            <a:alphaModFix/>
          </a:blip>
          <a:srcRect b="18143" l="0" r="0" t="13420"/>
          <a:stretch/>
        </p:blipFill>
        <p:spPr>
          <a:xfrm>
            <a:off x="2959100" y="517850"/>
            <a:ext cx="3225800" cy="33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4"/>
          <p:cNvSpPr txBox="1"/>
          <p:nvPr/>
        </p:nvSpPr>
        <p:spPr>
          <a:xfrm>
            <a:off x="2242950" y="4098075"/>
            <a:ext cx="46581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57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Ejemplo Práctico</a:t>
            </a:r>
            <a:endParaRPr b="1" sz="4573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65" title="Buho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75" y="242575"/>
            <a:ext cx="3105574" cy="4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5"/>
          <p:cNvSpPr txBox="1"/>
          <p:nvPr/>
        </p:nvSpPr>
        <p:spPr>
          <a:xfrm>
            <a:off x="3875700" y="1588200"/>
            <a:ext cx="49236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5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Practiquemos lo Aprendido</a:t>
            </a:r>
            <a:endParaRPr b="1" i="0" sz="28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66" title="Buho5.png"/>
          <p:cNvPicPr preferRelativeResize="0"/>
          <p:nvPr/>
        </p:nvPicPr>
        <p:blipFill rotWithShape="1">
          <a:blip r:embed="rId3">
            <a:alphaModFix/>
          </a:blip>
          <a:srcRect b="22309" l="0" r="0" t="16488"/>
          <a:stretch/>
        </p:blipFill>
        <p:spPr>
          <a:xfrm>
            <a:off x="2968250" y="579100"/>
            <a:ext cx="3207501" cy="2944723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6"/>
          <p:cNvSpPr txBox="1"/>
          <p:nvPr/>
        </p:nvSpPr>
        <p:spPr>
          <a:xfrm>
            <a:off x="2545050" y="3523825"/>
            <a:ext cx="40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6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¿Dudas?</a:t>
            </a:r>
            <a:endParaRPr b="1" i="0" sz="3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67" title="Buho4.png"/>
          <p:cNvPicPr preferRelativeResize="0"/>
          <p:nvPr/>
        </p:nvPicPr>
        <p:blipFill rotWithShape="1">
          <a:blip r:embed="rId3">
            <a:alphaModFix/>
          </a:blip>
          <a:srcRect b="16307" l="0" r="0" t="10272"/>
          <a:stretch/>
        </p:blipFill>
        <p:spPr>
          <a:xfrm>
            <a:off x="5221825" y="548875"/>
            <a:ext cx="3673526" cy="404575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7"/>
          <p:cNvSpPr txBox="1"/>
          <p:nvPr/>
        </p:nvSpPr>
        <p:spPr>
          <a:xfrm>
            <a:off x="288025" y="1409800"/>
            <a:ext cx="4933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!Gracias por su Atención¡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" name="Google Shape;506;p67"/>
          <p:cNvSpPr txBox="1"/>
          <p:nvPr/>
        </p:nvSpPr>
        <p:spPr>
          <a:xfrm>
            <a:off x="223900" y="4153550"/>
            <a:ext cx="55572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RECUERDA QUE TENEMOS NUESTRO FORO SEMANAL DONDE PUEDES CONSULTAR CUALQUIER DUDA QUE TE SURJA EN LA SEMANA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2" name="Google Shape;512;p68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{ED020633-DFD8-49FE-81A5-B3AB1ECABED7}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Nombre de la actividad: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Actividad Semana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Cantidad de participantes: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Doy fe que esta actividad está planificada en dtt (Sí/No):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68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8"/>
          <p:cNvSpPr txBox="1"/>
          <p:nvPr/>
        </p:nvSpPr>
        <p:spPr>
          <a:xfrm>
            <a:off x="845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5" name="Google Shape;515;p68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{ED020633-DFD8-49FE-81A5-B3AB1ECABED7}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fin: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Duración (min):</a:t>
                      </a:r>
                      <a:endParaRPr b="1" sz="5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6" name="Google Shape;516;p68"/>
          <p:cNvSpPr txBox="1"/>
          <p:nvPr/>
        </p:nvSpPr>
        <p:spPr>
          <a:xfrm>
            <a:off x="313080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8"/>
          <p:cNvSpPr txBox="1"/>
          <p:nvPr/>
        </p:nvSpPr>
        <p:spPr>
          <a:xfrm>
            <a:off x="6253150" y="2477900"/>
            <a:ext cx="28824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9"/>
          <p:cNvSpPr txBox="1"/>
          <p:nvPr/>
        </p:nvSpPr>
        <p:spPr>
          <a:xfrm>
            <a:off x="647925" y="502550"/>
            <a:ext cx="49338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Hoja de Trabajo, Apartado en UEDI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3" name="Google Shape;523;p69" title="Buho3.png"/>
          <p:cNvPicPr preferRelativeResize="0"/>
          <p:nvPr/>
        </p:nvPicPr>
        <p:blipFill rotWithShape="1">
          <a:blip r:embed="rId3">
            <a:alphaModFix/>
          </a:blip>
          <a:srcRect b="16529" l="0" r="0" t="19626"/>
          <a:stretch/>
        </p:blipFill>
        <p:spPr>
          <a:xfrm>
            <a:off x="5306750" y="928250"/>
            <a:ext cx="3225800" cy="30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