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10287000" cx="18288000"/>
  <p:notesSz cx="6858000" cy="9144000"/>
  <p:embeddedFontLst>
    <p:embeddedFont>
      <p:font typeface="Arimo"/>
      <p:regular r:id="rId46"/>
      <p:bold r:id="rId47"/>
      <p:italic r:id="rId48"/>
      <p:boldItalic r:id="rId49"/>
    </p:embeddedFont>
    <p:embeddedFont>
      <p:font typeface="Nunito"/>
      <p:bold r:id="rId50"/>
      <p:boldItalic r:id="rId51"/>
    </p:embeddedFont>
    <p:embeddedFont>
      <p:font typeface="Open Sans"/>
      <p:bold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4" roundtripDataSignature="AMtx7mjWVyeDBL8dUiqcDitVBFI78bIy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03CBA1-C506-42F0-8953-877962EA9F81}">
  <a:tblStyle styleId="{D903CBA1-C506-42F0-8953-877962EA9F8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Arimo-regular.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rimo-italic.fntdata"/><Relationship Id="rId47" Type="http://schemas.openxmlformats.org/officeDocument/2006/relationships/font" Target="fonts/Arimo-bold.fntdata"/><Relationship Id="rId49" Type="http://schemas.openxmlformats.org/officeDocument/2006/relationships/font" Target="fonts/Arim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oldItalic.fntdata"/><Relationship Id="rId50" Type="http://schemas.openxmlformats.org/officeDocument/2006/relationships/font" Target="fonts/Nunito-bold.fntdata"/><Relationship Id="rId53" Type="http://schemas.openxmlformats.org/officeDocument/2006/relationships/font" Target="fonts/OpenSans-boldItalic.fntdata"/><Relationship Id="rId52"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54"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9"/>
          <p:cNvSpPr/>
          <p:nvPr>
            <p:ph idx="2" type="pic"/>
          </p:nvPr>
        </p:nvSpPr>
        <p:spPr>
          <a:xfrm>
            <a:off x="1792288" y="612775"/>
            <a:ext cx="5486400" cy="4114800"/>
          </a:xfrm>
          <a:prstGeom prst="rect">
            <a:avLst/>
          </a:prstGeom>
          <a:noFill/>
          <a:ln>
            <a:noFill/>
          </a:ln>
        </p:spPr>
      </p:sp>
      <p:sp>
        <p:nvSpPr>
          <p:cNvPr id="64" name="Google Shape;64;p4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jpg"/><Relationship Id="rId4" Type="http://schemas.openxmlformats.org/officeDocument/2006/relationships/image" Target="../media/image3.png"/><Relationship Id="rId9" Type="http://schemas.openxmlformats.org/officeDocument/2006/relationships/image" Target="../media/image17.png"/><Relationship Id="rId1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22.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jp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hyperlink" Target="https://www.youtube.com/watch?v=axHut2e84fc&amp;t=312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3.jpg"/><Relationship Id="rId4" Type="http://schemas.openxmlformats.org/officeDocument/2006/relationships/image" Target="../media/image52.png"/><Relationship Id="rId5" Type="http://schemas.openxmlformats.org/officeDocument/2006/relationships/image" Target="../media/image8.png"/><Relationship Id="rId6" Type="http://schemas.openxmlformats.org/officeDocument/2006/relationships/image" Target="../media/image12.png"/><Relationship Id="rId7" Type="http://schemas.openxmlformats.org/officeDocument/2006/relationships/image" Target="../media/image28.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jp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jp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jp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jpg"/><Relationship Id="rId4" Type="http://schemas.openxmlformats.org/officeDocument/2006/relationships/image" Target="../media/image20.png"/><Relationship Id="rId9" Type="http://schemas.openxmlformats.org/officeDocument/2006/relationships/image" Target="../media/image25.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4.png"/><Relationship Id="rId8" Type="http://schemas.openxmlformats.org/officeDocument/2006/relationships/image" Target="../media/image26.png"/></Relationships>
</file>

<file path=ppt/slides/_rels/slide9.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0.png"/><Relationship Id="rId13" Type="http://schemas.openxmlformats.org/officeDocument/2006/relationships/image" Target="../media/image29.png"/><Relationship Id="rId12"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jp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hyperlink" Target="https://dotnet.microsoft.com/en-us/download" TargetMode="External"/><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4.png"/><Relationship Id="rId8" Type="http://schemas.openxmlformats.org/officeDocument/2006/relationships/image" Target="../media/image26.png"/></Relationships>
</file>

<file path=ppt/slides/_rels/slide10.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jpg"/><Relationship Id="rId4" Type="http://schemas.openxmlformats.org/officeDocument/2006/relationships/image" Target="../media/image20.png"/><Relationship Id="rId9" Type="http://schemas.openxmlformats.org/officeDocument/2006/relationships/image" Target="../media/image25.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4.png"/><Relationship Id="rId8" Type="http://schemas.openxmlformats.org/officeDocument/2006/relationships/image" Target="../media/image26.png"/></Relationships>
</file>

<file path=ppt/slides/_rels/slide11.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0.png"/><Relationship Id="rId12" Type="http://schemas.openxmlformats.org/officeDocument/2006/relationships/image" Target="../media/image41.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g"/><Relationship Id="rId4" Type="http://schemas.openxmlformats.org/officeDocument/2006/relationships/image" Target="../media/image20.png"/><Relationship Id="rId9" Type="http://schemas.openxmlformats.org/officeDocument/2006/relationships/image" Target="../media/image25.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4.png"/><Relationship Id="rId8" Type="http://schemas.openxmlformats.org/officeDocument/2006/relationships/image" Target="../media/image26.png"/></Relationships>
</file>

<file path=ppt/slides/_rels/slide12.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8.png"/><Relationship Id="rId13" Type="http://schemas.openxmlformats.org/officeDocument/2006/relationships/image" Target="../media/image39.png"/><Relationship Id="rId12"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jpg"/><Relationship Id="rId4" Type="http://schemas.openxmlformats.org/officeDocument/2006/relationships/image" Target="../media/image43.png"/><Relationship Id="rId9" Type="http://schemas.openxmlformats.org/officeDocument/2006/relationships/image" Target="../media/image83.png"/><Relationship Id="rId15" Type="http://schemas.openxmlformats.org/officeDocument/2006/relationships/image" Target="../media/image44.png"/><Relationship Id="rId14" Type="http://schemas.openxmlformats.org/officeDocument/2006/relationships/image" Target="../media/image37.png"/><Relationship Id="rId16" Type="http://schemas.openxmlformats.org/officeDocument/2006/relationships/image" Target="../media/image40.png"/><Relationship Id="rId5" Type="http://schemas.openxmlformats.org/officeDocument/2006/relationships/image" Target="../media/image34.png"/><Relationship Id="rId6" Type="http://schemas.openxmlformats.org/officeDocument/2006/relationships/image" Target="../media/image9.png"/><Relationship Id="rId7" Type="http://schemas.openxmlformats.org/officeDocument/2006/relationships/image" Target="../media/image36.png"/><Relationship Id="rId8" Type="http://schemas.openxmlformats.org/officeDocument/2006/relationships/image" Target="../media/image33.png"/></Relationships>
</file>

<file path=ppt/slides/_rels/slide13.xml.rels><?xml version="1.0" encoding="UTF-8" standalone="yes"?><Relationships xmlns="http://schemas.openxmlformats.org/package/2006/relationships"><Relationship Id="rId11" Type="http://schemas.openxmlformats.org/officeDocument/2006/relationships/image" Target="../media/image49.png"/><Relationship Id="rId10" Type="http://schemas.openxmlformats.org/officeDocument/2006/relationships/image" Target="../media/image58.png"/><Relationship Id="rId13" Type="http://schemas.openxmlformats.org/officeDocument/2006/relationships/image" Target="../media/image50.png"/><Relationship Id="rId12" Type="http://schemas.openxmlformats.org/officeDocument/2006/relationships/image" Target="../media/image59.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jpg"/><Relationship Id="rId4" Type="http://schemas.openxmlformats.org/officeDocument/2006/relationships/image" Target="../media/image47.png"/><Relationship Id="rId9" Type="http://schemas.openxmlformats.org/officeDocument/2006/relationships/image" Target="../media/image51.png"/><Relationship Id="rId15" Type="http://schemas.openxmlformats.org/officeDocument/2006/relationships/image" Target="../media/image56.png"/><Relationship Id="rId14" Type="http://schemas.openxmlformats.org/officeDocument/2006/relationships/image" Target="../media/image69.png"/><Relationship Id="rId5" Type="http://schemas.openxmlformats.org/officeDocument/2006/relationships/image" Target="../media/image42.png"/><Relationship Id="rId6" Type="http://schemas.openxmlformats.org/officeDocument/2006/relationships/image" Target="../media/image48.png"/><Relationship Id="rId7" Type="http://schemas.openxmlformats.org/officeDocument/2006/relationships/image" Target="../media/image46.png"/><Relationship Id="rId8"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10" Type="http://schemas.openxmlformats.org/officeDocument/2006/relationships/hyperlink" Target="https://code.visualstudio.com" TargetMode="External"/><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jpg"/><Relationship Id="rId4" Type="http://schemas.openxmlformats.org/officeDocument/2006/relationships/image" Target="../media/image54.png"/><Relationship Id="rId9" Type="http://schemas.openxmlformats.org/officeDocument/2006/relationships/image" Target="../media/image71.png"/><Relationship Id="rId5" Type="http://schemas.openxmlformats.org/officeDocument/2006/relationships/image" Target="../media/image74.png"/><Relationship Id="rId6" Type="http://schemas.openxmlformats.org/officeDocument/2006/relationships/image" Target="../media/image57.png"/><Relationship Id="rId7" Type="http://schemas.openxmlformats.org/officeDocument/2006/relationships/image" Target="../media/image61.png"/><Relationship Id="rId8" Type="http://schemas.openxmlformats.org/officeDocument/2006/relationships/image" Target="../media/image29.png"/></Relationships>
</file>

<file path=ppt/slides/_rels/slide16.xml.rels><?xml version="1.0" encoding="UTF-8" standalone="yes"?><Relationships xmlns="http://schemas.openxmlformats.org/package/2006/relationships"><Relationship Id="rId10" Type="http://schemas.openxmlformats.org/officeDocument/2006/relationships/hyperlink" Target="https://code.visualstudio.com/docs/getstarted/getting-started" TargetMode="External"/><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jpg"/><Relationship Id="rId4" Type="http://schemas.openxmlformats.org/officeDocument/2006/relationships/image" Target="../media/image62.png"/><Relationship Id="rId9" Type="http://schemas.openxmlformats.org/officeDocument/2006/relationships/hyperlink" Target="https://code.visualstudio.com/docs/getstarted/getting-started" TargetMode="External"/><Relationship Id="rId5" Type="http://schemas.openxmlformats.org/officeDocument/2006/relationships/image" Target="../media/image60.png"/><Relationship Id="rId6" Type="http://schemas.openxmlformats.org/officeDocument/2006/relationships/image" Target="../media/image55.png"/><Relationship Id="rId7" Type="http://schemas.openxmlformats.org/officeDocument/2006/relationships/image" Target="../media/image9.png"/><Relationship Id="rId8"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1.jpg"/><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10" Type="http://schemas.openxmlformats.org/officeDocument/2006/relationships/hyperlink" Target="https://visualstudio.microsoft.com/es/thank-you-downloading-visual-studio/?sku=Community&amp;channel=Stable&amp;version=VS18&amp;source=VSLandingPage&amp;passive=false&amp;cid=2500" TargetMode="External"/><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jpg"/><Relationship Id="rId4" Type="http://schemas.openxmlformats.org/officeDocument/2006/relationships/image" Target="../media/image54.png"/><Relationship Id="rId9" Type="http://schemas.openxmlformats.org/officeDocument/2006/relationships/image" Target="../media/image68.png"/><Relationship Id="rId5" Type="http://schemas.openxmlformats.org/officeDocument/2006/relationships/image" Target="../media/image74.png"/><Relationship Id="rId6" Type="http://schemas.openxmlformats.org/officeDocument/2006/relationships/image" Target="../media/image57.png"/><Relationship Id="rId7" Type="http://schemas.openxmlformats.org/officeDocument/2006/relationships/image" Target="../media/image61.png"/><Relationship Id="rId8"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55.png"/><Relationship Id="rId5" Type="http://schemas.openxmlformats.org/officeDocument/2006/relationships/image" Target="../media/image9.png"/><Relationship Id="rId6" Type="http://schemas.openxmlformats.org/officeDocument/2006/relationships/image" Target="../media/image62.png"/><Relationship Id="rId7" Type="http://schemas.openxmlformats.org/officeDocument/2006/relationships/image" Target="../media/image60.png"/><Relationship Id="rId8" Type="http://schemas.openxmlformats.org/officeDocument/2006/relationships/image" Target="../media/image6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jpg"/><Relationship Id="rId4" Type="http://schemas.openxmlformats.org/officeDocument/2006/relationships/image" Target="../media/image29.png"/><Relationship Id="rId5" Type="http://schemas.openxmlformats.org/officeDocument/2006/relationships/image" Target="../media/image67.png"/><Relationship Id="rId6" Type="http://schemas.openxmlformats.org/officeDocument/2006/relationships/hyperlink" Target="https://cursor.com" TargetMode="External"/></Relationships>
</file>

<file path=ppt/slides/_rels/slide21.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22.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76.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23.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70.png"/><Relationship Id="rId14" Type="http://schemas.openxmlformats.org/officeDocument/2006/relationships/image" Target="../media/image63.png"/><Relationship Id="rId16" Type="http://schemas.openxmlformats.org/officeDocument/2006/relationships/image" Target="../media/image87.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24.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70.png"/><Relationship Id="rId14" Type="http://schemas.openxmlformats.org/officeDocument/2006/relationships/image" Target="../media/image63.png"/><Relationship Id="rId16" Type="http://schemas.openxmlformats.org/officeDocument/2006/relationships/image" Target="../media/image87.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25.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70.png"/><Relationship Id="rId14" Type="http://schemas.openxmlformats.org/officeDocument/2006/relationships/image" Target="../media/image63.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1.jpg"/><Relationship Id="rId4" Type="http://schemas.openxmlformats.org/officeDocument/2006/relationships/image" Target="../media/image74.png"/><Relationship Id="rId5" Type="http://schemas.openxmlformats.org/officeDocument/2006/relationships/image" Target="../media/image54.png"/><Relationship Id="rId6" Type="http://schemas.openxmlformats.org/officeDocument/2006/relationships/image" Target="../media/image57.png"/><Relationship Id="rId7" Type="http://schemas.openxmlformats.org/officeDocument/2006/relationships/image" Target="../media/image73.png"/><Relationship Id="rId8" Type="http://schemas.openxmlformats.org/officeDocument/2006/relationships/image" Target="../media/image75.png"/></Relationships>
</file>

<file path=ppt/slides/_rels/slide27.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82.jp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18" Type="http://schemas.openxmlformats.org/officeDocument/2006/relationships/image" Target="../media/image81.png"/><Relationship Id="rId7" Type="http://schemas.openxmlformats.org/officeDocument/2006/relationships/image" Target="../media/image22.png"/><Relationship Id="rId8" Type="http://schemas.openxmlformats.org/officeDocument/2006/relationships/image" Target="../media/image72.png"/></Relationships>
</file>

<file path=ppt/slides/_rels/slide28.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78.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18" Type="http://schemas.openxmlformats.org/officeDocument/2006/relationships/image" Target="../media/image77.png"/><Relationship Id="rId7" Type="http://schemas.openxmlformats.org/officeDocument/2006/relationships/image" Target="../media/image22.png"/><Relationship Id="rId8" Type="http://schemas.openxmlformats.org/officeDocument/2006/relationships/image" Target="../media/image72.png"/></Relationships>
</file>

<file path=ppt/slides/_rels/slide29.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80.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30.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86.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31.xml.rels><?xml version="1.0" encoding="UTF-8" standalone="yes"?><Relationships xmlns="http://schemas.openxmlformats.org/package/2006/relationships"><Relationship Id="rId11" Type="http://schemas.openxmlformats.org/officeDocument/2006/relationships/image" Target="../media/image64.png"/><Relationship Id="rId10" Type="http://schemas.openxmlformats.org/officeDocument/2006/relationships/image" Target="../media/image1.png"/><Relationship Id="rId13" Type="http://schemas.openxmlformats.org/officeDocument/2006/relationships/image" Target="../media/image70.png"/><Relationship Id="rId12" Type="http://schemas.openxmlformats.org/officeDocument/2006/relationships/image" Target="../media/image63.png"/><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4.png"/><Relationship Id="rId15" Type="http://schemas.openxmlformats.org/officeDocument/2006/relationships/image" Target="../media/image85.png"/><Relationship Id="rId14" Type="http://schemas.openxmlformats.org/officeDocument/2006/relationships/image" Target="../media/image79.png"/><Relationship Id="rId17" Type="http://schemas.openxmlformats.org/officeDocument/2006/relationships/image" Target="../media/image84.png"/><Relationship Id="rId16" Type="http://schemas.openxmlformats.org/officeDocument/2006/relationships/image" Target="../media/image88.png"/><Relationship Id="rId5" Type="http://schemas.openxmlformats.org/officeDocument/2006/relationships/image" Target="../media/image22.png"/><Relationship Id="rId6" Type="http://schemas.openxmlformats.org/officeDocument/2006/relationships/image" Target="../media/image72.png"/><Relationship Id="rId7" Type="http://schemas.openxmlformats.org/officeDocument/2006/relationships/image" Target="../media/image3.png"/><Relationship Id="rId8" Type="http://schemas.openxmlformats.org/officeDocument/2006/relationships/image" Target="../media/image36.png"/></Relationships>
</file>

<file path=ppt/slides/_rels/slide32.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89.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33.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34.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90.png"/><Relationship Id="rId16" Type="http://schemas.openxmlformats.org/officeDocument/2006/relationships/image" Target="../media/image70.png"/><Relationship Id="rId5" Type="http://schemas.openxmlformats.org/officeDocument/2006/relationships/image" Target="../media/image66.png"/><Relationship Id="rId19" Type="http://schemas.openxmlformats.org/officeDocument/2006/relationships/hyperlink" Target="https://www.sololearn.com/es/learn/courses/c-sharp-introduction" TargetMode="External"/><Relationship Id="rId6" Type="http://schemas.openxmlformats.org/officeDocument/2006/relationships/image" Target="../media/image2.png"/><Relationship Id="rId18" Type="http://schemas.openxmlformats.org/officeDocument/2006/relationships/image" Target="../media/image92.png"/><Relationship Id="rId7" Type="http://schemas.openxmlformats.org/officeDocument/2006/relationships/image" Target="../media/image22.png"/><Relationship Id="rId8" Type="http://schemas.openxmlformats.org/officeDocument/2006/relationships/image" Target="../media/image72.png"/></Relationships>
</file>

<file path=ppt/slides/_rels/slide35.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5.png"/><Relationship Id="rId14" Type="http://schemas.openxmlformats.org/officeDocument/2006/relationships/image" Target="../media/image64.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36.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5.png"/><Relationship Id="rId14" Type="http://schemas.openxmlformats.org/officeDocument/2006/relationships/image" Target="../media/image64.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37.xml.rels><?xml version="1.0" encoding="UTF-8" standalone="yes"?><Relationships xmlns="http://schemas.openxmlformats.org/package/2006/relationships"><Relationship Id="rId20" Type="http://schemas.openxmlformats.org/officeDocument/2006/relationships/hyperlink" Target="https://dotnet.microsoft.com/es-es/languages/csharp" TargetMode="External"/><Relationship Id="rId11" Type="http://schemas.openxmlformats.org/officeDocument/2006/relationships/image" Target="../media/image16.png"/><Relationship Id="rId22" Type="http://schemas.openxmlformats.org/officeDocument/2006/relationships/hyperlink" Target="https://blog.walthercuro.com/tipos-de-datos-en-c/" TargetMode="External"/><Relationship Id="rId10" Type="http://schemas.openxmlformats.org/officeDocument/2006/relationships/image" Target="../media/image3.png"/><Relationship Id="rId21" Type="http://schemas.openxmlformats.org/officeDocument/2006/relationships/hyperlink" Target="https://learn.microsoft.com/es-es/dotnet/csharp/language-reference/keywords/" TargetMode="External"/><Relationship Id="rId13" Type="http://schemas.openxmlformats.org/officeDocument/2006/relationships/image" Target="../media/image1.png"/><Relationship Id="rId12" Type="http://schemas.openxmlformats.org/officeDocument/2006/relationships/image" Target="../media/image4.png"/><Relationship Id="rId23" Type="http://schemas.openxmlformats.org/officeDocument/2006/relationships/hyperlink" Target="https://blog.walthercuro.com/tipos-de-datos-en-c/" TargetMode="External"/><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5.png"/><Relationship Id="rId14" Type="http://schemas.openxmlformats.org/officeDocument/2006/relationships/image" Target="../media/image64.png"/><Relationship Id="rId17" Type="http://schemas.openxmlformats.org/officeDocument/2006/relationships/hyperlink" Target="https://azulschool.net/que-es-net-y-para-que-sirve/" TargetMode="External"/><Relationship Id="rId16" Type="http://schemas.openxmlformats.org/officeDocument/2006/relationships/image" Target="../media/image70.png"/><Relationship Id="rId5" Type="http://schemas.openxmlformats.org/officeDocument/2006/relationships/image" Target="../media/image66.png"/><Relationship Id="rId19" Type="http://schemas.openxmlformats.org/officeDocument/2006/relationships/hyperlink" Target="https://www.luisllamas.es/csharp-sintaxis-basica/" TargetMode="External"/><Relationship Id="rId6" Type="http://schemas.openxmlformats.org/officeDocument/2006/relationships/image" Target="../media/image2.png"/><Relationship Id="rId18" Type="http://schemas.openxmlformats.org/officeDocument/2006/relationships/hyperlink" Target="https://kodigo.org/lenguaje-c-c-sharp-que-es-y-para-que-sirve/" TargetMode="External"/><Relationship Id="rId7" Type="http://schemas.openxmlformats.org/officeDocument/2006/relationships/image" Target="../media/image22.png"/><Relationship Id="rId8" Type="http://schemas.openxmlformats.org/officeDocument/2006/relationships/image" Target="../media/image72.png"/></Relationships>
</file>

<file path=ppt/slides/_rels/slide38.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94.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_rels/slide39.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png"/><Relationship Id="rId13" Type="http://schemas.openxmlformats.org/officeDocument/2006/relationships/image" Target="../media/image1.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1.jpg"/><Relationship Id="rId4" Type="http://schemas.openxmlformats.org/officeDocument/2006/relationships/image" Target="../media/image91.png"/><Relationship Id="rId9" Type="http://schemas.openxmlformats.org/officeDocument/2006/relationships/image" Target="../media/image9.png"/><Relationship Id="rId15" Type="http://schemas.openxmlformats.org/officeDocument/2006/relationships/image" Target="../media/image63.png"/><Relationship Id="rId14" Type="http://schemas.openxmlformats.org/officeDocument/2006/relationships/image" Target="../media/image64.png"/><Relationship Id="rId17" Type="http://schemas.openxmlformats.org/officeDocument/2006/relationships/image" Target="../media/image93.png"/><Relationship Id="rId16" Type="http://schemas.openxmlformats.org/officeDocument/2006/relationships/image" Target="../media/image70.png"/><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54196" cy="10287000"/>
          </a:xfrm>
          <a:custGeom>
            <a:rect b="b" l="l" r="r" t="t"/>
            <a:pathLst>
              <a:path extrusionOk="0" h="10287000" w="18254196">
                <a:moveTo>
                  <a:pt x="0" y="0"/>
                </a:moveTo>
                <a:lnTo>
                  <a:pt x="18254196" y="0"/>
                </a:lnTo>
                <a:lnTo>
                  <a:pt x="18254196" y="10287000"/>
                </a:lnTo>
                <a:lnTo>
                  <a:pt x="0" y="10287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5" name="Google Shape;85;p1"/>
          <p:cNvGraphicFramePr/>
          <p:nvPr/>
        </p:nvGraphicFramePr>
        <p:xfrm>
          <a:off x="10656400" y="1940050"/>
          <a:ext cx="3000000" cy="3000000"/>
        </p:xfrm>
        <a:graphic>
          <a:graphicData uri="http://schemas.openxmlformats.org/drawingml/2006/table">
            <a:tbl>
              <a:tblPr>
                <a:noFill/>
                <a:tableStyleId>{D903CBA1-C506-42F0-8953-877962EA9F81}</a:tableStyleId>
              </a:tblPr>
              <a:tblGrid>
                <a:gridCol w="3042075"/>
                <a:gridCol w="4336625"/>
              </a:tblGrid>
              <a:tr h="97155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Open Sans"/>
                          <a:ea typeface="Open Sans"/>
                          <a:cs typeface="Open Sans"/>
                          <a:sym typeface="Open Sans"/>
                        </a:rPr>
                        <a:t>Día, Fecha</a:t>
                      </a:r>
                      <a:endParaRPr sz="1100" u="none" cap="none" strike="noStrike"/>
                    </a:p>
                  </a:txBody>
                  <a:tcPr marT="182850" marB="182850" marR="182850" marL="18285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Open Sans"/>
                          <a:ea typeface="Open Sans"/>
                          <a:cs typeface="Open Sans"/>
                          <a:sym typeface="Open Sans"/>
                        </a:rPr>
                        <a:t>27 de Enero, 2026</a:t>
                      </a:r>
                      <a:endParaRPr sz="1100" u="none" cap="none" strike="noStrike"/>
                    </a:p>
                  </a:txBody>
                  <a:tcPr marT="182850" marB="182850" marR="182850" marL="18285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71550">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Open Sans"/>
                          <a:ea typeface="Open Sans"/>
                          <a:cs typeface="Open Sans"/>
                          <a:sym typeface="Open Sans"/>
                        </a:rPr>
                        <a:t>Hora De Inicio</a:t>
                      </a:r>
                      <a:endParaRPr sz="1100" u="none" cap="none" strike="noStrike"/>
                    </a:p>
                  </a:txBody>
                  <a:tcPr marT="182850" marB="182850" marR="182850" marL="18285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None/>
                      </a:pPr>
                      <a:r>
                        <a:rPr b="1" lang="en-US" sz="2799" u="none" cap="none" strike="noStrike">
                          <a:solidFill>
                            <a:srgbClr val="000000"/>
                          </a:solidFill>
                          <a:latin typeface="Open Sans"/>
                          <a:ea typeface="Open Sans"/>
                          <a:cs typeface="Open Sans"/>
                          <a:sym typeface="Open Sans"/>
                        </a:rPr>
                        <a:t>17:20 PM</a:t>
                      </a:r>
                      <a:endParaRPr sz="1100" u="none" cap="none" strike="noStrike"/>
                    </a:p>
                  </a:txBody>
                  <a:tcPr marT="182850" marB="182850" marR="182850" marL="18285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6" name="Google Shape;86;p1"/>
          <p:cNvSpPr txBox="1"/>
          <p:nvPr/>
        </p:nvSpPr>
        <p:spPr>
          <a:xfrm>
            <a:off x="1028700" y="4199834"/>
            <a:ext cx="16230600" cy="31242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lang="en-US" sz="5000">
                <a:solidFill>
                  <a:srgbClr val="131416"/>
                </a:solidFill>
                <a:latin typeface="Open Sans"/>
                <a:ea typeface="Open Sans"/>
                <a:cs typeface="Open Sans"/>
                <a:sym typeface="Open Sans"/>
              </a:rPr>
              <a:t>Introducción A La Programación Y Computación 2</a:t>
            </a:r>
            <a:endParaRPr/>
          </a:p>
          <a:p>
            <a:pPr indent="0" lvl="0" marL="0" marR="0" rtl="0" algn="ctr">
              <a:lnSpc>
                <a:spcPct val="168000"/>
              </a:lnSpc>
              <a:spcBef>
                <a:spcPts val="0"/>
              </a:spcBef>
              <a:spcAft>
                <a:spcPts val="0"/>
              </a:spcAft>
              <a:buNone/>
            </a:pPr>
            <a:r>
              <a:rPr b="1" lang="en-US" sz="5000">
                <a:solidFill>
                  <a:srgbClr val="131416"/>
                </a:solidFill>
                <a:latin typeface="Open Sans"/>
                <a:ea typeface="Open Sans"/>
                <a:cs typeface="Open Sans"/>
                <a:sym typeface="Open Sans"/>
              </a:rPr>
              <a:t>[Sección D]</a:t>
            </a:r>
            <a:endParaRPr/>
          </a:p>
          <a:p>
            <a:pPr indent="0" lvl="0" marL="0" marR="0" rtl="0" algn="ctr">
              <a:lnSpc>
                <a:spcPct val="168013"/>
              </a:lnSpc>
              <a:spcBef>
                <a:spcPts val="0"/>
              </a:spcBef>
              <a:spcAft>
                <a:spcPts val="0"/>
              </a:spcAft>
              <a:buNone/>
            </a:pPr>
            <a:r>
              <a:rPr b="1" lang="en-US" sz="4999">
                <a:solidFill>
                  <a:srgbClr val="131416"/>
                </a:solidFill>
                <a:latin typeface="Open Sans"/>
                <a:ea typeface="Open Sans"/>
                <a:cs typeface="Open Sans"/>
                <a:sym typeface="Open Sans"/>
              </a:rPr>
              <a:t>Luis Antonio Castillo Javier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p:nvPr/>
        </p:nvSpPr>
        <p:spPr>
          <a:xfrm>
            <a:off x="74305" y="0"/>
            <a:ext cx="18213695" cy="10287000"/>
          </a:xfrm>
          <a:custGeom>
            <a:rect b="b" l="l" r="r" t="t"/>
            <a:pathLst>
              <a:path extrusionOk="0" h="10287000" w="18213695">
                <a:moveTo>
                  <a:pt x="0" y="0"/>
                </a:moveTo>
                <a:lnTo>
                  <a:pt x="18213695" y="0"/>
                </a:lnTo>
                <a:lnTo>
                  <a:pt x="18213695" y="10287000"/>
                </a:lnTo>
                <a:lnTo>
                  <a:pt x="0" y="10287000"/>
                </a:lnTo>
                <a:lnTo>
                  <a:pt x="0" y="0"/>
                </a:lnTo>
                <a:close/>
              </a:path>
            </a:pathLst>
          </a:custGeom>
          <a:blipFill rotWithShape="1">
            <a:blip r:embed="rId3">
              <a:alphaModFix/>
            </a:blip>
            <a:stretch>
              <a:fillRect b="-369" l="0" r="0" t="-36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2"/>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4">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2"/>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5">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2"/>
          <p:cNvSpPr txBox="1"/>
          <p:nvPr/>
        </p:nvSpPr>
        <p:spPr>
          <a:xfrm>
            <a:off x="2884660" y="4050111"/>
            <a:ext cx="13574539" cy="14001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200">
                <a:solidFill>
                  <a:srgbClr val="131416"/>
                </a:solidFill>
                <a:latin typeface="Open Sans"/>
                <a:ea typeface="Open Sans"/>
                <a:cs typeface="Open Sans"/>
                <a:sym typeface="Open Sans"/>
              </a:rPr>
              <a:t>INTRODUCCIÓN A C#</a:t>
            </a:r>
            <a:endParaRPr/>
          </a:p>
        </p:txBody>
      </p:sp>
      <p:sp>
        <p:nvSpPr>
          <p:cNvPr id="95" name="Google Shape;95;p2"/>
          <p:cNvSpPr txBox="1"/>
          <p:nvPr/>
        </p:nvSpPr>
        <p:spPr>
          <a:xfrm>
            <a:off x="1221810" y="6811518"/>
            <a:ext cx="15458437" cy="17621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3499">
                <a:solidFill>
                  <a:srgbClr val="131416"/>
                </a:solidFill>
                <a:latin typeface="Open Sans"/>
                <a:ea typeface="Open Sans"/>
                <a:cs typeface="Open Sans"/>
                <a:sym typeface="Open Sans"/>
              </a:rPr>
              <a:t>Introducción a la Programación y Computación 2</a:t>
            </a:r>
            <a:endParaRPr/>
          </a:p>
          <a:p>
            <a:pPr indent="0" lvl="0" marL="0" marR="0" rtl="0" algn="l">
              <a:lnSpc>
                <a:spcPct val="162989"/>
              </a:lnSpc>
              <a:spcBef>
                <a:spcPts val="0"/>
              </a:spcBef>
              <a:spcAft>
                <a:spcPts val="0"/>
              </a:spcAft>
              <a:buNone/>
            </a:pPr>
            <a:r>
              <a:rPr lang="en-US" sz="3499">
                <a:solidFill>
                  <a:srgbClr val="131416"/>
                </a:solidFill>
                <a:latin typeface="Open Sans"/>
                <a:ea typeface="Open Sans"/>
                <a:cs typeface="Open Sans"/>
                <a:sym typeface="Open Sans"/>
              </a:rPr>
              <a:t>Escuela de Ingeniería de Ciencias Y Sistemas Facultad de Ingeniería</a:t>
            </a:r>
            <a:endParaRPr/>
          </a:p>
          <a:p>
            <a:pPr indent="0" lvl="0" marL="0" marR="0" rtl="0" algn="l">
              <a:lnSpc>
                <a:spcPct val="120005"/>
              </a:lnSpc>
              <a:spcBef>
                <a:spcPts val="0"/>
              </a:spcBef>
              <a:spcAft>
                <a:spcPts val="0"/>
              </a:spcAft>
              <a:buNone/>
            </a:pPr>
            <a:r>
              <a:rPr lang="en-US" sz="3499">
                <a:solidFill>
                  <a:srgbClr val="131416"/>
                </a:solidFill>
                <a:latin typeface="Open Sans"/>
                <a:ea typeface="Open Sans"/>
                <a:cs typeface="Open Sans"/>
                <a:sym typeface="Open Sans"/>
              </a:rPr>
              <a:t>Universidad de San Carlos de Guatemala</a:t>
            </a:r>
            <a:endParaRPr/>
          </a:p>
        </p:txBody>
      </p:sp>
      <p:sp>
        <p:nvSpPr>
          <p:cNvPr id="96" name="Google Shape;96;p2"/>
          <p:cNvSpPr/>
          <p:nvPr/>
        </p:nvSpPr>
        <p:spPr>
          <a:xfrm>
            <a:off x="0" y="9017994"/>
            <a:ext cx="2273494" cy="1269006"/>
          </a:xfrm>
          <a:custGeom>
            <a:rect b="b" l="l" r="r" t="t"/>
            <a:pathLst>
              <a:path extrusionOk="0" h="1269006" w="2273494">
                <a:moveTo>
                  <a:pt x="0" y="0"/>
                </a:moveTo>
                <a:lnTo>
                  <a:pt x="2273494" y="0"/>
                </a:lnTo>
                <a:lnTo>
                  <a:pt x="2273494" y="1269006"/>
                </a:lnTo>
                <a:lnTo>
                  <a:pt x="0" y="1269006"/>
                </a:lnTo>
                <a:lnTo>
                  <a:pt x="0" y="0"/>
                </a:lnTo>
                <a:close/>
              </a:path>
            </a:pathLst>
          </a:custGeom>
          <a:blipFill rotWithShape="1">
            <a:blip r:embed="rId6">
              <a:alphaModFix/>
            </a:blip>
            <a:stretch>
              <a:fillRect b="0" l="-14" r="-1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2"/>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2"/>
          <p:cNvSpPr/>
          <p:nvPr/>
        </p:nvSpPr>
        <p:spPr>
          <a:xfrm>
            <a:off x="0" y="2371030"/>
            <a:ext cx="1287428" cy="5047783"/>
          </a:xfrm>
          <a:custGeom>
            <a:rect b="b" l="l" r="r" t="t"/>
            <a:pathLst>
              <a:path extrusionOk="0" h="5047783" w="1287428">
                <a:moveTo>
                  <a:pt x="0" y="0"/>
                </a:moveTo>
                <a:lnTo>
                  <a:pt x="1287428" y="0"/>
                </a:lnTo>
                <a:lnTo>
                  <a:pt x="1287428" y="5047783"/>
                </a:lnTo>
                <a:lnTo>
                  <a:pt x="0" y="5047783"/>
                </a:lnTo>
                <a:lnTo>
                  <a:pt x="0" y="0"/>
                </a:lnTo>
                <a:close/>
              </a:path>
            </a:pathLst>
          </a:custGeom>
          <a:blipFill rotWithShape="1">
            <a:blip r:embed="rId8">
              <a:alphaModFix/>
            </a:blip>
            <a:stretch>
              <a:fillRect b="0" l="-53" r="-5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2"/>
          <p:cNvSpPr/>
          <p:nvPr/>
        </p:nvSpPr>
        <p:spPr>
          <a:xfrm>
            <a:off x="2774804" y="9381039"/>
            <a:ext cx="2587019" cy="905961"/>
          </a:xfrm>
          <a:custGeom>
            <a:rect b="b" l="l" r="r" t="t"/>
            <a:pathLst>
              <a:path extrusionOk="0" h="905961" w="2587019">
                <a:moveTo>
                  <a:pt x="0" y="0"/>
                </a:moveTo>
                <a:lnTo>
                  <a:pt x="2587019" y="0"/>
                </a:lnTo>
                <a:lnTo>
                  <a:pt x="2587019" y="905961"/>
                </a:lnTo>
                <a:lnTo>
                  <a:pt x="0" y="905961"/>
                </a:lnTo>
                <a:lnTo>
                  <a:pt x="0" y="0"/>
                </a:lnTo>
                <a:close/>
              </a:path>
            </a:pathLst>
          </a:custGeom>
          <a:blipFill rotWithShape="1">
            <a:blip r:embed="rId9">
              <a:alphaModFix/>
            </a:blip>
            <a:stretch>
              <a:fillRect b="-521" l="0" r="0" t="-5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2"/>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10">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2"/>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11">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2"/>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2">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p:nvPr/>
        </p:nvSpPr>
        <p:spPr>
          <a:xfrm>
            <a:off x="17497244" y="5835910"/>
            <a:ext cx="790756" cy="3410664"/>
          </a:xfrm>
          <a:custGeom>
            <a:rect b="b" l="l" r="r" t="t"/>
            <a:pathLst>
              <a:path extrusionOk="0" h="3410664" w="790756">
                <a:moveTo>
                  <a:pt x="0" y="0"/>
                </a:moveTo>
                <a:lnTo>
                  <a:pt x="790756" y="0"/>
                </a:lnTo>
                <a:lnTo>
                  <a:pt x="790756" y="3410665"/>
                </a:lnTo>
                <a:lnTo>
                  <a:pt x="0" y="3410665"/>
                </a:lnTo>
                <a:lnTo>
                  <a:pt x="0" y="0"/>
                </a:lnTo>
                <a:close/>
              </a:path>
            </a:pathLst>
          </a:custGeom>
          <a:blipFill rotWithShape="1">
            <a:blip r:embed="rId13">
              <a:alphaModFix/>
            </a:blip>
            <a:stretch>
              <a:fillRect b="-129" l="0" r="0" t="-1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2"/>
          <p:cNvSpPr/>
          <p:nvPr/>
        </p:nvSpPr>
        <p:spPr>
          <a:xfrm>
            <a:off x="666863" y="495194"/>
            <a:ext cx="10243280" cy="1066990"/>
          </a:xfrm>
          <a:custGeom>
            <a:rect b="b" l="l" r="r" t="t"/>
            <a:pathLst>
              <a:path extrusionOk="0" h="1422654" w="13657707">
                <a:moveTo>
                  <a:pt x="0" y="0"/>
                </a:moveTo>
                <a:lnTo>
                  <a:pt x="13657707" y="0"/>
                </a:lnTo>
                <a:lnTo>
                  <a:pt x="13657707" y="1422654"/>
                </a:lnTo>
                <a:lnTo>
                  <a:pt x="0" y="1422654"/>
                </a:lnTo>
                <a:lnTo>
                  <a:pt x="0" y="0"/>
                </a:lnTo>
                <a:close/>
              </a:path>
            </a:pathLst>
          </a:custGeom>
          <a:blipFill rotWithShape="1">
            <a:blip r:embed="rId14">
              <a:alphaModFix/>
            </a:blip>
            <a:stretch>
              <a:fillRect b="-276" l="0" r="0" t="-27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p:nvPr/>
        </p:nvSpPr>
        <p:spPr>
          <a:xfrm>
            <a:off x="13842357" y="-265802"/>
            <a:ext cx="18213695" cy="10287000"/>
          </a:xfrm>
          <a:custGeom>
            <a:rect b="b" l="l" r="r" t="t"/>
            <a:pathLst>
              <a:path extrusionOk="0" h="10287000" w="18213695">
                <a:moveTo>
                  <a:pt x="0" y="0"/>
                </a:moveTo>
                <a:lnTo>
                  <a:pt x="18213696" y="0"/>
                </a:lnTo>
                <a:lnTo>
                  <a:pt x="18213696" y="10287000"/>
                </a:lnTo>
                <a:lnTo>
                  <a:pt x="0" y="10287000"/>
                </a:lnTo>
                <a:lnTo>
                  <a:pt x="0" y="0"/>
                </a:lnTo>
                <a:close/>
              </a:path>
            </a:pathLst>
          </a:custGeom>
          <a:blipFill rotWithShape="1">
            <a:blip r:embed="rId3">
              <a:alphaModFix/>
            </a:blip>
            <a:stretch>
              <a:fillRect b="-369" l="0" r="0" t="-36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3"/>
          <p:cNvSpPr/>
          <p:nvPr/>
        </p:nvSpPr>
        <p:spPr>
          <a:xfrm>
            <a:off x="11082124" y="3676032"/>
            <a:ext cx="3430156" cy="1067848"/>
          </a:xfrm>
          <a:custGeom>
            <a:rect b="b" l="l" r="r" t="t"/>
            <a:pathLst>
              <a:path extrusionOk="0" h="1423797" w="4573541">
                <a:moveTo>
                  <a:pt x="3914423" y="1423797"/>
                </a:moveTo>
                <a:lnTo>
                  <a:pt x="0" y="1423797"/>
                </a:lnTo>
                <a:lnTo>
                  <a:pt x="0" y="0"/>
                </a:lnTo>
                <a:lnTo>
                  <a:pt x="3914423" y="0"/>
                </a:lnTo>
                <a:lnTo>
                  <a:pt x="4573541" y="711835"/>
                </a:lnTo>
                <a:lnTo>
                  <a:pt x="3914423" y="1423670"/>
                </a:lnTo>
                <a:close/>
              </a:path>
            </a:pathLst>
          </a:custGeom>
          <a:solidFill>
            <a:srgbClr val="FFFFFF"/>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3"/>
          <p:cNvSpPr/>
          <p:nvPr/>
        </p:nvSpPr>
        <p:spPr>
          <a:xfrm>
            <a:off x="1028700" y="495194"/>
            <a:ext cx="10243280" cy="1066990"/>
          </a:xfrm>
          <a:custGeom>
            <a:rect b="b" l="l" r="r" t="t"/>
            <a:pathLst>
              <a:path extrusionOk="0" h="1422654" w="13657707">
                <a:moveTo>
                  <a:pt x="0" y="0"/>
                </a:moveTo>
                <a:lnTo>
                  <a:pt x="13657707" y="0"/>
                </a:lnTo>
                <a:lnTo>
                  <a:pt x="13657707" y="1422654"/>
                </a:lnTo>
                <a:lnTo>
                  <a:pt x="0" y="1422654"/>
                </a:lnTo>
                <a:lnTo>
                  <a:pt x="0" y="0"/>
                </a:lnTo>
                <a:close/>
              </a:path>
            </a:pathLst>
          </a:custGeom>
          <a:blipFill rotWithShape="1">
            <a:blip r:embed="rId4">
              <a:alphaModFix/>
            </a:blip>
            <a:stretch>
              <a:fillRect b="-276" l="0" r="0" t="-27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3"/>
          <p:cNvSpPr/>
          <p:nvPr/>
        </p:nvSpPr>
        <p:spPr>
          <a:xfrm>
            <a:off x="11378189" y="6086090"/>
            <a:ext cx="2726880" cy="2726880"/>
          </a:xfrm>
          <a:custGeom>
            <a:rect b="b" l="l" r="r" t="t"/>
            <a:pathLst>
              <a:path extrusionOk="0" h="2726880" w="2726880">
                <a:moveTo>
                  <a:pt x="0" y="0"/>
                </a:moveTo>
                <a:lnTo>
                  <a:pt x="2726880" y="0"/>
                </a:lnTo>
                <a:lnTo>
                  <a:pt x="2726880" y="2726881"/>
                </a:lnTo>
                <a:lnTo>
                  <a:pt x="0" y="27268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3"/>
          <p:cNvSpPr txBox="1"/>
          <p:nvPr/>
        </p:nvSpPr>
        <p:spPr>
          <a:xfrm>
            <a:off x="3040421" y="2492876"/>
            <a:ext cx="6153455"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000">
                <a:solidFill>
                  <a:srgbClr val="131416"/>
                </a:solidFill>
                <a:latin typeface="Open Sans"/>
                <a:ea typeface="Open Sans"/>
                <a:cs typeface="Open Sans"/>
                <a:sym typeface="Open Sans"/>
              </a:rPr>
              <a:t>AGENDA</a:t>
            </a:r>
            <a:endParaRPr/>
          </a:p>
        </p:txBody>
      </p:sp>
      <p:sp>
        <p:nvSpPr>
          <p:cNvPr id="114" name="Google Shape;114;p3"/>
          <p:cNvSpPr txBox="1"/>
          <p:nvPr/>
        </p:nvSpPr>
        <p:spPr>
          <a:xfrm>
            <a:off x="11064258" y="2492876"/>
            <a:ext cx="4861541"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000">
                <a:solidFill>
                  <a:srgbClr val="131416"/>
                </a:solidFill>
                <a:latin typeface="Open Sans"/>
                <a:ea typeface="Open Sans"/>
                <a:cs typeface="Open Sans"/>
                <a:sym typeface="Open Sans"/>
              </a:rPr>
              <a:t>RECURSOS</a:t>
            </a:r>
            <a:endParaRPr/>
          </a:p>
        </p:txBody>
      </p:sp>
      <p:sp>
        <p:nvSpPr>
          <p:cNvPr id="115" name="Google Shape;115;p3"/>
          <p:cNvSpPr txBox="1"/>
          <p:nvPr/>
        </p:nvSpPr>
        <p:spPr>
          <a:xfrm>
            <a:off x="11284403" y="4000516"/>
            <a:ext cx="2820667" cy="4191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u="sng">
                <a:solidFill>
                  <a:srgbClr val="0000FF"/>
                </a:solidFill>
                <a:latin typeface="Open Sans"/>
                <a:ea typeface="Open Sans"/>
                <a:cs typeface="Open Sans"/>
                <a:sym typeface="Open Sans"/>
                <a:hlinkClick r:id="rId6">
                  <a:extLst>
                    <a:ext uri="{A12FA001-AC4F-418D-AE19-62706E023703}">
                      <ahyp:hlinkClr val="tx"/>
                    </a:ext>
                  </a:extLst>
                </a:hlinkClick>
              </a:rPr>
              <a:t>LINK DEL VIDEO</a:t>
            </a:r>
            <a:endParaRPr/>
          </a:p>
        </p:txBody>
      </p:sp>
      <p:sp>
        <p:nvSpPr>
          <p:cNvPr id="116" name="Google Shape;116;p3"/>
          <p:cNvSpPr txBox="1"/>
          <p:nvPr/>
        </p:nvSpPr>
        <p:spPr>
          <a:xfrm>
            <a:off x="3040421" y="3612620"/>
            <a:ext cx="6153455" cy="1676400"/>
          </a:xfrm>
          <a:prstGeom prst="rect">
            <a:avLst/>
          </a:prstGeom>
          <a:noFill/>
          <a:ln>
            <a:noFill/>
          </a:ln>
        </p:spPr>
        <p:txBody>
          <a:bodyPr anchorCtr="0" anchor="t" bIns="0" lIns="0" spcFirstLastPara="1" rIns="0" wrap="square" tIns="0">
            <a:spAutoFit/>
          </a:bodyPr>
          <a:lstStyle/>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Introducción a C#</a:t>
            </a:r>
            <a:endParaRPr/>
          </a:p>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Instalación de C#</a:t>
            </a:r>
            <a:endParaRPr/>
          </a:p>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Entornos de Desarrollo</a:t>
            </a:r>
            <a:endParaRPr/>
          </a:p>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Programación Básica con C#</a:t>
            </a:r>
            <a:endParaRPr/>
          </a:p>
        </p:txBody>
      </p:sp>
      <p:sp>
        <p:nvSpPr>
          <p:cNvPr id="117" name="Google Shape;117;p3"/>
          <p:cNvSpPr txBox="1"/>
          <p:nvPr/>
        </p:nvSpPr>
        <p:spPr>
          <a:xfrm>
            <a:off x="3040421" y="7136571"/>
            <a:ext cx="6932782" cy="1676400"/>
          </a:xfrm>
          <a:prstGeom prst="rect">
            <a:avLst/>
          </a:prstGeom>
          <a:noFill/>
          <a:ln>
            <a:noFill/>
          </a:ln>
        </p:spPr>
        <p:txBody>
          <a:bodyPr anchorCtr="0" anchor="t" bIns="0" lIns="0" spcFirstLastPara="1" rIns="0" wrap="square" tIns="0">
            <a:spAutoFit/>
          </a:bodyPr>
          <a:lstStyle/>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Grabación De Clase</a:t>
            </a:r>
            <a:endParaRPr/>
          </a:p>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Programa Del Laboratorio</a:t>
            </a:r>
            <a:endParaRPr/>
          </a:p>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Fechas De Prácticas y Proyectos</a:t>
            </a:r>
            <a:endParaRPr/>
          </a:p>
          <a:p>
            <a:pPr indent="-302260" lvl="1" marL="604519" marR="0" rtl="0" algn="l">
              <a:lnSpc>
                <a:spcPct val="120007"/>
              </a:lnSpc>
              <a:spcBef>
                <a:spcPts val="0"/>
              </a:spcBef>
              <a:spcAft>
                <a:spcPts val="0"/>
              </a:spcAft>
              <a:buClr>
                <a:srgbClr val="000000"/>
              </a:buClr>
              <a:buSzPts val="2799"/>
              <a:buFont typeface="Arial"/>
              <a:buChar char="•"/>
            </a:pPr>
            <a:r>
              <a:rPr b="0" i="0" lang="en-US" sz="2799" u="none" cap="none" strike="noStrike">
                <a:solidFill>
                  <a:srgbClr val="000000"/>
                </a:solidFill>
                <a:latin typeface="Open Sans"/>
                <a:ea typeface="Open Sans"/>
                <a:cs typeface="Open Sans"/>
                <a:sym typeface="Open Sans"/>
              </a:rPr>
              <a:t>Formulario De Asignación en DTT</a:t>
            </a:r>
            <a:endParaRPr/>
          </a:p>
        </p:txBody>
      </p:sp>
      <p:sp>
        <p:nvSpPr>
          <p:cNvPr id="118" name="Google Shape;118;p3"/>
          <p:cNvSpPr txBox="1"/>
          <p:nvPr/>
        </p:nvSpPr>
        <p:spPr>
          <a:xfrm>
            <a:off x="3058286" y="6086090"/>
            <a:ext cx="6914917"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000">
                <a:solidFill>
                  <a:srgbClr val="131416"/>
                </a:solidFill>
                <a:latin typeface="Open Sans"/>
                <a:ea typeface="Open Sans"/>
                <a:cs typeface="Open Sans"/>
                <a:sym typeface="Open Sans"/>
              </a:rPr>
              <a:t>RECORDATORIOS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p:nvPr/>
        </p:nvSpPr>
        <p:spPr>
          <a:xfrm>
            <a:off x="74305" y="0"/>
            <a:ext cx="18213695" cy="10287000"/>
          </a:xfrm>
          <a:custGeom>
            <a:rect b="b" l="l" r="r" t="t"/>
            <a:pathLst>
              <a:path extrusionOk="0" h="10287000" w="18213695">
                <a:moveTo>
                  <a:pt x="0" y="0"/>
                </a:moveTo>
                <a:lnTo>
                  <a:pt x="18213695" y="0"/>
                </a:lnTo>
                <a:lnTo>
                  <a:pt x="18213695" y="10287000"/>
                </a:lnTo>
                <a:lnTo>
                  <a:pt x="0" y="10287000"/>
                </a:lnTo>
                <a:lnTo>
                  <a:pt x="0" y="0"/>
                </a:lnTo>
                <a:close/>
              </a:path>
            </a:pathLst>
          </a:custGeom>
          <a:blipFill rotWithShape="1">
            <a:blip r:embed="rId3">
              <a:alphaModFix/>
            </a:blip>
            <a:stretch>
              <a:fillRect b="-369" l="0" r="0" t="-36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4"/>
          <p:cNvSpPr txBox="1"/>
          <p:nvPr/>
        </p:nvSpPr>
        <p:spPr>
          <a:xfrm>
            <a:off x="1313845" y="2295754"/>
            <a:ext cx="16516955"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000">
                <a:solidFill>
                  <a:srgbClr val="131416"/>
                </a:solidFill>
                <a:latin typeface="Open Sans"/>
                <a:ea typeface="Open Sans"/>
                <a:cs typeface="Open Sans"/>
                <a:sym typeface="Open Sans"/>
              </a:rPr>
              <a:t>COMPETENCIA QUE DESARROLLAREMOS</a:t>
            </a:r>
            <a:endParaRPr/>
          </a:p>
        </p:txBody>
      </p:sp>
      <p:sp>
        <p:nvSpPr>
          <p:cNvPr id="125" name="Google Shape;125;p4"/>
          <p:cNvSpPr txBox="1"/>
          <p:nvPr/>
        </p:nvSpPr>
        <p:spPr>
          <a:xfrm>
            <a:off x="2762883" y="3705577"/>
            <a:ext cx="12762233" cy="4340733"/>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lang="en-US" sz="5200">
                <a:solidFill>
                  <a:srgbClr val="131416"/>
                </a:solidFill>
                <a:latin typeface="Open Sans"/>
                <a:ea typeface="Open Sans"/>
                <a:cs typeface="Open Sans"/>
                <a:sym typeface="Open Sans"/>
              </a:rPr>
              <a:t>Aplica estructuras de control y funciones mediante programación básica en C# para desarrollar algoritmos que resuelvan problemas.</a:t>
            </a:r>
            <a:endParaRPr/>
          </a:p>
        </p:txBody>
      </p:sp>
      <p:sp>
        <p:nvSpPr>
          <p:cNvPr id="126" name="Google Shape;126;p4"/>
          <p:cNvSpPr/>
          <p:nvPr/>
        </p:nvSpPr>
        <p:spPr>
          <a:xfrm>
            <a:off x="0" y="7667796"/>
            <a:ext cx="2627690" cy="2619204"/>
          </a:xfrm>
          <a:custGeom>
            <a:rect b="b" l="l" r="r" t="t"/>
            <a:pathLst>
              <a:path extrusionOk="0" h="2619204" w="2627690">
                <a:moveTo>
                  <a:pt x="0" y="0"/>
                </a:moveTo>
                <a:lnTo>
                  <a:pt x="2627690" y="0"/>
                </a:lnTo>
                <a:lnTo>
                  <a:pt x="2627690" y="2619204"/>
                </a:lnTo>
                <a:lnTo>
                  <a:pt x="0" y="2619204"/>
                </a:lnTo>
                <a:lnTo>
                  <a:pt x="0" y="0"/>
                </a:lnTo>
                <a:close/>
              </a:path>
            </a:pathLst>
          </a:custGeom>
          <a:blipFill rotWithShape="1">
            <a:blip r:embed="rId4">
              <a:alphaModFix/>
            </a:blip>
            <a:stretch>
              <a:fillRect b="0" l="-235" r="-23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4"/>
          <p:cNvSpPr/>
          <p:nvPr/>
        </p:nvSpPr>
        <p:spPr>
          <a:xfrm>
            <a:off x="15412555" y="7639088"/>
            <a:ext cx="2875445" cy="2647912"/>
          </a:xfrm>
          <a:custGeom>
            <a:rect b="b" l="l" r="r" t="t"/>
            <a:pathLst>
              <a:path extrusionOk="0" h="2647912" w="2875445">
                <a:moveTo>
                  <a:pt x="0" y="0"/>
                </a:moveTo>
                <a:lnTo>
                  <a:pt x="2875445" y="0"/>
                </a:lnTo>
                <a:lnTo>
                  <a:pt x="2875445" y="2647912"/>
                </a:lnTo>
                <a:lnTo>
                  <a:pt x="0" y="2647912"/>
                </a:lnTo>
                <a:lnTo>
                  <a:pt x="0" y="0"/>
                </a:lnTo>
                <a:close/>
              </a:path>
            </a:pathLst>
          </a:custGeom>
          <a:blipFill rotWithShape="1">
            <a:blip r:embed="rId5">
              <a:alphaModFix/>
            </a:blip>
            <a:stretch>
              <a:fillRect b="0" l="-70" r="-6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4"/>
          <p:cNvSpPr/>
          <p:nvPr/>
        </p:nvSpPr>
        <p:spPr>
          <a:xfrm>
            <a:off x="11251178" y="8335166"/>
            <a:ext cx="3169282" cy="1951834"/>
          </a:xfrm>
          <a:custGeom>
            <a:rect b="b" l="l" r="r" t="t"/>
            <a:pathLst>
              <a:path extrusionOk="0" h="1951834" w="3169282">
                <a:moveTo>
                  <a:pt x="0" y="0"/>
                </a:moveTo>
                <a:lnTo>
                  <a:pt x="3169281" y="0"/>
                </a:lnTo>
                <a:lnTo>
                  <a:pt x="3169281" y="1951834"/>
                </a:lnTo>
                <a:lnTo>
                  <a:pt x="0" y="1951834"/>
                </a:lnTo>
                <a:lnTo>
                  <a:pt x="0" y="0"/>
                </a:lnTo>
                <a:close/>
              </a:path>
            </a:pathLst>
          </a:custGeom>
          <a:blipFill rotWithShape="1">
            <a:blip r:embed="rId6">
              <a:alphaModFix/>
            </a:blip>
            <a:stretch>
              <a:fillRect b="0" l="-157" r="-15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4"/>
          <p:cNvSpPr/>
          <p:nvPr/>
        </p:nvSpPr>
        <p:spPr>
          <a:xfrm>
            <a:off x="3081880" y="8046310"/>
            <a:ext cx="2587019" cy="2240690"/>
          </a:xfrm>
          <a:custGeom>
            <a:rect b="b" l="l" r="r" t="t"/>
            <a:pathLst>
              <a:path extrusionOk="0" h="2240690" w="2587019">
                <a:moveTo>
                  <a:pt x="0" y="0"/>
                </a:moveTo>
                <a:lnTo>
                  <a:pt x="2587019" y="0"/>
                </a:lnTo>
                <a:lnTo>
                  <a:pt x="2587019" y="2240690"/>
                </a:lnTo>
                <a:lnTo>
                  <a:pt x="0" y="2240690"/>
                </a:lnTo>
                <a:lnTo>
                  <a:pt x="0" y="0"/>
                </a:lnTo>
                <a:close/>
              </a:path>
            </a:pathLst>
          </a:custGeom>
          <a:blipFill rotWithShape="1">
            <a:blip r:embed="rId7">
              <a:alphaModFix/>
            </a:blip>
            <a:stretch>
              <a:fillRect b="0" l="-266" r="-26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4"/>
          <p:cNvSpPr/>
          <p:nvPr/>
        </p:nvSpPr>
        <p:spPr>
          <a:xfrm>
            <a:off x="666863" y="495194"/>
            <a:ext cx="10243280" cy="1066990"/>
          </a:xfrm>
          <a:custGeom>
            <a:rect b="b" l="l" r="r" t="t"/>
            <a:pathLst>
              <a:path extrusionOk="0" h="1422654" w="13657707">
                <a:moveTo>
                  <a:pt x="0" y="0"/>
                </a:moveTo>
                <a:lnTo>
                  <a:pt x="13657707" y="0"/>
                </a:lnTo>
                <a:lnTo>
                  <a:pt x="13657707" y="1422654"/>
                </a:lnTo>
                <a:lnTo>
                  <a:pt x="0" y="1422654"/>
                </a:lnTo>
                <a:lnTo>
                  <a:pt x="0" y="0"/>
                </a:lnTo>
                <a:close/>
              </a:path>
            </a:pathLst>
          </a:custGeom>
          <a:blipFill rotWithShape="1">
            <a:blip r:embed="rId8">
              <a:alphaModFix/>
            </a:blip>
            <a:stretch>
              <a:fillRect b="-276" l="0" r="0" t="-27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p:nvPr/>
        </p:nvSpPr>
        <p:spPr>
          <a:xfrm>
            <a:off x="74305" y="0"/>
            <a:ext cx="18213695" cy="10287000"/>
          </a:xfrm>
          <a:custGeom>
            <a:rect b="b" l="l" r="r" t="t"/>
            <a:pathLst>
              <a:path extrusionOk="0" h="10287000" w="18213695">
                <a:moveTo>
                  <a:pt x="0" y="0"/>
                </a:moveTo>
                <a:lnTo>
                  <a:pt x="18213695" y="0"/>
                </a:lnTo>
                <a:lnTo>
                  <a:pt x="18213695" y="10287000"/>
                </a:lnTo>
                <a:lnTo>
                  <a:pt x="0" y="10287000"/>
                </a:lnTo>
                <a:lnTo>
                  <a:pt x="0" y="0"/>
                </a:lnTo>
                <a:close/>
              </a:path>
            </a:pathLst>
          </a:custGeom>
          <a:blipFill rotWithShape="1">
            <a:blip r:embed="rId3">
              <a:alphaModFix/>
            </a:blip>
            <a:stretch>
              <a:fillRect b="-369" l="0" r="0" t="-36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5"/>
          <p:cNvSpPr/>
          <p:nvPr/>
        </p:nvSpPr>
        <p:spPr>
          <a:xfrm>
            <a:off x="0" y="0"/>
            <a:ext cx="3717465" cy="1504759"/>
          </a:xfrm>
          <a:custGeom>
            <a:rect b="b" l="l" r="r" t="t"/>
            <a:pathLst>
              <a:path extrusionOk="0" h="1504759" w="3717465">
                <a:moveTo>
                  <a:pt x="0" y="0"/>
                </a:moveTo>
                <a:lnTo>
                  <a:pt x="3717465" y="0"/>
                </a:lnTo>
                <a:lnTo>
                  <a:pt x="3717465" y="1504759"/>
                </a:lnTo>
                <a:lnTo>
                  <a:pt x="0" y="1504759"/>
                </a:lnTo>
                <a:lnTo>
                  <a:pt x="0" y="0"/>
                </a:lnTo>
                <a:close/>
              </a:path>
            </a:pathLst>
          </a:custGeom>
          <a:blipFill rotWithShape="1">
            <a:blip r:embed="rId4">
              <a:alphaModFix/>
            </a:blip>
            <a:stretch>
              <a:fillRect b="-432" l="0" r="0" t="-4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5"/>
          <p:cNvSpPr/>
          <p:nvPr/>
        </p:nvSpPr>
        <p:spPr>
          <a:xfrm>
            <a:off x="4899650" y="0"/>
            <a:ext cx="2919298" cy="1210675"/>
          </a:xfrm>
          <a:custGeom>
            <a:rect b="b" l="l" r="r" t="t"/>
            <a:pathLst>
              <a:path extrusionOk="0" h="1210675" w="2919298">
                <a:moveTo>
                  <a:pt x="0" y="0"/>
                </a:moveTo>
                <a:lnTo>
                  <a:pt x="2919299" y="0"/>
                </a:lnTo>
                <a:lnTo>
                  <a:pt x="2919299" y="1210675"/>
                </a:lnTo>
                <a:lnTo>
                  <a:pt x="0" y="1210675"/>
                </a:lnTo>
                <a:lnTo>
                  <a:pt x="0" y="0"/>
                </a:lnTo>
                <a:close/>
              </a:path>
            </a:pathLst>
          </a:custGeom>
          <a:blipFill rotWithShape="1">
            <a:blip r:embed="rId5">
              <a:alphaModFix/>
            </a:blip>
            <a:stretch>
              <a:fillRect b="-195" l="0" r="0" t="-19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5"/>
          <p:cNvSpPr/>
          <p:nvPr/>
        </p:nvSpPr>
        <p:spPr>
          <a:xfrm>
            <a:off x="13855427" y="8242221"/>
            <a:ext cx="4051335" cy="2044779"/>
          </a:xfrm>
          <a:custGeom>
            <a:rect b="b" l="l" r="r" t="t"/>
            <a:pathLst>
              <a:path extrusionOk="0" h="2044779" w="4051335">
                <a:moveTo>
                  <a:pt x="0" y="0"/>
                </a:moveTo>
                <a:lnTo>
                  <a:pt x="4051335" y="0"/>
                </a:lnTo>
                <a:lnTo>
                  <a:pt x="4051335" y="2044779"/>
                </a:lnTo>
                <a:lnTo>
                  <a:pt x="0" y="2044779"/>
                </a:lnTo>
                <a:lnTo>
                  <a:pt x="0" y="0"/>
                </a:lnTo>
                <a:close/>
              </a:path>
            </a:pathLst>
          </a:custGeom>
          <a:blipFill rotWithShape="1">
            <a:blip r:embed="rId6">
              <a:alphaModFix/>
            </a:blip>
            <a:stretch>
              <a:fillRect b="-43" l="0" r="0" t="-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5"/>
          <p:cNvSpPr/>
          <p:nvPr/>
        </p:nvSpPr>
        <p:spPr>
          <a:xfrm>
            <a:off x="12011162" y="3469331"/>
            <a:ext cx="5248138" cy="5248138"/>
          </a:xfrm>
          <a:custGeom>
            <a:rect b="b" l="l" r="r" t="t"/>
            <a:pathLst>
              <a:path extrusionOk="0" h="5248138" w="5248138">
                <a:moveTo>
                  <a:pt x="0" y="0"/>
                </a:moveTo>
                <a:lnTo>
                  <a:pt x="5248138" y="0"/>
                </a:lnTo>
                <a:lnTo>
                  <a:pt x="5248138" y="5248138"/>
                </a:lnTo>
                <a:lnTo>
                  <a:pt x="0" y="5248138"/>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5"/>
          <p:cNvSpPr txBox="1"/>
          <p:nvPr/>
        </p:nvSpPr>
        <p:spPr>
          <a:xfrm>
            <a:off x="655263" y="2004098"/>
            <a:ext cx="8164938"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000">
                <a:solidFill>
                  <a:srgbClr val="000000"/>
                </a:solidFill>
                <a:latin typeface="Open Sans"/>
                <a:ea typeface="Open Sans"/>
                <a:cs typeface="Open Sans"/>
                <a:sym typeface="Open Sans"/>
              </a:rPr>
              <a:t>¿QUÉ ES C#?</a:t>
            </a:r>
            <a:endParaRPr/>
          </a:p>
        </p:txBody>
      </p:sp>
      <p:sp>
        <p:nvSpPr>
          <p:cNvPr id="141" name="Google Shape;141;p5"/>
          <p:cNvSpPr txBox="1"/>
          <p:nvPr/>
        </p:nvSpPr>
        <p:spPr>
          <a:xfrm>
            <a:off x="655263" y="3925510"/>
            <a:ext cx="10948673" cy="4221480"/>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lang="en-US" sz="3000">
                <a:solidFill>
                  <a:srgbClr val="000000"/>
                </a:solidFill>
                <a:latin typeface="Open Sans"/>
                <a:ea typeface="Open Sans"/>
                <a:cs typeface="Open Sans"/>
                <a:sym typeface="Open Sans"/>
              </a:rPr>
              <a:t>C# es un lenguaje de programación moderno, innovador, de código abierto, multiplataforma orientado a objetos y uno de los 5 principales lenguajes de programación de GitHub.</a:t>
            </a:r>
            <a:endParaRPr/>
          </a:p>
          <a:p>
            <a:pPr indent="0" lvl="0" marL="0" marR="0" rtl="0" algn="just">
              <a:lnSpc>
                <a:spcPct val="162000"/>
              </a:lnSpc>
              <a:spcBef>
                <a:spcPts val="0"/>
              </a:spcBef>
              <a:spcAft>
                <a:spcPts val="0"/>
              </a:spcAft>
              <a:buNone/>
            </a:pPr>
            <a:r>
              <a:t/>
            </a:r>
            <a:endParaRPr sz="3000">
              <a:solidFill>
                <a:srgbClr val="000000"/>
              </a:solidFill>
              <a:latin typeface="Open Sans"/>
              <a:ea typeface="Open Sans"/>
              <a:cs typeface="Open Sans"/>
              <a:sym typeface="Open Sans"/>
            </a:endParaRPr>
          </a:p>
          <a:p>
            <a:pPr indent="0" lvl="0" marL="0" marR="0" rtl="0" algn="just">
              <a:lnSpc>
                <a:spcPct val="162000"/>
              </a:lnSpc>
              <a:spcBef>
                <a:spcPts val="0"/>
              </a:spcBef>
              <a:spcAft>
                <a:spcPts val="0"/>
              </a:spcAft>
              <a:buNone/>
            </a:pPr>
            <a:r>
              <a:rPr lang="en-US" sz="3000">
                <a:solidFill>
                  <a:srgbClr val="000000"/>
                </a:solidFill>
                <a:latin typeface="Open Sans"/>
                <a:ea typeface="Open Sans"/>
                <a:cs typeface="Open Sans"/>
                <a:sym typeface="Open Sans"/>
              </a:rPr>
              <a:t>Es un lenguaje de alto nivel que se enfoca en la legibilidad del código y la facilidad de uso, lo que lo hace ideal tanto para principiantes como para programadores experimentados.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p:nvPr/>
        </p:nvSpPr>
        <p:spPr>
          <a:xfrm>
            <a:off x="74305" y="0"/>
            <a:ext cx="18213695" cy="10287000"/>
          </a:xfrm>
          <a:custGeom>
            <a:rect b="b" l="l" r="r" t="t"/>
            <a:pathLst>
              <a:path extrusionOk="0" h="10287000" w="18213695">
                <a:moveTo>
                  <a:pt x="0" y="0"/>
                </a:moveTo>
                <a:lnTo>
                  <a:pt x="18213695" y="0"/>
                </a:lnTo>
                <a:lnTo>
                  <a:pt x="18213695" y="10287000"/>
                </a:lnTo>
                <a:lnTo>
                  <a:pt x="0" y="10287000"/>
                </a:lnTo>
                <a:lnTo>
                  <a:pt x="0" y="0"/>
                </a:lnTo>
                <a:close/>
              </a:path>
            </a:pathLst>
          </a:custGeom>
          <a:blipFill rotWithShape="1">
            <a:blip r:embed="rId3">
              <a:alphaModFix/>
            </a:blip>
            <a:stretch>
              <a:fillRect b="-369" l="0" r="0" t="-36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6"/>
          <p:cNvSpPr txBox="1"/>
          <p:nvPr/>
        </p:nvSpPr>
        <p:spPr>
          <a:xfrm>
            <a:off x="407841" y="1504759"/>
            <a:ext cx="17472318"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000">
                <a:solidFill>
                  <a:srgbClr val="000000"/>
                </a:solidFill>
                <a:latin typeface="Open Sans"/>
                <a:ea typeface="Open Sans"/>
                <a:cs typeface="Open Sans"/>
                <a:sym typeface="Open Sans"/>
              </a:rPr>
              <a:t>CARACTERÍSTICAS CLAVE DE C#</a:t>
            </a:r>
            <a:endParaRPr/>
          </a:p>
        </p:txBody>
      </p:sp>
      <p:sp>
        <p:nvSpPr>
          <p:cNvPr id="148" name="Google Shape;148;p6"/>
          <p:cNvSpPr txBox="1"/>
          <p:nvPr/>
        </p:nvSpPr>
        <p:spPr>
          <a:xfrm>
            <a:off x="652558" y="3057334"/>
            <a:ext cx="16982884" cy="6659880"/>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b="1" lang="en-US" sz="3000">
                <a:solidFill>
                  <a:srgbClr val="000000"/>
                </a:solidFill>
                <a:latin typeface="Open Sans"/>
                <a:ea typeface="Open Sans"/>
                <a:cs typeface="Open Sans"/>
                <a:sym typeface="Open Sans"/>
              </a:rPr>
              <a:t>Seguridad y Control de Tipos: </a:t>
            </a:r>
            <a:r>
              <a:rPr lang="en-US" sz="3000">
                <a:solidFill>
                  <a:srgbClr val="000000"/>
                </a:solidFill>
                <a:latin typeface="Open Sans"/>
                <a:ea typeface="Open Sans"/>
                <a:cs typeface="Open Sans"/>
                <a:sym typeface="Open Sans"/>
              </a:rPr>
              <a:t>C# es un lenguaje con fuerte seguridad y control de tipos. Esto significa que el lenguaje es estricto en cuanto a qué tipos de datos pueden interactuar entre sí, lo que ayuda a prevenir errores y problemas de seguridad.</a:t>
            </a:r>
            <a:endParaRPr/>
          </a:p>
          <a:p>
            <a:pPr indent="0" lvl="0" marL="0" marR="0" rtl="0" algn="just">
              <a:lnSpc>
                <a:spcPct val="162000"/>
              </a:lnSpc>
              <a:spcBef>
                <a:spcPts val="0"/>
              </a:spcBef>
              <a:spcAft>
                <a:spcPts val="0"/>
              </a:spcAft>
              <a:buNone/>
            </a:pPr>
            <a:r>
              <a:t/>
            </a:r>
            <a:endParaRPr sz="3000">
              <a:solidFill>
                <a:srgbClr val="000000"/>
              </a:solidFill>
              <a:latin typeface="Open Sans"/>
              <a:ea typeface="Open Sans"/>
              <a:cs typeface="Open Sans"/>
              <a:sym typeface="Open Sans"/>
            </a:endParaRPr>
          </a:p>
          <a:p>
            <a:pPr indent="0" lvl="0" marL="0" marR="0" rtl="0" algn="just">
              <a:lnSpc>
                <a:spcPct val="162000"/>
              </a:lnSpc>
              <a:spcBef>
                <a:spcPts val="0"/>
              </a:spcBef>
              <a:spcAft>
                <a:spcPts val="0"/>
              </a:spcAft>
              <a:buNone/>
            </a:pPr>
            <a:r>
              <a:rPr b="1" lang="en-US" sz="3000">
                <a:solidFill>
                  <a:srgbClr val="000000"/>
                </a:solidFill>
                <a:latin typeface="Open Sans"/>
                <a:ea typeface="Open Sans"/>
                <a:cs typeface="Open Sans"/>
                <a:sym typeface="Open Sans"/>
              </a:rPr>
              <a:t>Integración con el Ecosistema .NET: </a:t>
            </a:r>
            <a:r>
              <a:rPr lang="en-US" sz="3000">
                <a:solidFill>
                  <a:srgbClr val="000000"/>
                </a:solidFill>
                <a:latin typeface="Open Sans"/>
                <a:ea typeface="Open Sans"/>
                <a:cs typeface="Open Sans"/>
                <a:sym typeface="Open Sans"/>
              </a:rPr>
              <a:t>C# está estrechamente integrado con el ecosistema .NET de Microsoft, que proporciona un entorno de desarrollo completo y poderoso. Los desarrolladores pueden aprovechar las bibliotecas y herramientas de .NET para crear aplicaciones más rápidas y eficientes.</a:t>
            </a:r>
            <a:endParaRPr/>
          </a:p>
          <a:p>
            <a:pPr indent="0" lvl="0" marL="0" marR="0" rtl="0" algn="just">
              <a:lnSpc>
                <a:spcPct val="162000"/>
              </a:lnSpc>
              <a:spcBef>
                <a:spcPts val="0"/>
              </a:spcBef>
              <a:spcAft>
                <a:spcPts val="0"/>
              </a:spcAft>
              <a:buNone/>
            </a:pPr>
            <a:r>
              <a:t/>
            </a:r>
            <a:endParaRPr sz="3000">
              <a:solidFill>
                <a:srgbClr val="000000"/>
              </a:solidFill>
              <a:latin typeface="Open Sans"/>
              <a:ea typeface="Open Sans"/>
              <a:cs typeface="Open Sans"/>
              <a:sym typeface="Open Sans"/>
            </a:endParaRPr>
          </a:p>
          <a:p>
            <a:pPr indent="0" lvl="0" marL="0" marR="0" rtl="0" algn="just">
              <a:lnSpc>
                <a:spcPct val="162000"/>
              </a:lnSpc>
              <a:spcBef>
                <a:spcPts val="0"/>
              </a:spcBef>
              <a:spcAft>
                <a:spcPts val="0"/>
              </a:spcAft>
              <a:buNone/>
            </a:pPr>
            <a:r>
              <a:rPr b="1" lang="en-US" sz="3000">
                <a:solidFill>
                  <a:srgbClr val="000000"/>
                </a:solidFill>
                <a:latin typeface="Open Sans"/>
                <a:ea typeface="Open Sans"/>
                <a:cs typeface="Open Sans"/>
                <a:sym typeface="Open Sans"/>
              </a:rPr>
              <a:t>Facilidad de Uso y Productividad: </a:t>
            </a:r>
            <a:r>
              <a:rPr lang="en-US" sz="3000">
                <a:solidFill>
                  <a:srgbClr val="000000"/>
                </a:solidFill>
                <a:latin typeface="Open Sans"/>
                <a:ea typeface="Open Sans"/>
                <a:cs typeface="Open Sans"/>
                <a:sym typeface="Open Sans"/>
              </a:rPr>
              <a:t>La sintaxis de C# es intuitiva y legible, lo que facilita la escritura y el mantenimiento del código. </a:t>
            </a:r>
            <a:endParaRPr/>
          </a:p>
        </p:txBody>
      </p:sp>
      <p:sp>
        <p:nvSpPr>
          <p:cNvPr id="149" name="Google Shape;149;p6"/>
          <p:cNvSpPr/>
          <p:nvPr/>
        </p:nvSpPr>
        <p:spPr>
          <a:xfrm>
            <a:off x="0" y="0"/>
            <a:ext cx="3717465" cy="1504759"/>
          </a:xfrm>
          <a:custGeom>
            <a:rect b="b" l="l" r="r" t="t"/>
            <a:pathLst>
              <a:path extrusionOk="0" h="1504759" w="3717465">
                <a:moveTo>
                  <a:pt x="0" y="0"/>
                </a:moveTo>
                <a:lnTo>
                  <a:pt x="3717465" y="0"/>
                </a:lnTo>
                <a:lnTo>
                  <a:pt x="3717465" y="1504759"/>
                </a:lnTo>
                <a:lnTo>
                  <a:pt x="0" y="1504759"/>
                </a:lnTo>
                <a:lnTo>
                  <a:pt x="0" y="0"/>
                </a:lnTo>
                <a:close/>
              </a:path>
            </a:pathLst>
          </a:custGeom>
          <a:blipFill rotWithShape="1">
            <a:blip r:embed="rId4">
              <a:alphaModFix/>
            </a:blip>
            <a:stretch>
              <a:fillRect b="-432" l="0" r="0" t="-4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6"/>
          <p:cNvSpPr/>
          <p:nvPr/>
        </p:nvSpPr>
        <p:spPr>
          <a:xfrm>
            <a:off x="4899650" y="0"/>
            <a:ext cx="2919298" cy="1210675"/>
          </a:xfrm>
          <a:custGeom>
            <a:rect b="b" l="l" r="r" t="t"/>
            <a:pathLst>
              <a:path extrusionOk="0" h="1210675" w="2919298">
                <a:moveTo>
                  <a:pt x="0" y="0"/>
                </a:moveTo>
                <a:lnTo>
                  <a:pt x="2919299" y="0"/>
                </a:lnTo>
                <a:lnTo>
                  <a:pt x="2919299" y="1210675"/>
                </a:lnTo>
                <a:lnTo>
                  <a:pt x="0" y="1210675"/>
                </a:lnTo>
                <a:lnTo>
                  <a:pt x="0" y="0"/>
                </a:lnTo>
                <a:close/>
              </a:path>
            </a:pathLst>
          </a:custGeom>
          <a:blipFill rotWithShape="1">
            <a:blip r:embed="rId5">
              <a:alphaModFix/>
            </a:blip>
            <a:stretch>
              <a:fillRect b="-195" l="0" r="0" t="-19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6"/>
          <p:cNvSpPr/>
          <p:nvPr/>
        </p:nvSpPr>
        <p:spPr>
          <a:xfrm>
            <a:off x="13855427" y="8242221"/>
            <a:ext cx="4051335" cy="2044779"/>
          </a:xfrm>
          <a:custGeom>
            <a:rect b="b" l="l" r="r" t="t"/>
            <a:pathLst>
              <a:path extrusionOk="0" h="2044779" w="4051335">
                <a:moveTo>
                  <a:pt x="0" y="0"/>
                </a:moveTo>
                <a:lnTo>
                  <a:pt x="4051335" y="0"/>
                </a:lnTo>
                <a:lnTo>
                  <a:pt x="4051335" y="2044779"/>
                </a:lnTo>
                <a:lnTo>
                  <a:pt x="0" y="2044779"/>
                </a:lnTo>
                <a:lnTo>
                  <a:pt x="0" y="0"/>
                </a:lnTo>
                <a:close/>
              </a:path>
            </a:pathLst>
          </a:custGeom>
          <a:blipFill rotWithShape="1">
            <a:blip r:embed="rId6">
              <a:alphaModFix/>
            </a:blip>
            <a:stretch>
              <a:fillRect b="-43" l="0" r="0" t="-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p:nvPr/>
        </p:nvSpPr>
        <p:spPr>
          <a:xfrm>
            <a:off x="74305" y="0"/>
            <a:ext cx="18213695" cy="10287000"/>
          </a:xfrm>
          <a:custGeom>
            <a:rect b="b" l="l" r="r" t="t"/>
            <a:pathLst>
              <a:path extrusionOk="0" h="10287000" w="18213695">
                <a:moveTo>
                  <a:pt x="0" y="0"/>
                </a:moveTo>
                <a:lnTo>
                  <a:pt x="18213695" y="0"/>
                </a:lnTo>
                <a:lnTo>
                  <a:pt x="18213695" y="10287000"/>
                </a:lnTo>
                <a:lnTo>
                  <a:pt x="0" y="10287000"/>
                </a:lnTo>
                <a:lnTo>
                  <a:pt x="0" y="0"/>
                </a:lnTo>
                <a:close/>
              </a:path>
            </a:pathLst>
          </a:custGeom>
          <a:blipFill rotWithShape="1">
            <a:blip r:embed="rId3">
              <a:alphaModFix/>
            </a:blip>
            <a:stretch>
              <a:fillRect b="-369" l="0" r="0" t="-36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7"/>
          <p:cNvSpPr txBox="1"/>
          <p:nvPr/>
        </p:nvSpPr>
        <p:spPr>
          <a:xfrm>
            <a:off x="652558" y="1210675"/>
            <a:ext cx="16982884"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000">
                <a:solidFill>
                  <a:srgbClr val="000000"/>
                </a:solidFill>
                <a:latin typeface="Open Sans"/>
                <a:ea typeface="Open Sans"/>
                <a:cs typeface="Open Sans"/>
                <a:sym typeface="Open Sans"/>
              </a:rPr>
              <a:t>¿QUÉ ES .NET?</a:t>
            </a:r>
            <a:endParaRPr/>
          </a:p>
        </p:txBody>
      </p:sp>
      <p:sp>
        <p:nvSpPr>
          <p:cNvPr id="158" name="Google Shape;158;p7"/>
          <p:cNvSpPr txBox="1"/>
          <p:nvPr/>
        </p:nvSpPr>
        <p:spPr>
          <a:xfrm>
            <a:off x="652558" y="2762060"/>
            <a:ext cx="16982884" cy="6659880"/>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lang="en-US" sz="3000">
                <a:solidFill>
                  <a:srgbClr val="000000"/>
                </a:solidFill>
                <a:latin typeface="Open Sans"/>
                <a:ea typeface="Open Sans"/>
                <a:cs typeface="Open Sans"/>
                <a:sym typeface="Open Sans"/>
              </a:rPr>
              <a:t>Es un conjunto de herramientas, tecnologías y servicios que dan pie a la creación de distintas aplicaciones, es entonces, una plataforma de desarrollo de software. ¿Plataforma? Esto se refiere al conjunto de elementos que sirven para “construir algo”. Para este caso ayudan a hacer funcionar aplicaciones web, de escritorio, de consola, entre otros.</a:t>
            </a:r>
            <a:endParaRPr/>
          </a:p>
          <a:p>
            <a:pPr indent="0" lvl="0" marL="0" marR="0" rtl="0" algn="just">
              <a:lnSpc>
                <a:spcPct val="162000"/>
              </a:lnSpc>
              <a:spcBef>
                <a:spcPts val="0"/>
              </a:spcBef>
              <a:spcAft>
                <a:spcPts val="0"/>
              </a:spcAft>
              <a:buNone/>
            </a:pPr>
            <a:r>
              <a:t/>
            </a:r>
            <a:endParaRPr sz="3000">
              <a:solidFill>
                <a:srgbClr val="000000"/>
              </a:solidFill>
              <a:latin typeface="Open Sans"/>
              <a:ea typeface="Open Sans"/>
              <a:cs typeface="Open Sans"/>
              <a:sym typeface="Open Sans"/>
            </a:endParaRPr>
          </a:p>
          <a:p>
            <a:pPr indent="0" lvl="0" marL="0" marR="0" rtl="0" algn="just">
              <a:lnSpc>
                <a:spcPct val="162000"/>
              </a:lnSpc>
              <a:spcBef>
                <a:spcPts val="0"/>
              </a:spcBef>
              <a:spcAft>
                <a:spcPts val="0"/>
              </a:spcAft>
              <a:buNone/>
            </a:pPr>
            <a:r>
              <a:rPr b="1" lang="en-US" sz="3000">
                <a:solidFill>
                  <a:srgbClr val="000000"/>
                </a:solidFill>
                <a:latin typeface="Open Sans"/>
                <a:ea typeface="Open Sans"/>
                <a:cs typeface="Open Sans"/>
                <a:sym typeface="Open Sans"/>
              </a:rPr>
              <a:t>¿Es un lenguaje de programación?</a:t>
            </a:r>
            <a:endParaRPr/>
          </a:p>
          <a:p>
            <a:pPr indent="0" lvl="0" marL="0" marR="0" rtl="0" algn="just">
              <a:lnSpc>
                <a:spcPct val="162000"/>
              </a:lnSpc>
              <a:spcBef>
                <a:spcPts val="0"/>
              </a:spcBef>
              <a:spcAft>
                <a:spcPts val="0"/>
              </a:spcAft>
              <a:buNone/>
            </a:pPr>
            <a:r>
              <a:rPr lang="en-US" sz="3000">
                <a:solidFill>
                  <a:srgbClr val="000000"/>
                </a:solidFill>
                <a:latin typeface="Open Sans"/>
                <a:ea typeface="Open Sans"/>
                <a:cs typeface="Open Sans"/>
                <a:sym typeface="Open Sans"/>
              </a:rPr>
              <a:t>No, lo correcto es decir que admite múltiples lenguajes de programación como Visual Basic, C# y F#. También es común confundirlo con Visual Studio, y no, no es lo mismo, tampoco es lo mismo que Visual Basic. Visual Studio es un editor de código fuente desarrollado por Microsoft para Windows, Linux, macOS y Web, mientras que Visual Basic, como antes se mencionó, es un lenguaje de programación.</a:t>
            </a:r>
            <a:endParaRPr/>
          </a:p>
        </p:txBody>
      </p:sp>
      <p:sp>
        <p:nvSpPr>
          <p:cNvPr id="159" name="Google Shape;159;p7"/>
          <p:cNvSpPr/>
          <p:nvPr/>
        </p:nvSpPr>
        <p:spPr>
          <a:xfrm>
            <a:off x="0" y="0"/>
            <a:ext cx="3717465" cy="1504759"/>
          </a:xfrm>
          <a:custGeom>
            <a:rect b="b" l="l" r="r" t="t"/>
            <a:pathLst>
              <a:path extrusionOk="0" h="1504759" w="3717465">
                <a:moveTo>
                  <a:pt x="0" y="0"/>
                </a:moveTo>
                <a:lnTo>
                  <a:pt x="3717465" y="0"/>
                </a:lnTo>
                <a:lnTo>
                  <a:pt x="3717465" y="1504759"/>
                </a:lnTo>
                <a:lnTo>
                  <a:pt x="0" y="1504759"/>
                </a:lnTo>
                <a:lnTo>
                  <a:pt x="0" y="0"/>
                </a:lnTo>
                <a:close/>
              </a:path>
            </a:pathLst>
          </a:custGeom>
          <a:blipFill rotWithShape="1">
            <a:blip r:embed="rId4">
              <a:alphaModFix/>
            </a:blip>
            <a:stretch>
              <a:fillRect b="-432" l="0" r="0" t="-4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7"/>
          <p:cNvSpPr/>
          <p:nvPr/>
        </p:nvSpPr>
        <p:spPr>
          <a:xfrm>
            <a:off x="4899650" y="0"/>
            <a:ext cx="2919298" cy="1210675"/>
          </a:xfrm>
          <a:custGeom>
            <a:rect b="b" l="l" r="r" t="t"/>
            <a:pathLst>
              <a:path extrusionOk="0" h="1210675" w="2919298">
                <a:moveTo>
                  <a:pt x="0" y="0"/>
                </a:moveTo>
                <a:lnTo>
                  <a:pt x="2919299" y="0"/>
                </a:lnTo>
                <a:lnTo>
                  <a:pt x="2919299" y="1210675"/>
                </a:lnTo>
                <a:lnTo>
                  <a:pt x="0" y="1210675"/>
                </a:lnTo>
                <a:lnTo>
                  <a:pt x="0" y="0"/>
                </a:lnTo>
                <a:close/>
              </a:path>
            </a:pathLst>
          </a:custGeom>
          <a:blipFill rotWithShape="1">
            <a:blip r:embed="rId5">
              <a:alphaModFix/>
            </a:blip>
            <a:stretch>
              <a:fillRect b="-195" l="0" r="0" t="-19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7"/>
          <p:cNvSpPr/>
          <p:nvPr/>
        </p:nvSpPr>
        <p:spPr>
          <a:xfrm>
            <a:off x="13855427" y="8932481"/>
            <a:ext cx="4051335" cy="2044779"/>
          </a:xfrm>
          <a:custGeom>
            <a:rect b="b" l="l" r="r" t="t"/>
            <a:pathLst>
              <a:path extrusionOk="0" h="2044779" w="4051335">
                <a:moveTo>
                  <a:pt x="0" y="0"/>
                </a:moveTo>
                <a:lnTo>
                  <a:pt x="4051335" y="0"/>
                </a:lnTo>
                <a:lnTo>
                  <a:pt x="4051335" y="2044779"/>
                </a:lnTo>
                <a:lnTo>
                  <a:pt x="0" y="2044779"/>
                </a:lnTo>
                <a:lnTo>
                  <a:pt x="0" y="0"/>
                </a:lnTo>
                <a:close/>
              </a:path>
            </a:pathLst>
          </a:custGeom>
          <a:blipFill rotWithShape="1">
            <a:blip r:embed="rId6">
              <a:alphaModFix/>
            </a:blip>
            <a:stretch>
              <a:fillRect b="-43" l="0" r="0" t="-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8"/>
          <p:cNvSpPr/>
          <p:nvPr/>
        </p:nvSpPr>
        <p:spPr>
          <a:xfrm>
            <a:off x="0" y="8893302"/>
            <a:ext cx="2478091" cy="1393698"/>
          </a:xfrm>
          <a:custGeom>
            <a:rect b="b" l="l" r="r" t="t"/>
            <a:pathLst>
              <a:path extrusionOk="0" h="1393698" w="2478091">
                <a:moveTo>
                  <a:pt x="0" y="0"/>
                </a:moveTo>
                <a:lnTo>
                  <a:pt x="2478091" y="0"/>
                </a:lnTo>
                <a:lnTo>
                  <a:pt x="2478091" y="1393698"/>
                </a:lnTo>
                <a:lnTo>
                  <a:pt x="0" y="1393698"/>
                </a:lnTo>
                <a:lnTo>
                  <a:pt x="0" y="0"/>
                </a:lnTo>
                <a:close/>
              </a:path>
            </a:pathLst>
          </a:custGeom>
          <a:blipFill rotWithShape="1">
            <a:blip r:embed="rId4">
              <a:alphaModFix/>
            </a:blip>
            <a:stretch>
              <a:fillRect b="-55" l="0" r="0" t="-5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8"/>
          <p:cNvSpPr/>
          <p:nvPr/>
        </p:nvSpPr>
        <p:spPr>
          <a:xfrm>
            <a:off x="15262955" y="8864584"/>
            <a:ext cx="3025045" cy="1422416"/>
          </a:xfrm>
          <a:custGeom>
            <a:rect b="b" l="l" r="r" t="t"/>
            <a:pathLst>
              <a:path extrusionOk="0" h="1422416" w="3025045">
                <a:moveTo>
                  <a:pt x="0" y="0"/>
                </a:moveTo>
                <a:lnTo>
                  <a:pt x="3025045" y="0"/>
                </a:lnTo>
                <a:lnTo>
                  <a:pt x="3025045" y="1422416"/>
                </a:lnTo>
                <a:lnTo>
                  <a:pt x="0" y="1422416"/>
                </a:lnTo>
                <a:lnTo>
                  <a:pt x="0" y="0"/>
                </a:lnTo>
                <a:close/>
              </a:path>
            </a:pathLst>
          </a:custGeom>
          <a:blipFill rotWithShape="1">
            <a:blip r:embed="rId5">
              <a:alphaModFix/>
            </a:blip>
            <a:stretch>
              <a:fillRect b="-164" l="0" r="0" t="-1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8"/>
          <p:cNvSpPr/>
          <p:nvPr/>
        </p:nvSpPr>
        <p:spPr>
          <a:xfrm>
            <a:off x="0" y="0"/>
            <a:ext cx="3550310" cy="1322784"/>
          </a:xfrm>
          <a:custGeom>
            <a:rect b="b" l="l" r="r" t="t"/>
            <a:pathLst>
              <a:path extrusionOk="0" h="1322784" w="3550310">
                <a:moveTo>
                  <a:pt x="0" y="0"/>
                </a:moveTo>
                <a:lnTo>
                  <a:pt x="3550310" y="0"/>
                </a:lnTo>
                <a:lnTo>
                  <a:pt x="3550310" y="1322784"/>
                </a:lnTo>
                <a:lnTo>
                  <a:pt x="0" y="1322784"/>
                </a:lnTo>
                <a:lnTo>
                  <a:pt x="0" y="0"/>
                </a:lnTo>
                <a:close/>
              </a:path>
            </a:pathLst>
          </a:custGeom>
          <a:blipFill rotWithShape="1">
            <a:blip r:embed="rId6">
              <a:alphaModFix/>
            </a:blip>
            <a:stretch>
              <a:fillRect b="-272" l="0" r="0" t="-2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8"/>
          <p:cNvSpPr/>
          <p:nvPr/>
        </p:nvSpPr>
        <p:spPr>
          <a:xfrm>
            <a:off x="11101578" y="9560662"/>
            <a:ext cx="3169282" cy="726338"/>
          </a:xfrm>
          <a:custGeom>
            <a:rect b="b" l="l" r="r" t="t"/>
            <a:pathLst>
              <a:path extrusionOk="0" h="726338" w="3169282">
                <a:moveTo>
                  <a:pt x="0" y="0"/>
                </a:moveTo>
                <a:lnTo>
                  <a:pt x="3169282" y="0"/>
                </a:lnTo>
                <a:lnTo>
                  <a:pt x="3169282" y="726338"/>
                </a:lnTo>
                <a:lnTo>
                  <a:pt x="0" y="726338"/>
                </a:lnTo>
                <a:lnTo>
                  <a:pt x="0" y="0"/>
                </a:lnTo>
                <a:close/>
              </a:path>
            </a:pathLst>
          </a:custGeom>
          <a:blipFill rotWithShape="1">
            <a:blip r:embed="rId7">
              <a:alphaModFix/>
            </a:blip>
            <a:stretch>
              <a:fillRect b="0" l="-292" r="-29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8"/>
          <p:cNvSpPr/>
          <p:nvPr/>
        </p:nvSpPr>
        <p:spPr>
          <a:xfrm>
            <a:off x="9653626" y="0"/>
            <a:ext cx="5493058" cy="1076868"/>
          </a:xfrm>
          <a:custGeom>
            <a:rect b="b" l="l" r="r" t="t"/>
            <a:pathLst>
              <a:path extrusionOk="0" h="1076868" w="5493058">
                <a:moveTo>
                  <a:pt x="0" y="0"/>
                </a:moveTo>
                <a:lnTo>
                  <a:pt x="5493058" y="0"/>
                </a:lnTo>
                <a:lnTo>
                  <a:pt x="5493058" y="1076868"/>
                </a:lnTo>
                <a:lnTo>
                  <a:pt x="0" y="1076868"/>
                </a:lnTo>
                <a:lnTo>
                  <a:pt x="0" y="0"/>
                </a:lnTo>
                <a:close/>
              </a:path>
            </a:pathLst>
          </a:custGeom>
          <a:blipFill rotWithShape="1">
            <a:blip r:embed="rId8">
              <a:alphaModFix/>
            </a:blip>
            <a:stretch>
              <a:fillRect b="-788" l="0" r="0" t="-7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8"/>
          <p:cNvSpPr/>
          <p:nvPr/>
        </p:nvSpPr>
        <p:spPr>
          <a:xfrm>
            <a:off x="4732506" y="0"/>
            <a:ext cx="2919298" cy="1028700"/>
          </a:xfrm>
          <a:custGeom>
            <a:rect b="b" l="l" r="r" t="t"/>
            <a:pathLst>
              <a:path extrusionOk="0" h="1028700" w="2919298">
                <a:moveTo>
                  <a:pt x="0" y="0"/>
                </a:moveTo>
                <a:lnTo>
                  <a:pt x="2919298" y="0"/>
                </a:lnTo>
                <a:lnTo>
                  <a:pt x="2919298" y="1028700"/>
                </a:lnTo>
                <a:lnTo>
                  <a:pt x="0" y="1028700"/>
                </a:lnTo>
                <a:lnTo>
                  <a:pt x="0" y="0"/>
                </a:lnTo>
                <a:close/>
              </a:path>
            </a:pathLst>
          </a:custGeom>
          <a:blipFill rotWithShape="1">
            <a:blip r:embed="rId9">
              <a:alphaModFix/>
            </a:blip>
            <a:stretch>
              <a:fillRect b="-312" l="0" r="0" t="-31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8"/>
          <p:cNvSpPr/>
          <p:nvPr/>
        </p:nvSpPr>
        <p:spPr>
          <a:xfrm>
            <a:off x="2932281" y="9271806"/>
            <a:ext cx="2587019" cy="1015194"/>
          </a:xfrm>
          <a:custGeom>
            <a:rect b="b" l="l" r="r" t="t"/>
            <a:pathLst>
              <a:path extrusionOk="0" h="1015194" w="2587019">
                <a:moveTo>
                  <a:pt x="0" y="0"/>
                </a:moveTo>
                <a:lnTo>
                  <a:pt x="2587018" y="0"/>
                </a:lnTo>
                <a:lnTo>
                  <a:pt x="2587018" y="1015194"/>
                </a:lnTo>
                <a:lnTo>
                  <a:pt x="0" y="1015194"/>
                </a:lnTo>
                <a:lnTo>
                  <a:pt x="0" y="0"/>
                </a:lnTo>
                <a:close/>
              </a:path>
            </a:pathLst>
          </a:custGeom>
          <a:blipFill rotWithShape="1">
            <a:blip r:embed="rId10">
              <a:alphaModFix/>
            </a:blip>
            <a:stretch>
              <a:fillRect b="-965" l="0" r="0" t="-9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8"/>
          <p:cNvSpPr/>
          <p:nvPr/>
        </p:nvSpPr>
        <p:spPr>
          <a:xfrm>
            <a:off x="15262955" y="0"/>
            <a:ext cx="1996345" cy="1076868"/>
          </a:xfrm>
          <a:custGeom>
            <a:rect b="b" l="l" r="r" t="t"/>
            <a:pathLst>
              <a:path extrusionOk="0" h="1076868" w="1996345">
                <a:moveTo>
                  <a:pt x="0" y="0"/>
                </a:moveTo>
                <a:lnTo>
                  <a:pt x="1996345" y="0"/>
                </a:lnTo>
                <a:lnTo>
                  <a:pt x="1996345" y="1076868"/>
                </a:lnTo>
                <a:lnTo>
                  <a:pt x="0" y="1076868"/>
                </a:lnTo>
                <a:lnTo>
                  <a:pt x="0" y="0"/>
                </a:lnTo>
                <a:close/>
              </a:path>
            </a:pathLst>
          </a:custGeom>
          <a:blipFill rotWithShape="1">
            <a:blip r:embed="rId11">
              <a:alphaModFix/>
            </a:blip>
            <a:stretch>
              <a:fillRect b="-2287" l="0" r="0" t="-22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8"/>
          <p:cNvSpPr txBox="1"/>
          <p:nvPr/>
        </p:nvSpPr>
        <p:spPr>
          <a:xfrm>
            <a:off x="748994" y="1322784"/>
            <a:ext cx="16790012" cy="1371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9000">
                <a:solidFill>
                  <a:srgbClr val="000000"/>
                </a:solidFill>
                <a:latin typeface="Open Sans"/>
                <a:ea typeface="Open Sans"/>
                <a:cs typeface="Open Sans"/>
                <a:sym typeface="Open Sans"/>
              </a:rPr>
              <a:t>INSTALACIÓN DE C#</a:t>
            </a:r>
            <a:endParaRPr/>
          </a:p>
        </p:txBody>
      </p:sp>
      <p:sp>
        <p:nvSpPr>
          <p:cNvPr id="176" name="Google Shape;176;p8"/>
          <p:cNvSpPr txBox="1"/>
          <p:nvPr/>
        </p:nvSpPr>
        <p:spPr>
          <a:xfrm>
            <a:off x="1028700" y="3011295"/>
            <a:ext cx="16230600" cy="4572000"/>
          </a:xfrm>
          <a:prstGeom prst="rect">
            <a:avLst/>
          </a:prstGeom>
          <a:noFill/>
          <a:ln>
            <a:noFill/>
          </a:ln>
        </p:spPr>
        <p:txBody>
          <a:bodyPr anchorCtr="0" anchor="t" bIns="0" lIns="0" spcFirstLastPara="1" rIns="0" wrap="square" tIns="0">
            <a:spAutoFit/>
          </a:bodyPr>
          <a:lstStyle/>
          <a:p>
            <a:pPr indent="0" lvl="0" marL="0" marR="0" rtl="0" algn="just">
              <a:lnSpc>
                <a:spcPct val="120005"/>
              </a:lnSpc>
              <a:spcBef>
                <a:spcPts val="0"/>
              </a:spcBef>
              <a:spcAft>
                <a:spcPts val="0"/>
              </a:spcAft>
              <a:buNone/>
            </a:pPr>
            <a:r>
              <a:rPr lang="en-US" sz="3799">
                <a:solidFill>
                  <a:srgbClr val="000000"/>
                </a:solidFill>
                <a:latin typeface="Open Sans"/>
                <a:ea typeface="Open Sans"/>
                <a:cs typeface="Open Sans"/>
                <a:sym typeface="Open Sans"/>
              </a:rPr>
              <a:t>Para comenzar a desarrollar en C#, es necesario instalar el .NET SDK, ya que este incluye el compilador, las bibliotecas base y las herramientas necesarias para crear y ejecutar aplicaciones en C#.</a:t>
            </a:r>
            <a:endParaRPr/>
          </a:p>
          <a:p>
            <a:pPr indent="0" lvl="0" marL="0" marR="0" rtl="0" algn="just">
              <a:lnSpc>
                <a:spcPct val="120005"/>
              </a:lnSpc>
              <a:spcBef>
                <a:spcPts val="0"/>
              </a:spcBef>
              <a:spcAft>
                <a:spcPts val="0"/>
              </a:spcAft>
              <a:buNone/>
            </a:pPr>
            <a:r>
              <a:rPr lang="en-US" sz="3799">
                <a:solidFill>
                  <a:srgbClr val="000000"/>
                </a:solidFill>
                <a:latin typeface="Open Sans"/>
                <a:ea typeface="Open Sans"/>
                <a:cs typeface="Open Sans"/>
                <a:sym typeface="Open Sans"/>
              </a:rPr>
              <a:t>Además del SDK, se requiere un entorno de desarrollo o editor de código. Puedes utilizar Visual Studio Community (gratuito y con todas las herramientas integradas) o Visual Studio Code, un editor ligero que, junto con las extensiones adecuadas, permite programar en 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9"/>
          <p:cNvSpPr/>
          <p:nvPr/>
        </p:nvSpPr>
        <p:spPr>
          <a:xfrm>
            <a:off x="0" y="8893302"/>
            <a:ext cx="2478091" cy="1393698"/>
          </a:xfrm>
          <a:custGeom>
            <a:rect b="b" l="l" r="r" t="t"/>
            <a:pathLst>
              <a:path extrusionOk="0" h="1393698" w="2478091">
                <a:moveTo>
                  <a:pt x="0" y="0"/>
                </a:moveTo>
                <a:lnTo>
                  <a:pt x="2478091" y="0"/>
                </a:lnTo>
                <a:lnTo>
                  <a:pt x="2478091" y="1393698"/>
                </a:lnTo>
                <a:lnTo>
                  <a:pt x="0" y="1393698"/>
                </a:lnTo>
                <a:lnTo>
                  <a:pt x="0" y="0"/>
                </a:lnTo>
                <a:close/>
              </a:path>
            </a:pathLst>
          </a:custGeom>
          <a:blipFill rotWithShape="1">
            <a:blip r:embed="rId4">
              <a:alphaModFix/>
            </a:blip>
            <a:stretch>
              <a:fillRect b="-55" l="0" r="0" t="-5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9"/>
          <p:cNvSpPr/>
          <p:nvPr/>
        </p:nvSpPr>
        <p:spPr>
          <a:xfrm>
            <a:off x="15262955" y="8864584"/>
            <a:ext cx="3025045" cy="1422416"/>
          </a:xfrm>
          <a:custGeom>
            <a:rect b="b" l="l" r="r" t="t"/>
            <a:pathLst>
              <a:path extrusionOk="0" h="1422416" w="3025045">
                <a:moveTo>
                  <a:pt x="0" y="0"/>
                </a:moveTo>
                <a:lnTo>
                  <a:pt x="3025045" y="0"/>
                </a:lnTo>
                <a:lnTo>
                  <a:pt x="3025045" y="1422416"/>
                </a:lnTo>
                <a:lnTo>
                  <a:pt x="0" y="1422416"/>
                </a:lnTo>
                <a:lnTo>
                  <a:pt x="0" y="0"/>
                </a:lnTo>
                <a:close/>
              </a:path>
            </a:pathLst>
          </a:custGeom>
          <a:blipFill rotWithShape="1">
            <a:blip r:embed="rId5">
              <a:alphaModFix/>
            </a:blip>
            <a:stretch>
              <a:fillRect b="-164" l="0" r="0" t="-1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9"/>
          <p:cNvSpPr/>
          <p:nvPr/>
        </p:nvSpPr>
        <p:spPr>
          <a:xfrm>
            <a:off x="0" y="0"/>
            <a:ext cx="3550310" cy="1322784"/>
          </a:xfrm>
          <a:custGeom>
            <a:rect b="b" l="l" r="r" t="t"/>
            <a:pathLst>
              <a:path extrusionOk="0" h="1322784" w="3550310">
                <a:moveTo>
                  <a:pt x="0" y="0"/>
                </a:moveTo>
                <a:lnTo>
                  <a:pt x="3550310" y="0"/>
                </a:lnTo>
                <a:lnTo>
                  <a:pt x="3550310" y="1322784"/>
                </a:lnTo>
                <a:lnTo>
                  <a:pt x="0" y="1322784"/>
                </a:lnTo>
                <a:lnTo>
                  <a:pt x="0" y="0"/>
                </a:lnTo>
                <a:close/>
              </a:path>
            </a:pathLst>
          </a:custGeom>
          <a:blipFill rotWithShape="1">
            <a:blip r:embed="rId6">
              <a:alphaModFix/>
            </a:blip>
            <a:stretch>
              <a:fillRect b="-272" l="0" r="0" t="-2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9"/>
          <p:cNvSpPr/>
          <p:nvPr/>
        </p:nvSpPr>
        <p:spPr>
          <a:xfrm>
            <a:off x="11101578" y="9560662"/>
            <a:ext cx="3169282" cy="726338"/>
          </a:xfrm>
          <a:custGeom>
            <a:rect b="b" l="l" r="r" t="t"/>
            <a:pathLst>
              <a:path extrusionOk="0" h="726338" w="3169282">
                <a:moveTo>
                  <a:pt x="0" y="0"/>
                </a:moveTo>
                <a:lnTo>
                  <a:pt x="3169282" y="0"/>
                </a:lnTo>
                <a:lnTo>
                  <a:pt x="3169282" y="726338"/>
                </a:lnTo>
                <a:lnTo>
                  <a:pt x="0" y="726338"/>
                </a:lnTo>
                <a:lnTo>
                  <a:pt x="0" y="0"/>
                </a:lnTo>
                <a:close/>
              </a:path>
            </a:pathLst>
          </a:custGeom>
          <a:blipFill rotWithShape="1">
            <a:blip r:embed="rId7">
              <a:alphaModFix/>
            </a:blip>
            <a:stretch>
              <a:fillRect b="0" l="-292" r="-29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9"/>
          <p:cNvSpPr/>
          <p:nvPr/>
        </p:nvSpPr>
        <p:spPr>
          <a:xfrm>
            <a:off x="9653626" y="0"/>
            <a:ext cx="5493058" cy="1076868"/>
          </a:xfrm>
          <a:custGeom>
            <a:rect b="b" l="l" r="r" t="t"/>
            <a:pathLst>
              <a:path extrusionOk="0" h="1076868" w="5493058">
                <a:moveTo>
                  <a:pt x="0" y="0"/>
                </a:moveTo>
                <a:lnTo>
                  <a:pt x="5493058" y="0"/>
                </a:lnTo>
                <a:lnTo>
                  <a:pt x="5493058" y="1076868"/>
                </a:lnTo>
                <a:lnTo>
                  <a:pt x="0" y="1076868"/>
                </a:lnTo>
                <a:lnTo>
                  <a:pt x="0" y="0"/>
                </a:lnTo>
                <a:close/>
              </a:path>
            </a:pathLst>
          </a:custGeom>
          <a:blipFill rotWithShape="1">
            <a:blip r:embed="rId8">
              <a:alphaModFix/>
            </a:blip>
            <a:stretch>
              <a:fillRect b="-788" l="0" r="0" t="-7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9"/>
          <p:cNvSpPr/>
          <p:nvPr/>
        </p:nvSpPr>
        <p:spPr>
          <a:xfrm>
            <a:off x="4732506" y="0"/>
            <a:ext cx="2919298" cy="1028700"/>
          </a:xfrm>
          <a:custGeom>
            <a:rect b="b" l="l" r="r" t="t"/>
            <a:pathLst>
              <a:path extrusionOk="0" h="1028700" w="2919298">
                <a:moveTo>
                  <a:pt x="0" y="0"/>
                </a:moveTo>
                <a:lnTo>
                  <a:pt x="2919298" y="0"/>
                </a:lnTo>
                <a:lnTo>
                  <a:pt x="2919298" y="1028700"/>
                </a:lnTo>
                <a:lnTo>
                  <a:pt x="0" y="1028700"/>
                </a:lnTo>
                <a:lnTo>
                  <a:pt x="0" y="0"/>
                </a:lnTo>
                <a:close/>
              </a:path>
            </a:pathLst>
          </a:custGeom>
          <a:blipFill rotWithShape="1">
            <a:blip r:embed="rId9">
              <a:alphaModFix/>
            </a:blip>
            <a:stretch>
              <a:fillRect b="-312" l="0" r="0" t="-31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9"/>
          <p:cNvSpPr/>
          <p:nvPr/>
        </p:nvSpPr>
        <p:spPr>
          <a:xfrm>
            <a:off x="2932281" y="9271806"/>
            <a:ext cx="2587019" cy="1015194"/>
          </a:xfrm>
          <a:custGeom>
            <a:rect b="b" l="l" r="r" t="t"/>
            <a:pathLst>
              <a:path extrusionOk="0" h="1015194" w="2587019">
                <a:moveTo>
                  <a:pt x="0" y="0"/>
                </a:moveTo>
                <a:lnTo>
                  <a:pt x="2587018" y="0"/>
                </a:lnTo>
                <a:lnTo>
                  <a:pt x="2587018" y="1015194"/>
                </a:lnTo>
                <a:lnTo>
                  <a:pt x="0" y="1015194"/>
                </a:lnTo>
                <a:lnTo>
                  <a:pt x="0" y="0"/>
                </a:lnTo>
                <a:close/>
              </a:path>
            </a:pathLst>
          </a:custGeom>
          <a:blipFill rotWithShape="1">
            <a:blip r:embed="rId10">
              <a:alphaModFix/>
            </a:blip>
            <a:stretch>
              <a:fillRect b="-965" l="0" r="0" t="-9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9"/>
          <p:cNvSpPr/>
          <p:nvPr/>
        </p:nvSpPr>
        <p:spPr>
          <a:xfrm>
            <a:off x="15262955" y="0"/>
            <a:ext cx="1996345" cy="1076868"/>
          </a:xfrm>
          <a:custGeom>
            <a:rect b="b" l="l" r="r" t="t"/>
            <a:pathLst>
              <a:path extrusionOk="0" h="1076868" w="1996345">
                <a:moveTo>
                  <a:pt x="0" y="0"/>
                </a:moveTo>
                <a:lnTo>
                  <a:pt x="1996345" y="0"/>
                </a:lnTo>
                <a:lnTo>
                  <a:pt x="1996345" y="1076868"/>
                </a:lnTo>
                <a:lnTo>
                  <a:pt x="0" y="1076868"/>
                </a:lnTo>
                <a:lnTo>
                  <a:pt x="0" y="0"/>
                </a:lnTo>
                <a:close/>
              </a:path>
            </a:pathLst>
          </a:custGeom>
          <a:blipFill rotWithShape="1">
            <a:blip r:embed="rId11">
              <a:alphaModFix/>
            </a:blip>
            <a:stretch>
              <a:fillRect b="-2287" l="0" r="0" t="-22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7651804" y="5784594"/>
            <a:ext cx="9022612" cy="3473706"/>
          </a:xfrm>
          <a:custGeom>
            <a:rect b="b" l="l" r="r" t="t"/>
            <a:pathLst>
              <a:path extrusionOk="0" h="3473706" w="9022612">
                <a:moveTo>
                  <a:pt x="0" y="0"/>
                </a:moveTo>
                <a:lnTo>
                  <a:pt x="9022612" y="0"/>
                </a:lnTo>
                <a:lnTo>
                  <a:pt x="9022612" y="3473706"/>
                </a:lnTo>
                <a:lnTo>
                  <a:pt x="0" y="3473706"/>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9"/>
          <p:cNvSpPr/>
          <p:nvPr/>
        </p:nvSpPr>
        <p:spPr>
          <a:xfrm>
            <a:off x="2689995" y="6981040"/>
            <a:ext cx="1720631" cy="1720631"/>
          </a:xfrm>
          <a:custGeom>
            <a:rect b="b" l="l" r="r" t="t"/>
            <a:pathLst>
              <a:path extrusionOk="0" h="1720631" w="1720631">
                <a:moveTo>
                  <a:pt x="0" y="0"/>
                </a:moveTo>
                <a:lnTo>
                  <a:pt x="1720631" y="0"/>
                </a:lnTo>
                <a:lnTo>
                  <a:pt x="1720631" y="1720631"/>
                </a:lnTo>
                <a:lnTo>
                  <a:pt x="0" y="1720631"/>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9"/>
          <p:cNvSpPr txBox="1"/>
          <p:nvPr/>
        </p:nvSpPr>
        <p:spPr>
          <a:xfrm>
            <a:off x="748994" y="1322784"/>
            <a:ext cx="16790012" cy="1371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9000">
                <a:solidFill>
                  <a:srgbClr val="000000"/>
                </a:solidFill>
                <a:latin typeface="Open Sans"/>
                <a:ea typeface="Open Sans"/>
                <a:cs typeface="Open Sans"/>
                <a:sym typeface="Open Sans"/>
              </a:rPr>
              <a:t>PASOS PAR INSTALAR .NET SDK</a:t>
            </a:r>
            <a:endParaRPr/>
          </a:p>
        </p:txBody>
      </p:sp>
      <p:sp>
        <p:nvSpPr>
          <p:cNvPr id="193" name="Google Shape;193;p9"/>
          <p:cNvSpPr txBox="1"/>
          <p:nvPr/>
        </p:nvSpPr>
        <p:spPr>
          <a:xfrm>
            <a:off x="1028700" y="3011295"/>
            <a:ext cx="15746778" cy="2857500"/>
          </a:xfrm>
          <a:prstGeom prst="rect">
            <a:avLst/>
          </a:prstGeom>
          <a:noFill/>
          <a:ln>
            <a:noFill/>
          </a:ln>
        </p:spPr>
        <p:txBody>
          <a:bodyPr anchorCtr="0" anchor="t" bIns="0" lIns="0" spcFirstLastPara="1" rIns="0" wrap="square" tIns="0">
            <a:spAutoFit/>
          </a:bodyPr>
          <a:lstStyle/>
          <a:p>
            <a:pPr indent="0" lvl="0" marL="0" marR="0" rtl="0" algn="just">
              <a:lnSpc>
                <a:spcPct val="253277"/>
              </a:lnSpc>
              <a:spcBef>
                <a:spcPts val="0"/>
              </a:spcBef>
              <a:spcAft>
                <a:spcPts val="0"/>
              </a:spcAft>
              <a:buNone/>
            </a:pPr>
            <a:r>
              <a:t/>
            </a:r>
            <a:endParaRPr sz="1800">
              <a:solidFill>
                <a:schemeClr val="dk1"/>
              </a:solidFill>
              <a:latin typeface="Calibri"/>
              <a:ea typeface="Calibri"/>
              <a:cs typeface="Calibri"/>
              <a:sym typeface="Calibri"/>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Descargar el SDK de .NET.</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Ejecutar el instalador descargado y presionar Instalar.</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Esperar a que finalice la instalación.</a:t>
            </a:r>
            <a:endParaRPr/>
          </a:p>
          <a:p>
            <a:pPr indent="0" lvl="0" marL="0" marR="0" rtl="0" algn="just">
              <a:lnSpc>
                <a:spcPct val="120005"/>
              </a:lnSpc>
              <a:spcBef>
                <a:spcPts val="0"/>
              </a:spcBef>
              <a:spcAft>
                <a:spcPts val="0"/>
              </a:spcAft>
              <a:buNone/>
            </a:pPr>
            <a:r>
              <a:t/>
            </a:r>
            <a:endParaRPr sz="3799">
              <a:solidFill>
                <a:srgbClr val="000000"/>
              </a:solidFill>
              <a:latin typeface="Open Sans"/>
              <a:ea typeface="Open Sans"/>
              <a:cs typeface="Open Sans"/>
              <a:sym typeface="Open Sans"/>
            </a:endParaRPr>
          </a:p>
        </p:txBody>
      </p:sp>
      <p:sp>
        <p:nvSpPr>
          <p:cNvPr id="194" name="Google Shape;194;p9"/>
          <p:cNvSpPr txBox="1"/>
          <p:nvPr/>
        </p:nvSpPr>
        <p:spPr>
          <a:xfrm>
            <a:off x="1910760" y="6068820"/>
            <a:ext cx="3279100" cy="8070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lang="en-US" sz="4599" u="sng">
                <a:solidFill>
                  <a:srgbClr val="000000"/>
                </a:solidFill>
                <a:latin typeface="Arimo"/>
                <a:ea typeface="Arimo"/>
                <a:cs typeface="Arimo"/>
                <a:sym typeface="Arimo"/>
                <a:hlinkClick r:id="rId14">
                  <a:extLst>
                    <a:ext uri="{A12FA001-AC4F-418D-AE19-62706E023703}">
                      <ahyp:hlinkClr val="tx"/>
                    </a:ext>
                  </a:extLst>
                </a:hlinkClick>
              </a:rPr>
              <a:t>Enlace .NET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10"/>
          <p:cNvSpPr/>
          <p:nvPr/>
        </p:nvSpPr>
        <p:spPr>
          <a:xfrm>
            <a:off x="0" y="8893302"/>
            <a:ext cx="2478091" cy="1393698"/>
          </a:xfrm>
          <a:custGeom>
            <a:rect b="b" l="l" r="r" t="t"/>
            <a:pathLst>
              <a:path extrusionOk="0" h="1393698" w="2478091">
                <a:moveTo>
                  <a:pt x="0" y="0"/>
                </a:moveTo>
                <a:lnTo>
                  <a:pt x="2478091" y="0"/>
                </a:lnTo>
                <a:lnTo>
                  <a:pt x="2478091" y="1393698"/>
                </a:lnTo>
                <a:lnTo>
                  <a:pt x="0" y="1393698"/>
                </a:lnTo>
                <a:lnTo>
                  <a:pt x="0" y="0"/>
                </a:lnTo>
                <a:close/>
              </a:path>
            </a:pathLst>
          </a:custGeom>
          <a:blipFill rotWithShape="1">
            <a:blip r:embed="rId4">
              <a:alphaModFix/>
            </a:blip>
            <a:stretch>
              <a:fillRect b="-55" l="0" r="0" t="-5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0"/>
          <p:cNvSpPr/>
          <p:nvPr/>
        </p:nvSpPr>
        <p:spPr>
          <a:xfrm>
            <a:off x="15262955" y="8864584"/>
            <a:ext cx="3025045" cy="1422416"/>
          </a:xfrm>
          <a:custGeom>
            <a:rect b="b" l="l" r="r" t="t"/>
            <a:pathLst>
              <a:path extrusionOk="0" h="1422416" w="3025045">
                <a:moveTo>
                  <a:pt x="0" y="0"/>
                </a:moveTo>
                <a:lnTo>
                  <a:pt x="3025045" y="0"/>
                </a:lnTo>
                <a:lnTo>
                  <a:pt x="3025045" y="1422416"/>
                </a:lnTo>
                <a:lnTo>
                  <a:pt x="0" y="1422416"/>
                </a:lnTo>
                <a:lnTo>
                  <a:pt x="0" y="0"/>
                </a:lnTo>
                <a:close/>
              </a:path>
            </a:pathLst>
          </a:custGeom>
          <a:blipFill rotWithShape="1">
            <a:blip r:embed="rId5">
              <a:alphaModFix/>
            </a:blip>
            <a:stretch>
              <a:fillRect b="-164" l="0" r="0" t="-1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10"/>
          <p:cNvSpPr/>
          <p:nvPr/>
        </p:nvSpPr>
        <p:spPr>
          <a:xfrm>
            <a:off x="0" y="0"/>
            <a:ext cx="3550310" cy="1322784"/>
          </a:xfrm>
          <a:custGeom>
            <a:rect b="b" l="l" r="r" t="t"/>
            <a:pathLst>
              <a:path extrusionOk="0" h="1322784" w="3550310">
                <a:moveTo>
                  <a:pt x="0" y="0"/>
                </a:moveTo>
                <a:lnTo>
                  <a:pt x="3550310" y="0"/>
                </a:lnTo>
                <a:lnTo>
                  <a:pt x="3550310" y="1322784"/>
                </a:lnTo>
                <a:lnTo>
                  <a:pt x="0" y="1322784"/>
                </a:lnTo>
                <a:lnTo>
                  <a:pt x="0" y="0"/>
                </a:lnTo>
                <a:close/>
              </a:path>
            </a:pathLst>
          </a:custGeom>
          <a:blipFill rotWithShape="1">
            <a:blip r:embed="rId6">
              <a:alphaModFix/>
            </a:blip>
            <a:stretch>
              <a:fillRect b="-272" l="0" r="0" t="-2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0"/>
          <p:cNvSpPr/>
          <p:nvPr/>
        </p:nvSpPr>
        <p:spPr>
          <a:xfrm>
            <a:off x="11101578" y="9560662"/>
            <a:ext cx="3169282" cy="726338"/>
          </a:xfrm>
          <a:custGeom>
            <a:rect b="b" l="l" r="r" t="t"/>
            <a:pathLst>
              <a:path extrusionOk="0" h="726338" w="3169282">
                <a:moveTo>
                  <a:pt x="0" y="0"/>
                </a:moveTo>
                <a:lnTo>
                  <a:pt x="3169282" y="0"/>
                </a:lnTo>
                <a:lnTo>
                  <a:pt x="3169282" y="726338"/>
                </a:lnTo>
                <a:lnTo>
                  <a:pt x="0" y="726338"/>
                </a:lnTo>
                <a:lnTo>
                  <a:pt x="0" y="0"/>
                </a:lnTo>
                <a:close/>
              </a:path>
            </a:pathLst>
          </a:custGeom>
          <a:blipFill rotWithShape="1">
            <a:blip r:embed="rId7">
              <a:alphaModFix/>
            </a:blip>
            <a:stretch>
              <a:fillRect b="0" l="-292" r="-29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0"/>
          <p:cNvSpPr/>
          <p:nvPr/>
        </p:nvSpPr>
        <p:spPr>
          <a:xfrm>
            <a:off x="9653626" y="0"/>
            <a:ext cx="5493058" cy="1076868"/>
          </a:xfrm>
          <a:custGeom>
            <a:rect b="b" l="l" r="r" t="t"/>
            <a:pathLst>
              <a:path extrusionOk="0" h="1076868" w="5493058">
                <a:moveTo>
                  <a:pt x="0" y="0"/>
                </a:moveTo>
                <a:lnTo>
                  <a:pt x="5493058" y="0"/>
                </a:lnTo>
                <a:lnTo>
                  <a:pt x="5493058" y="1076868"/>
                </a:lnTo>
                <a:lnTo>
                  <a:pt x="0" y="1076868"/>
                </a:lnTo>
                <a:lnTo>
                  <a:pt x="0" y="0"/>
                </a:lnTo>
                <a:close/>
              </a:path>
            </a:pathLst>
          </a:custGeom>
          <a:blipFill rotWithShape="1">
            <a:blip r:embed="rId8">
              <a:alphaModFix/>
            </a:blip>
            <a:stretch>
              <a:fillRect b="-788" l="0" r="0" t="-7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0"/>
          <p:cNvSpPr/>
          <p:nvPr/>
        </p:nvSpPr>
        <p:spPr>
          <a:xfrm>
            <a:off x="4732506" y="0"/>
            <a:ext cx="2919298" cy="1028700"/>
          </a:xfrm>
          <a:custGeom>
            <a:rect b="b" l="l" r="r" t="t"/>
            <a:pathLst>
              <a:path extrusionOk="0" h="1028700" w="2919298">
                <a:moveTo>
                  <a:pt x="0" y="0"/>
                </a:moveTo>
                <a:lnTo>
                  <a:pt x="2919298" y="0"/>
                </a:lnTo>
                <a:lnTo>
                  <a:pt x="2919298" y="1028700"/>
                </a:lnTo>
                <a:lnTo>
                  <a:pt x="0" y="1028700"/>
                </a:lnTo>
                <a:lnTo>
                  <a:pt x="0" y="0"/>
                </a:lnTo>
                <a:close/>
              </a:path>
            </a:pathLst>
          </a:custGeom>
          <a:blipFill rotWithShape="1">
            <a:blip r:embed="rId9">
              <a:alphaModFix/>
            </a:blip>
            <a:stretch>
              <a:fillRect b="-312" l="0" r="0" t="-31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0"/>
          <p:cNvSpPr/>
          <p:nvPr/>
        </p:nvSpPr>
        <p:spPr>
          <a:xfrm>
            <a:off x="2932281" y="9271806"/>
            <a:ext cx="2587019" cy="1015194"/>
          </a:xfrm>
          <a:custGeom>
            <a:rect b="b" l="l" r="r" t="t"/>
            <a:pathLst>
              <a:path extrusionOk="0" h="1015194" w="2587019">
                <a:moveTo>
                  <a:pt x="0" y="0"/>
                </a:moveTo>
                <a:lnTo>
                  <a:pt x="2587018" y="0"/>
                </a:lnTo>
                <a:lnTo>
                  <a:pt x="2587018" y="1015194"/>
                </a:lnTo>
                <a:lnTo>
                  <a:pt x="0" y="1015194"/>
                </a:lnTo>
                <a:lnTo>
                  <a:pt x="0" y="0"/>
                </a:lnTo>
                <a:close/>
              </a:path>
            </a:pathLst>
          </a:custGeom>
          <a:blipFill rotWithShape="1">
            <a:blip r:embed="rId10">
              <a:alphaModFix/>
            </a:blip>
            <a:stretch>
              <a:fillRect b="-965" l="0" r="0" t="-9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0"/>
          <p:cNvSpPr/>
          <p:nvPr/>
        </p:nvSpPr>
        <p:spPr>
          <a:xfrm>
            <a:off x="15262955" y="0"/>
            <a:ext cx="1996345" cy="1076868"/>
          </a:xfrm>
          <a:custGeom>
            <a:rect b="b" l="l" r="r" t="t"/>
            <a:pathLst>
              <a:path extrusionOk="0" h="1076868" w="1996345">
                <a:moveTo>
                  <a:pt x="0" y="0"/>
                </a:moveTo>
                <a:lnTo>
                  <a:pt x="1996345" y="0"/>
                </a:lnTo>
                <a:lnTo>
                  <a:pt x="1996345" y="1076868"/>
                </a:lnTo>
                <a:lnTo>
                  <a:pt x="0" y="1076868"/>
                </a:lnTo>
                <a:lnTo>
                  <a:pt x="0" y="0"/>
                </a:lnTo>
                <a:close/>
              </a:path>
            </a:pathLst>
          </a:custGeom>
          <a:blipFill rotWithShape="1">
            <a:blip r:embed="rId11">
              <a:alphaModFix/>
            </a:blip>
            <a:stretch>
              <a:fillRect b="-2287" l="0" r="0" t="-22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0"/>
          <p:cNvSpPr txBox="1"/>
          <p:nvPr/>
        </p:nvSpPr>
        <p:spPr>
          <a:xfrm>
            <a:off x="748994" y="1122731"/>
            <a:ext cx="16790012" cy="91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000">
                <a:solidFill>
                  <a:srgbClr val="000000"/>
                </a:solidFill>
                <a:latin typeface="Open Sans"/>
                <a:ea typeface="Open Sans"/>
                <a:cs typeface="Open Sans"/>
                <a:sym typeface="Open Sans"/>
              </a:rPr>
              <a:t>VERIFICAR INSTALACIÓN .NET SDK</a:t>
            </a:r>
            <a:endParaRPr/>
          </a:p>
        </p:txBody>
      </p:sp>
      <p:sp>
        <p:nvSpPr>
          <p:cNvPr id="209" name="Google Shape;209;p10"/>
          <p:cNvSpPr txBox="1"/>
          <p:nvPr/>
        </p:nvSpPr>
        <p:spPr>
          <a:xfrm>
            <a:off x="748994" y="2160651"/>
            <a:ext cx="16125472" cy="7429500"/>
          </a:xfrm>
          <a:prstGeom prst="rect">
            <a:avLst/>
          </a:prstGeom>
          <a:noFill/>
          <a:ln>
            <a:noFill/>
          </a:ln>
        </p:spPr>
        <p:txBody>
          <a:bodyPr anchorCtr="0" anchor="t" bIns="0" lIns="0" spcFirstLastPara="1" rIns="0" wrap="square" tIns="0">
            <a:spAutoFit/>
          </a:bodyPr>
          <a:lstStyle/>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Abrir una terminal (CMD o PowerShell).</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Verificar la instalación ejecutando:</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dotnet --version</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Si el comando dotnet no es reconocido:</a:t>
            </a:r>
            <a:endParaRPr/>
          </a:p>
          <a:p>
            <a:pPr indent="-546942" lvl="2" marL="1640825" marR="0" rtl="0" algn="just">
              <a:lnSpc>
                <a:spcPct val="120005"/>
              </a:lnSpc>
              <a:spcBef>
                <a:spcPts val="0"/>
              </a:spcBef>
              <a:spcAft>
                <a:spcPts val="0"/>
              </a:spcAft>
              <a:buClr>
                <a:srgbClr val="000000"/>
              </a:buClr>
              <a:buSzPts val="3799"/>
              <a:buFont typeface="Arial"/>
              <a:buChar char="⚬"/>
            </a:pPr>
            <a:r>
              <a:rPr b="0" i="0" lang="en-US" sz="3799" u="none" cap="none" strike="noStrike">
                <a:solidFill>
                  <a:srgbClr val="000000"/>
                </a:solidFill>
                <a:latin typeface="Open Sans"/>
                <a:ea typeface="Open Sans"/>
                <a:cs typeface="Open Sans"/>
                <a:sym typeface="Open Sans"/>
              </a:rPr>
              <a:t>Abrir Variables de entorno (Win + R → sysdm.cpl).</a:t>
            </a:r>
            <a:endParaRPr/>
          </a:p>
          <a:p>
            <a:pPr indent="-546942" lvl="2" marL="1640825" marR="0" rtl="0" algn="just">
              <a:lnSpc>
                <a:spcPct val="120005"/>
              </a:lnSpc>
              <a:spcBef>
                <a:spcPts val="0"/>
              </a:spcBef>
              <a:spcAft>
                <a:spcPts val="0"/>
              </a:spcAft>
              <a:buClr>
                <a:srgbClr val="000000"/>
              </a:buClr>
              <a:buSzPts val="3799"/>
              <a:buFont typeface="Arial"/>
              <a:buChar char="⚬"/>
            </a:pPr>
            <a:r>
              <a:rPr b="0" i="0" lang="en-US" sz="3799" u="none" cap="none" strike="noStrike">
                <a:solidFill>
                  <a:srgbClr val="000000"/>
                </a:solidFill>
                <a:latin typeface="Open Sans"/>
                <a:ea typeface="Open Sans"/>
                <a:cs typeface="Open Sans"/>
                <a:sym typeface="Open Sans"/>
              </a:rPr>
              <a:t>Ir a Opciones avanzadas → Variables de entorno.</a:t>
            </a:r>
            <a:endParaRPr/>
          </a:p>
          <a:p>
            <a:pPr indent="-546942" lvl="2" marL="1640825" marR="0" rtl="0" algn="just">
              <a:lnSpc>
                <a:spcPct val="120005"/>
              </a:lnSpc>
              <a:spcBef>
                <a:spcPts val="0"/>
              </a:spcBef>
              <a:spcAft>
                <a:spcPts val="0"/>
              </a:spcAft>
              <a:buClr>
                <a:srgbClr val="000000"/>
              </a:buClr>
              <a:buSzPts val="3799"/>
              <a:buFont typeface="Arial"/>
              <a:buChar char="⚬"/>
            </a:pPr>
            <a:r>
              <a:rPr b="0" i="0" lang="en-US" sz="3799" u="none" cap="none" strike="noStrike">
                <a:solidFill>
                  <a:srgbClr val="000000"/>
                </a:solidFill>
                <a:latin typeface="Open Sans"/>
                <a:ea typeface="Open Sans"/>
                <a:cs typeface="Open Sans"/>
                <a:sym typeface="Open Sans"/>
              </a:rPr>
              <a:t>En Variables del sistema, editar Path.</a:t>
            </a:r>
            <a:endParaRPr/>
          </a:p>
          <a:p>
            <a:pPr indent="-546942" lvl="2" marL="1640825" marR="0" rtl="0" algn="just">
              <a:lnSpc>
                <a:spcPct val="120005"/>
              </a:lnSpc>
              <a:spcBef>
                <a:spcPts val="0"/>
              </a:spcBef>
              <a:spcAft>
                <a:spcPts val="0"/>
              </a:spcAft>
              <a:buClr>
                <a:srgbClr val="000000"/>
              </a:buClr>
              <a:buSzPts val="3799"/>
              <a:buFont typeface="Arial"/>
              <a:buChar char="⚬"/>
            </a:pPr>
            <a:r>
              <a:rPr b="0" i="0" lang="en-US" sz="3799" u="none" cap="none" strike="noStrike">
                <a:solidFill>
                  <a:srgbClr val="000000"/>
                </a:solidFill>
                <a:latin typeface="Open Sans"/>
                <a:ea typeface="Open Sans"/>
                <a:cs typeface="Open Sans"/>
                <a:sym typeface="Open Sans"/>
              </a:rPr>
              <a:t>Verificar que exista la ruta:</a:t>
            </a:r>
            <a:endParaRPr/>
          </a:p>
          <a:p>
            <a:pPr indent="-546942" lvl="2" marL="1640825" marR="0" rtl="0" algn="just">
              <a:lnSpc>
                <a:spcPct val="120005"/>
              </a:lnSpc>
              <a:spcBef>
                <a:spcPts val="0"/>
              </a:spcBef>
              <a:spcAft>
                <a:spcPts val="0"/>
              </a:spcAft>
              <a:buClr>
                <a:srgbClr val="000000"/>
              </a:buClr>
              <a:buSzPts val="3799"/>
              <a:buFont typeface="Arial"/>
              <a:buChar char="⚬"/>
            </a:pPr>
            <a:r>
              <a:rPr b="0" i="0" lang="en-US" sz="3799" u="none" cap="none" strike="noStrike">
                <a:solidFill>
                  <a:srgbClr val="000000"/>
                </a:solidFill>
                <a:latin typeface="Open Sans"/>
                <a:ea typeface="Open Sans"/>
                <a:cs typeface="Open Sans"/>
                <a:sym typeface="Open Sans"/>
              </a:rPr>
              <a:t>C:\Program Files\dotnet\</a:t>
            </a:r>
            <a:endParaRPr/>
          </a:p>
          <a:p>
            <a:pPr indent="-546942" lvl="2" marL="1640825" marR="0" rtl="0" algn="just">
              <a:lnSpc>
                <a:spcPct val="120005"/>
              </a:lnSpc>
              <a:spcBef>
                <a:spcPts val="0"/>
              </a:spcBef>
              <a:spcAft>
                <a:spcPts val="0"/>
              </a:spcAft>
              <a:buClr>
                <a:srgbClr val="000000"/>
              </a:buClr>
              <a:buSzPts val="3799"/>
              <a:buFont typeface="Arial"/>
              <a:buChar char="⚬"/>
            </a:pPr>
            <a:r>
              <a:rPr b="0" i="0" lang="en-US" sz="3799" u="none" cap="none" strike="noStrike">
                <a:solidFill>
                  <a:srgbClr val="000000"/>
                </a:solidFill>
                <a:latin typeface="Open Sans"/>
                <a:ea typeface="Open Sans"/>
                <a:cs typeface="Open Sans"/>
                <a:sym typeface="Open Sans"/>
              </a:rPr>
              <a:t>Si no existe, agregarla.</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Guardar los cambios y cerrar todas las ventanas.</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Cerrar y volver a abrir la terminal o reiniciar el equipo.</a:t>
            </a:r>
            <a:endParaRPr/>
          </a:p>
          <a:p>
            <a:pPr indent="0" lvl="0" marL="0" marR="0" rtl="0" algn="just">
              <a:lnSpc>
                <a:spcPct val="120005"/>
              </a:lnSpc>
              <a:spcBef>
                <a:spcPts val="0"/>
              </a:spcBef>
              <a:spcAft>
                <a:spcPts val="0"/>
              </a:spcAft>
              <a:buNone/>
            </a:pPr>
            <a:r>
              <a:t/>
            </a:r>
            <a:endParaRPr sz="3799">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1"/>
          <p:cNvSpPr/>
          <p:nvPr/>
        </p:nvSpPr>
        <p:spPr>
          <a:xfrm>
            <a:off x="0" y="8893302"/>
            <a:ext cx="2478091" cy="1393698"/>
          </a:xfrm>
          <a:custGeom>
            <a:rect b="b" l="l" r="r" t="t"/>
            <a:pathLst>
              <a:path extrusionOk="0" h="1393698" w="2478091">
                <a:moveTo>
                  <a:pt x="0" y="0"/>
                </a:moveTo>
                <a:lnTo>
                  <a:pt x="2478091" y="0"/>
                </a:lnTo>
                <a:lnTo>
                  <a:pt x="2478091" y="1393698"/>
                </a:lnTo>
                <a:lnTo>
                  <a:pt x="0" y="1393698"/>
                </a:lnTo>
                <a:lnTo>
                  <a:pt x="0" y="0"/>
                </a:lnTo>
                <a:close/>
              </a:path>
            </a:pathLst>
          </a:custGeom>
          <a:blipFill rotWithShape="1">
            <a:blip r:embed="rId4">
              <a:alphaModFix/>
            </a:blip>
            <a:stretch>
              <a:fillRect b="-55" l="0" r="0" t="-5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11"/>
          <p:cNvSpPr/>
          <p:nvPr/>
        </p:nvSpPr>
        <p:spPr>
          <a:xfrm>
            <a:off x="15262955" y="8864584"/>
            <a:ext cx="3025045" cy="1422416"/>
          </a:xfrm>
          <a:custGeom>
            <a:rect b="b" l="l" r="r" t="t"/>
            <a:pathLst>
              <a:path extrusionOk="0" h="1422416" w="3025045">
                <a:moveTo>
                  <a:pt x="0" y="0"/>
                </a:moveTo>
                <a:lnTo>
                  <a:pt x="3025045" y="0"/>
                </a:lnTo>
                <a:lnTo>
                  <a:pt x="3025045" y="1422416"/>
                </a:lnTo>
                <a:lnTo>
                  <a:pt x="0" y="1422416"/>
                </a:lnTo>
                <a:lnTo>
                  <a:pt x="0" y="0"/>
                </a:lnTo>
                <a:close/>
              </a:path>
            </a:pathLst>
          </a:custGeom>
          <a:blipFill rotWithShape="1">
            <a:blip r:embed="rId5">
              <a:alphaModFix/>
            </a:blip>
            <a:stretch>
              <a:fillRect b="-164" l="0" r="0" t="-1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1"/>
          <p:cNvSpPr/>
          <p:nvPr/>
        </p:nvSpPr>
        <p:spPr>
          <a:xfrm>
            <a:off x="0" y="0"/>
            <a:ext cx="3550310" cy="1322784"/>
          </a:xfrm>
          <a:custGeom>
            <a:rect b="b" l="l" r="r" t="t"/>
            <a:pathLst>
              <a:path extrusionOk="0" h="1322784" w="3550310">
                <a:moveTo>
                  <a:pt x="0" y="0"/>
                </a:moveTo>
                <a:lnTo>
                  <a:pt x="3550310" y="0"/>
                </a:lnTo>
                <a:lnTo>
                  <a:pt x="3550310" y="1322784"/>
                </a:lnTo>
                <a:lnTo>
                  <a:pt x="0" y="1322784"/>
                </a:lnTo>
                <a:lnTo>
                  <a:pt x="0" y="0"/>
                </a:lnTo>
                <a:close/>
              </a:path>
            </a:pathLst>
          </a:custGeom>
          <a:blipFill rotWithShape="1">
            <a:blip r:embed="rId6">
              <a:alphaModFix/>
            </a:blip>
            <a:stretch>
              <a:fillRect b="-272" l="0" r="0" t="-2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1"/>
          <p:cNvSpPr/>
          <p:nvPr/>
        </p:nvSpPr>
        <p:spPr>
          <a:xfrm>
            <a:off x="11101578" y="9560662"/>
            <a:ext cx="3169282" cy="726338"/>
          </a:xfrm>
          <a:custGeom>
            <a:rect b="b" l="l" r="r" t="t"/>
            <a:pathLst>
              <a:path extrusionOk="0" h="726338" w="3169282">
                <a:moveTo>
                  <a:pt x="0" y="0"/>
                </a:moveTo>
                <a:lnTo>
                  <a:pt x="3169282" y="0"/>
                </a:lnTo>
                <a:lnTo>
                  <a:pt x="3169282" y="726338"/>
                </a:lnTo>
                <a:lnTo>
                  <a:pt x="0" y="726338"/>
                </a:lnTo>
                <a:lnTo>
                  <a:pt x="0" y="0"/>
                </a:lnTo>
                <a:close/>
              </a:path>
            </a:pathLst>
          </a:custGeom>
          <a:blipFill rotWithShape="1">
            <a:blip r:embed="rId7">
              <a:alphaModFix/>
            </a:blip>
            <a:stretch>
              <a:fillRect b="0" l="-292" r="-29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1"/>
          <p:cNvSpPr/>
          <p:nvPr/>
        </p:nvSpPr>
        <p:spPr>
          <a:xfrm>
            <a:off x="9653626" y="0"/>
            <a:ext cx="5493058" cy="1076868"/>
          </a:xfrm>
          <a:custGeom>
            <a:rect b="b" l="l" r="r" t="t"/>
            <a:pathLst>
              <a:path extrusionOk="0" h="1076868" w="5493058">
                <a:moveTo>
                  <a:pt x="0" y="0"/>
                </a:moveTo>
                <a:lnTo>
                  <a:pt x="5493058" y="0"/>
                </a:lnTo>
                <a:lnTo>
                  <a:pt x="5493058" y="1076868"/>
                </a:lnTo>
                <a:lnTo>
                  <a:pt x="0" y="1076868"/>
                </a:lnTo>
                <a:lnTo>
                  <a:pt x="0" y="0"/>
                </a:lnTo>
                <a:close/>
              </a:path>
            </a:pathLst>
          </a:custGeom>
          <a:blipFill rotWithShape="1">
            <a:blip r:embed="rId8">
              <a:alphaModFix/>
            </a:blip>
            <a:stretch>
              <a:fillRect b="-788" l="0" r="0" t="-7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1"/>
          <p:cNvSpPr/>
          <p:nvPr/>
        </p:nvSpPr>
        <p:spPr>
          <a:xfrm>
            <a:off x="4732506" y="0"/>
            <a:ext cx="2919298" cy="1028700"/>
          </a:xfrm>
          <a:custGeom>
            <a:rect b="b" l="l" r="r" t="t"/>
            <a:pathLst>
              <a:path extrusionOk="0" h="1028700" w="2919298">
                <a:moveTo>
                  <a:pt x="0" y="0"/>
                </a:moveTo>
                <a:lnTo>
                  <a:pt x="2919298" y="0"/>
                </a:lnTo>
                <a:lnTo>
                  <a:pt x="2919298" y="1028700"/>
                </a:lnTo>
                <a:lnTo>
                  <a:pt x="0" y="1028700"/>
                </a:lnTo>
                <a:lnTo>
                  <a:pt x="0" y="0"/>
                </a:lnTo>
                <a:close/>
              </a:path>
            </a:pathLst>
          </a:custGeom>
          <a:blipFill rotWithShape="1">
            <a:blip r:embed="rId9">
              <a:alphaModFix/>
            </a:blip>
            <a:stretch>
              <a:fillRect b="-312" l="0" r="0" t="-31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1"/>
          <p:cNvSpPr/>
          <p:nvPr/>
        </p:nvSpPr>
        <p:spPr>
          <a:xfrm>
            <a:off x="2932281" y="9271806"/>
            <a:ext cx="2587019" cy="1015194"/>
          </a:xfrm>
          <a:custGeom>
            <a:rect b="b" l="l" r="r" t="t"/>
            <a:pathLst>
              <a:path extrusionOk="0" h="1015194" w="2587019">
                <a:moveTo>
                  <a:pt x="0" y="0"/>
                </a:moveTo>
                <a:lnTo>
                  <a:pt x="2587018" y="0"/>
                </a:lnTo>
                <a:lnTo>
                  <a:pt x="2587018" y="1015194"/>
                </a:lnTo>
                <a:lnTo>
                  <a:pt x="0" y="1015194"/>
                </a:lnTo>
                <a:lnTo>
                  <a:pt x="0" y="0"/>
                </a:lnTo>
                <a:close/>
              </a:path>
            </a:pathLst>
          </a:custGeom>
          <a:blipFill rotWithShape="1">
            <a:blip r:embed="rId10">
              <a:alphaModFix/>
            </a:blip>
            <a:stretch>
              <a:fillRect b="-965" l="0" r="0" t="-9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1"/>
          <p:cNvSpPr/>
          <p:nvPr/>
        </p:nvSpPr>
        <p:spPr>
          <a:xfrm>
            <a:off x="15262955" y="0"/>
            <a:ext cx="1996345" cy="1076868"/>
          </a:xfrm>
          <a:custGeom>
            <a:rect b="b" l="l" r="r" t="t"/>
            <a:pathLst>
              <a:path extrusionOk="0" h="1076868" w="1996345">
                <a:moveTo>
                  <a:pt x="0" y="0"/>
                </a:moveTo>
                <a:lnTo>
                  <a:pt x="1996345" y="0"/>
                </a:lnTo>
                <a:lnTo>
                  <a:pt x="1996345" y="1076868"/>
                </a:lnTo>
                <a:lnTo>
                  <a:pt x="0" y="1076868"/>
                </a:lnTo>
                <a:lnTo>
                  <a:pt x="0" y="0"/>
                </a:lnTo>
                <a:close/>
              </a:path>
            </a:pathLst>
          </a:custGeom>
          <a:blipFill rotWithShape="1">
            <a:blip r:embed="rId11">
              <a:alphaModFix/>
            </a:blip>
            <a:stretch>
              <a:fillRect b="-2287" l="0" r="0" t="-22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1"/>
          <p:cNvSpPr/>
          <p:nvPr/>
        </p:nvSpPr>
        <p:spPr>
          <a:xfrm>
            <a:off x="4845833" y="4576374"/>
            <a:ext cx="8596333" cy="4836870"/>
          </a:xfrm>
          <a:custGeom>
            <a:rect b="b" l="l" r="r" t="t"/>
            <a:pathLst>
              <a:path extrusionOk="0" h="4836870" w="8596333">
                <a:moveTo>
                  <a:pt x="0" y="0"/>
                </a:moveTo>
                <a:lnTo>
                  <a:pt x="8596334" y="0"/>
                </a:lnTo>
                <a:lnTo>
                  <a:pt x="8596334" y="4836870"/>
                </a:lnTo>
                <a:lnTo>
                  <a:pt x="0" y="4836870"/>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1"/>
          <p:cNvSpPr txBox="1"/>
          <p:nvPr/>
        </p:nvSpPr>
        <p:spPr>
          <a:xfrm>
            <a:off x="1466140" y="2081484"/>
            <a:ext cx="15355719" cy="20574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6799">
                <a:solidFill>
                  <a:srgbClr val="000000"/>
                </a:solidFill>
                <a:latin typeface="Open Sans"/>
                <a:ea typeface="Open Sans"/>
                <a:cs typeface="Open Sans"/>
                <a:sym typeface="Open Sans"/>
              </a:rPr>
              <a:t>¿Y ahora ya podemos empezar a programar en 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2"/>
          <p:cNvSpPr txBox="1"/>
          <p:nvPr/>
        </p:nvSpPr>
        <p:spPr>
          <a:xfrm>
            <a:off x="1661170" y="2361505"/>
            <a:ext cx="11469291" cy="1066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7000">
                <a:solidFill>
                  <a:srgbClr val="000000"/>
                </a:solidFill>
                <a:latin typeface="Open Sans"/>
                <a:ea typeface="Open Sans"/>
                <a:cs typeface="Open Sans"/>
                <a:sym typeface="Open Sans"/>
              </a:rPr>
              <a:t>ENTORNOS DE DESARROLLO</a:t>
            </a:r>
            <a:endParaRPr/>
          </a:p>
        </p:txBody>
      </p:sp>
      <p:sp>
        <p:nvSpPr>
          <p:cNvPr id="231" name="Google Shape;231;p12"/>
          <p:cNvSpPr txBox="1"/>
          <p:nvPr/>
        </p:nvSpPr>
        <p:spPr>
          <a:xfrm>
            <a:off x="1661170" y="3604117"/>
            <a:ext cx="14936467" cy="4831080"/>
          </a:xfrm>
          <a:prstGeom prst="rect">
            <a:avLst/>
          </a:prstGeom>
          <a:noFill/>
          <a:ln>
            <a:noFill/>
          </a:ln>
        </p:spPr>
        <p:txBody>
          <a:bodyPr anchorCtr="0" anchor="t" bIns="0" lIns="0" spcFirstLastPara="1" rIns="0" wrap="square" tIns="0">
            <a:spAutoFit/>
          </a:bodyPr>
          <a:lstStyle/>
          <a:p>
            <a:pPr indent="0" lvl="0" marL="0" marR="0" rtl="0" algn="just">
              <a:lnSpc>
                <a:spcPct val="162020"/>
              </a:lnSpc>
              <a:spcBef>
                <a:spcPts val="0"/>
              </a:spcBef>
              <a:spcAft>
                <a:spcPts val="0"/>
              </a:spcAft>
              <a:buNone/>
            </a:pPr>
            <a:r>
              <a:rPr lang="en-US" sz="2999">
                <a:solidFill>
                  <a:srgbClr val="000000"/>
                </a:solidFill>
                <a:latin typeface="Open Sans"/>
                <a:ea typeface="Open Sans"/>
                <a:cs typeface="Open Sans"/>
                <a:sym typeface="Open Sans"/>
              </a:rPr>
              <a:t>Un entorno de desarrollo es un conjunto de herramientas, procedimientos y recursos que los desarrolladores  utilizan  para  crear,  probar  y  depurar  software.  Incluye  componentes  como editores de texto, compiladores, depuradores, sistemas de control de versiones, y otros recursos necesarios  para  el  desarrollo  de  código  fuente  o  programas.  Además,  puede  referirse específicamente a un entorno de desarrollo integrado (IDE), que es una aplicación de software que combina muchas de estas herramientas en una interfaz unificada para facilitar el proceso de desarrollo de software.</a:t>
            </a:r>
            <a:endParaRPr/>
          </a:p>
        </p:txBody>
      </p:sp>
      <p:sp>
        <p:nvSpPr>
          <p:cNvPr id="232" name="Google Shape;232;p12"/>
          <p:cNvSpPr/>
          <p:nvPr/>
        </p:nvSpPr>
        <p:spPr>
          <a:xfrm>
            <a:off x="5847045" y="9882378"/>
            <a:ext cx="3296955" cy="404622"/>
          </a:xfrm>
          <a:custGeom>
            <a:rect b="b" l="l" r="r" t="t"/>
            <a:pathLst>
              <a:path extrusionOk="0" h="404622" w="3296955">
                <a:moveTo>
                  <a:pt x="0" y="0"/>
                </a:moveTo>
                <a:lnTo>
                  <a:pt x="3296955" y="0"/>
                </a:lnTo>
                <a:lnTo>
                  <a:pt x="3296955" y="404622"/>
                </a:lnTo>
                <a:lnTo>
                  <a:pt x="0" y="404622"/>
                </a:lnTo>
                <a:lnTo>
                  <a:pt x="0" y="0"/>
                </a:lnTo>
                <a:close/>
              </a:path>
            </a:pathLst>
          </a:custGeom>
          <a:blipFill rotWithShape="1">
            <a:blip r:embed="rId4">
              <a:alphaModFix/>
            </a:blip>
            <a:stretch>
              <a:fillRect b="-277" l="0" r="0" t="-27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2"/>
          <p:cNvSpPr/>
          <p:nvPr/>
        </p:nvSpPr>
        <p:spPr>
          <a:xfrm>
            <a:off x="0" y="0"/>
            <a:ext cx="4136546" cy="1534297"/>
          </a:xfrm>
          <a:custGeom>
            <a:rect b="b" l="l" r="r" t="t"/>
            <a:pathLst>
              <a:path extrusionOk="0" h="1534297" w="4136546">
                <a:moveTo>
                  <a:pt x="0" y="0"/>
                </a:moveTo>
                <a:lnTo>
                  <a:pt x="4136546" y="0"/>
                </a:lnTo>
                <a:lnTo>
                  <a:pt x="4136546" y="1534297"/>
                </a:lnTo>
                <a:lnTo>
                  <a:pt x="0" y="1534297"/>
                </a:lnTo>
                <a:lnTo>
                  <a:pt x="0" y="0"/>
                </a:lnTo>
                <a:close/>
              </a:path>
            </a:pathLst>
          </a:custGeom>
          <a:blipFill rotWithShape="1">
            <a:blip r:embed="rId5">
              <a:alphaModFix/>
            </a:blip>
            <a:stretch>
              <a:fillRect b="-342" l="0" r="0" t="-3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2"/>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6">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2"/>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7">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12"/>
          <p:cNvSpPr/>
          <p:nvPr/>
        </p:nvSpPr>
        <p:spPr>
          <a:xfrm>
            <a:off x="12801533" y="0"/>
            <a:ext cx="4292422" cy="817007"/>
          </a:xfrm>
          <a:custGeom>
            <a:rect b="b" l="l" r="r" t="t"/>
            <a:pathLst>
              <a:path extrusionOk="0" h="817007" w="4292422">
                <a:moveTo>
                  <a:pt x="0" y="0"/>
                </a:moveTo>
                <a:lnTo>
                  <a:pt x="4292423" y="0"/>
                </a:lnTo>
                <a:lnTo>
                  <a:pt x="4292423" y="817007"/>
                </a:lnTo>
                <a:lnTo>
                  <a:pt x="0" y="817007"/>
                </a:lnTo>
                <a:lnTo>
                  <a:pt x="0" y="0"/>
                </a:lnTo>
                <a:close/>
              </a:path>
            </a:pathLst>
          </a:custGeom>
          <a:blipFill rotWithShape="1">
            <a:blip r:embed="rId8">
              <a:alphaModFix/>
            </a:blip>
            <a:stretch>
              <a:fillRect b="-1465" l="0" r="0" t="-14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2"/>
          <p:cNvSpPr/>
          <p:nvPr/>
        </p:nvSpPr>
        <p:spPr>
          <a:xfrm>
            <a:off x="7495518" y="0"/>
            <a:ext cx="5493058" cy="817007"/>
          </a:xfrm>
          <a:custGeom>
            <a:rect b="b" l="l" r="r" t="t"/>
            <a:pathLst>
              <a:path extrusionOk="0" h="817007" w="5493058">
                <a:moveTo>
                  <a:pt x="0" y="0"/>
                </a:moveTo>
                <a:lnTo>
                  <a:pt x="5493058" y="0"/>
                </a:lnTo>
                <a:lnTo>
                  <a:pt x="5493058" y="817007"/>
                </a:lnTo>
                <a:lnTo>
                  <a:pt x="0" y="817007"/>
                </a:lnTo>
                <a:lnTo>
                  <a:pt x="0" y="0"/>
                </a:lnTo>
                <a:close/>
              </a:path>
            </a:pathLst>
          </a:custGeom>
          <a:blipFill rotWithShape="1">
            <a:blip r:embed="rId9">
              <a:alphaModFix/>
            </a:blip>
            <a:stretch>
              <a:fillRect b="-935" l="0" r="0" t="-9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2"/>
          <p:cNvSpPr/>
          <p:nvPr/>
        </p:nvSpPr>
        <p:spPr>
          <a:xfrm>
            <a:off x="4861150" y="0"/>
            <a:ext cx="2892762" cy="817007"/>
          </a:xfrm>
          <a:custGeom>
            <a:rect b="b" l="l" r="r" t="t"/>
            <a:pathLst>
              <a:path extrusionOk="0" h="817007" w="2892762">
                <a:moveTo>
                  <a:pt x="0" y="0"/>
                </a:moveTo>
                <a:lnTo>
                  <a:pt x="2892762" y="0"/>
                </a:lnTo>
                <a:lnTo>
                  <a:pt x="2892762" y="817007"/>
                </a:lnTo>
                <a:lnTo>
                  <a:pt x="0" y="817007"/>
                </a:lnTo>
                <a:lnTo>
                  <a:pt x="0" y="0"/>
                </a:lnTo>
                <a:close/>
              </a:path>
            </a:pathLst>
          </a:custGeom>
          <a:blipFill rotWithShape="1">
            <a:blip r:embed="rId10">
              <a:alphaModFix/>
            </a:blip>
            <a:stretch>
              <a:fillRect b="-225" l="0" r="0" t="-22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2"/>
          <p:cNvSpPr/>
          <p:nvPr/>
        </p:nvSpPr>
        <p:spPr>
          <a:xfrm>
            <a:off x="0" y="9017984"/>
            <a:ext cx="2570550" cy="1269016"/>
          </a:xfrm>
          <a:custGeom>
            <a:rect b="b" l="l" r="r" t="t"/>
            <a:pathLst>
              <a:path extrusionOk="0" h="1269016" w="2570550">
                <a:moveTo>
                  <a:pt x="0" y="0"/>
                </a:moveTo>
                <a:lnTo>
                  <a:pt x="2570550" y="0"/>
                </a:lnTo>
                <a:lnTo>
                  <a:pt x="2570550" y="1269016"/>
                </a:lnTo>
                <a:lnTo>
                  <a:pt x="0" y="1269016"/>
                </a:lnTo>
                <a:lnTo>
                  <a:pt x="0" y="0"/>
                </a:lnTo>
                <a:close/>
              </a:path>
            </a:pathLst>
          </a:custGeom>
          <a:blipFill rotWithShape="1">
            <a:blip r:embed="rId11">
              <a:alphaModFix/>
            </a:blip>
            <a:stretch>
              <a:fillRect b="0" l="-100" r="-10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2"/>
          <p:cNvSpPr/>
          <p:nvPr/>
        </p:nvSpPr>
        <p:spPr>
          <a:xfrm>
            <a:off x="2570550" y="9496825"/>
            <a:ext cx="2587019" cy="790175"/>
          </a:xfrm>
          <a:custGeom>
            <a:rect b="b" l="l" r="r" t="t"/>
            <a:pathLst>
              <a:path extrusionOk="0" h="790175" w="2587019">
                <a:moveTo>
                  <a:pt x="0" y="0"/>
                </a:moveTo>
                <a:lnTo>
                  <a:pt x="2587018" y="0"/>
                </a:lnTo>
                <a:lnTo>
                  <a:pt x="2587018" y="790175"/>
                </a:lnTo>
                <a:lnTo>
                  <a:pt x="0" y="790175"/>
                </a:lnTo>
                <a:lnTo>
                  <a:pt x="0" y="0"/>
                </a:lnTo>
                <a:close/>
              </a:path>
            </a:pathLst>
          </a:custGeom>
          <a:blipFill rotWithShape="1">
            <a:blip r:embed="rId12">
              <a:alphaModFix/>
            </a:blip>
            <a:stretch>
              <a:fillRect b="-368" l="0" r="0" t="-36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2"/>
          <p:cNvSpPr/>
          <p:nvPr/>
        </p:nvSpPr>
        <p:spPr>
          <a:xfrm>
            <a:off x="14494774" y="9017984"/>
            <a:ext cx="3793226" cy="1269016"/>
          </a:xfrm>
          <a:custGeom>
            <a:rect b="b" l="l" r="r" t="t"/>
            <a:pathLst>
              <a:path extrusionOk="0" h="1269016" w="3793226">
                <a:moveTo>
                  <a:pt x="0" y="0"/>
                </a:moveTo>
                <a:lnTo>
                  <a:pt x="3793226" y="0"/>
                </a:lnTo>
                <a:lnTo>
                  <a:pt x="3793226" y="1269016"/>
                </a:lnTo>
                <a:lnTo>
                  <a:pt x="0" y="1269016"/>
                </a:lnTo>
                <a:lnTo>
                  <a:pt x="0" y="0"/>
                </a:lnTo>
                <a:close/>
              </a:path>
            </a:pathLst>
          </a:custGeom>
          <a:blipFill rotWithShape="1">
            <a:blip r:embed="rId13">
              <a:alphaModFix/>
            </a:blip>
            <a:stretch>
              <a:fillRect b="0" l="-54" r="-5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2"/>
          <p:cNvSpPr/>
          <p:nvPr/>
        </p:nvSpPr>
        <p:spPr>
          <a:xfrm>
            <a:off x="17494806" y="2371030"/>
            <a:ext cx="793185" cy="3575542"/>
          </a:xfrm>
          <a:custGeom>
            <a:rect b="b" l="l" r="r" t="t"/>
            <a:pathLst>
              <a:path extrusionOk="0" h="3575542" w="793185">
                <a:moveTo>
                  <a:pt x="0" y="0"/>
                </a:moveTo>
                <a:lnTo>
                  <a:pt x="793184" y="0"/>
                </a:lnTo>
                <a:lnTo>
                  <a:pt x="793184" y="3575542"/>
                </a:lnTo>
                <a:lnTo>
                  <a:pt x="0" y="3575542"/>
                </a:lnTo>
                <a:lnTo>
                  <a:pt x="0" y="0"/>
                </a:lnTo>
                <a:close/>
              </a:path>
            </a:pathLst>
          </a:custGeom>
          <a:blipFill rotWithShape="1">
            <a:blip r:embed="rId14">
              <a:alphaModFix/>
            </a:blip>
            <a:stretch>
              <a:fillRect b="0" l="-127" r="-12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2"/>
          <p:cNvSpPr/>
          <p:nvPr/>
        </p:nvSpPr>
        <p:spPr>
          <a:xfrm>
            <a:off x="17653387" y="5837882"/>
            <a:ext cx="634613" cy="3402692"/>
          </a:xfrm>
          <a:custGeom>
            <a:rect b="b" l="l" r="r" t="t"/>
            <a:pathLst>
              <a:path extrusionOk="0" h="3402692" w="634613">
                <a:moveTo>
                  <a:pt x="0" y="0"/>
                </a:moveTo>
                <a:lnTo>
                  <a:pt x="634613" y="0"/>
                </a:lnTo>
                <a:lnTo>
                  <a:pt x="634613" y="3402692"/>
                </a:lnTo>
                <a:lnTo>
                  <a:pt x="0" y="3402692"/>
                </a:lnTo>
                <a:lnTo>
                  <a:pt x="0" y="0"/>
                </a:lnTo>
                <a:close/>
              </a:path>
            </a:pathLst>
          </a:custGeom>
          <a:blipFill rotWithShape="1">
            <a:blip r:embed="rId15">
              <a:alphaModFix/>
            </a:blip>
            <a:stretch>
              <a:fillRect b="-122" l="0" r="0" t="-12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2"/>
          <p:cNvSpPr/>
          <p:nvPr/>
        </p:nvSpPr>
        <p:spPr>
          <a:xfrm>
            <a:off x="17259300" y="0"/>
            <a:ext cx="1028700" cy="2371030"/>
          </a:xfrm>
          <a:custGeom>
            <a:rect b="b" l="l" r="r" t="t"/>
            <a:pathLst>
              <a:path extrusionOk="0" h="2371030" w="1028700">
                <a:moveTo>
                  <a:pt x="0" y="0"/>
                </a:moveTo>
                <a:lnTo>
                  <a:pt x="1028700" y="0"/>
                </a:lnTo>
                <a:lnTo>
                  <a:pt x="1028700" y="2371030"/>
                </a:lnTo>
                <a:lnTo>
                  <a:pt x="0" y="2371030"/>
                </a:lnTo>
                <a:lnTo>
                  <a:pt x="0" y="0"/>
                </a:lnTo>
                <a:close/>
              </a:path>
            </a:pathLst>
          </a:custGeom>
          <a:blipFill rotWithShape="1">
            <a:blip r:embed="rId16">
              <a:alphaModFix/>
            </a:blip>
            <a:stretch>
              <a:fillRect b="-1729" l="0" r="0" t="-1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3"/>
          <p:cNvSpPr/>
          <p:nvPr/>
        </p:nvSpPr>
        <p:spPr>
          <a:xfrm>
            <a:off x="1905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3"/>
          <p:cNvSpPr/>
          <p:nvPr/>
        </p:nvSpPr>
        <p:spPr>
          <a:xfrm>
            <a:off x="1009651" y="1488629"/>
            <a:ext cx="5076188" cy="3597908"/>
          </a:xfrm>
          <a:custGeom>
            <a:rect b="b" l="l" r="r" t="t"/>
            <a:pathLst>
              <a:path extrusionOk="0" h="3597908" w="5076188">
                <a:moveTo>
                  <a:pt x="0" y="0"/>
                </a:moveTo>
                <a:lnTo>
                  <a:pt x="5076188" y="0"/>
                </a:lnTo>
                <a:lnTo>
                  <a:pt x="5076188" y="3597908"/>
                </a:lnTo>
                <a:lnTo>
                  <a:pt x="0" y="35979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3"/>
          <p:cNvSpPr/>
          <p:nvPr/>
        </p:nvSpPr>
        <p:spPr>
          <a:xfrm>
            <a:off x="12102093" y="5503367"/>
            <a:ext cx="5076188" cy="3597908"/>
          </a:xfrm>
          <a:custGeom>
            <a:rect b="b" l="l" r="r" t="t"/>
            <a:pathLst>
              <a:path extrusionOk="0" h="3597908" w="5076188">
                <a:moveTo>
                  <a:pt x="0" y="0"/>
                </a:moveTo>
                <a:lnTo>
                  <a:pt x="5076188" y="0"/>
                </a:lnTo>
                <a:lnTo>
                  <a:pt x="5076188" y="3597908"/>
                </a:lnTo>
                <a:lnTo>
                  <a:pt x="0" y="35979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3"/>
          <p:cNvSpPr/>
          <p:nvPr/>
        </p:nvSpPr>
        <p:spPr>
          <a:xfrm>
            <a:off x="6605913" y="3183177"/>
            <a:ext cx="5076188" cy="3597908"/>
          </a:xfrm>
          <a:custGeom>
            <a:rect b="b" l="l" r="r" t="t"/>
            <a:pathLst>
              <a:path extrusionOk="0" h="3597908" w="5076188">
                <a:moveTo>
                  <a:pt x="0" y="0"/>
                </a:moveTo>
                <a:lnTo>
                  <a:pt x="5076188" y="0"/>
                </a:lnTo>
                <a:lnTo>
                  <a:pt x="5076188" y="3597908"/>
                </a:lnTo>
                <a:lnTo>
                  <a:pt x="0" y="35979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3"/>
          <p:cNvSpPr/>
          <p:nvPr/>
        </p:nvSpPr>
        <p:spPr>
          <a:xfrm>
            <a:off x="1009651" y="1242775"/>
            <a:ext cx="5076188" cy="707388"/>
          </a:xfrm>
          <a:custGeom>
            <a:rect b="b" l="l" r="r" t="t"/>
            <a:pathLst>
              <a:path extrusionOk="0" h="707388" w="5076188">
                <a:moveTo>
                  <a:pt x="0" y="0"/>
                </a:moveTo>
                <a:lnTo>
                  <a:pt x="5076188" y="0"/>
                </a:lnTo>
                <a:lnTo>
                  <a:pt x="5076188" y="707388"/>
                </a:lnTo>
                <a:lnTo>
                  <a:pt x="0" y="70738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3"/>
          <p:cNvSpPr/>
          <p:nvPr/>
        </p:nvSpPr>
        <p:spPr>
          <a:xfrm>
            <a:off x="12102093" y="5503367"/>
            <a:ext cx="5076188" cy="707388"/>
          </a:xfrm>
          <a:custGeom>
            <a:rect b="b" l="l" r="r" t="t"/>
            <a:pathLst>
              <a:path extrusionOk="0" h="707388" w="5076188">
                <a:moveTo>
                  <a:pt x="0" y="0"/>
                </a:moveTo>
                <a:lnTo>
                  <a:pt x="5076188" y="0"/>
                </a:lnTo>
                <a:lnTo>
                  <a:pt x="5076188" y="707388"/>
                </a:lnTo>
                <a:lnTo>
                  <a:pt x="0" y="70738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3"/>
          <p:cNvSpPr/>
          <p:nvPr/>
        </p:nvSpPr>
        <p:spPr>
          <a:xfrm>
            <a:off x="6605913" y="3183177"/>
            <a:ext cx="5076188" cy="707388"/>
          </a:xfrm>
          <a:custGeom>
            <a:rect b="b" l="l" r="r" t="t"/>
            <a:pathLst>
              <a:path extrusionOk="0" h="707388" w="5076188">
                <a:moveTo>
                  <a:pt x="0" y="0"/>
                </a:moveTo>
                <a:lnTo>
                  <a:pt x="5076188" y="0"/>
                </a:lnTo>
                <a:lnTo>
                  <a:pt x="5076188" y="707388"/>
                </a:lnTo>
                <a:lnTo>
                  <a:pt x="0" y="70738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3"/>
          <p:cNvSpPr/>
          <p:nvPr/>
        </p:nvSpPr>
        <p:spPr>
          <a:xfrm>
            <a:off x="14827996" y="0"/>
            <a:ext cx="3460004" cy="1766030"/>
          </a:xfrm>
          <a:custGeom>
            <a:rect b="b" l="l" r="r" t="t"/>
            <a:pathLst>
              <a:path extrusionOk="0" h="1766030" w="3460004">
                <a:moveTo>
                  <a:pt x="0" y="0"/>
                </a:moveTo>
                <a:lnTo>
                  <a:pt x="3460004" y="0"/>
                </a:lnTo>
                <a:lnTo>
                  <a:pt x="3460004" y="1766030"/>
                </a:lnTo>
                <a:lnTo>
                  <a:pt x="0" y="1766030"/>
                </a:lnTo>
                <a:lnTo>
                  <a:pt x="0" y="0"/>
                </a:lnTo>
                <a:close/>
              </a:path>
            </a:pathLst>
          </a:custGeom>
          <a:blipFill rotWithShape="1">
            <a:blip r:embed="rId6">
              <a:alphaModFix/>
            </a:blip>
            <a:stretch>
              <a:fillRect b="-222" l="0" r="0" t="-22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3"/>
          <p:cNvSpPr/>
          <p:nvPr/>
        </p:nvSpPr>
        <p:spPr>
          <a:xfrm>
            <a:off x="4580296" y="0"/>
            <a:ext cx="4224471" cy="1028700"/>
          </a:xfrm>
          <a:custGeom>
            <a:rect b="b" l="l" r="r" t="t"/>
            <a:pathLst>
              <a:path extrusionOk="0" h="1028700" w="4224471">
                <a:moveTo>
                  <a:pt x="0" y="0"/>
                </a:moveTo>
                <a:lnTo>
                  <a:pt x="4224471" y="0"/>
                </a:lnTo>
                <a:lnTo>
                  <a:pt x="4224471" y="1028700"/>
                </a:lnTo>
                <a:lnTo>
                  <a:pt x="0" y="1028700"/>
                </a:lnTo>
                <a:lnTo>
                  <a:pt x="0" y="0"/>
                </a:lnTo>
                <a:close/>
              </a:path>
            </a:pathLst>
          </a:custGeom>
          <a:blipFill rotWithShape="1">
            <a:blip r:embed="rId7">
              <a:alphaModFix/>
            </a:blip>
            <a:stretch>
              <a:fillRect b="-394" l="0" r="0" t="-39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13"/>
          <p:cNvSpPr/>
          <p:nvPr/>
        </p:nvSpPr>
        <p:spPr>
          <a:xfrm>
            <a:off x="8285778" y="9560662"/>
            <a:ext cx="3169282" cy="726338"/>
          </a:xfrm>
          <a:custGeom>
            <a:rect b="b" l="l" r="r" t="t"/>
            <a:pathLst>
              <a:path extrusionOk="0" h="726338" w="3169282">
                <a:moveTo>
                  <a:pt x="0" y="0"/>
                </a:moveTo>
                <a:lnTo>
                  <a:pt x="3169282" y="0"/>
                </a:lnTo>
                <a:lnTo>
                  <a:pt x="3169282" y="726338"/>
                </a:lnTo>
                <a:lnTo>
                  <a:pt x="0" y="726338"/>
                </a:lnTo>
                <a:lnTo>
                  <a:pt x="0" y="0"/>
                </a:lnTo>
                <a:close/>
              </a:path>
            </a:pathLst>
          </a:custGeom>
          <a:blipFill rotWithShape="1">
            <a:blip r:embed="rId8">
              <a:alphaModFix/>
            </a:blip>
            <a:stretch>
              <a:fillRect b="0" l="-292" r="-29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3"/>
          <p:cNvSpPr/>
          <p:nvPr/>
        </p:nvSpPr>
        <p:spPr>
          <a:xfrm>
            <a:off x="12121144" y="9258300"/>
            <a:ext cx="2919298" cy="1028700"/>
          </a:xfrm>
          <a:custGeom>
            <a:rect b="b" l="l" r="r" t="t"/>
            <a:pathLst>
              <a:path extrusionOk="0" h="1028700" w="2919298">
                <a:moveTo>
                  <a:pt x="0" y="0"/>
                </a:moveTo>
                <a:lnTo>
                  <a:pt x="2919298" y="0"/>
                </a:lnTo>
                <a:lnTo>
                  <a:pt x="2919298" y="1028700"/>
                </a:lnTo>
                <a:lnTo>
                  <a:pt x="0" y="1028700"/>
                </a:lnTo>
                <a:lnTo>
                  <a:pt x="0" y="0"/>
                </a:lnTo>
                <a:close/>
              </a:path>
            </a:pathLst>
          </a:custGeom>
          <a:blipFill rotWithShape="1">
            <a:blip r:embed="rId9">
              <a:alphaModFix/>
            </a:blip>
            <a:stretch>
              <a:fillRect b="-30" l="0" r="0" t="-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3"/>
          <p:cNvSpPr/>
          <p:nvPr/>
        </p:nvSpPr>
        <p:spPr>
          <a:xfrm>
            <a:off x="0" y="9093737"/>
            <a:ext cx="1028700" cy="1193263"/>
          </a:xfrm>
          <a:custGeom>
            <a:rect b="b" l="l" r="r" t="t"/>
            <a:pathLst>
              <a:path extrusionOk="0" h="1193263" w="1028700">
                <a:moveTo>
                  <a:pt x="0" y="0"/>
                </a:moveTo>
                <a:lnTo>
                  <a:pt x="1028700" y="0"/>
                </a:lnTo>
                <a:lnTo>
                  <a:pt x="1028700" y="1193263"/>
                </a:lnTo>
                <a:lnTo>
                  <a:pt x="0" y="1193263"/>
                </a:lnTo>
                <a:lnTo>
                  <a:pt x="0" y="0"/>
                </a:lnTo>
                <a:close/>
              </a:path>
            </a:pathLst>
          </a:custGeom>
          <a:blipFill rotWithShape="1">
            <a:blip r:embed="rId10">
              <a:alphaModFix/>
            </a:blip>
            <a:stretch>
              <a:fillRect b="0" l="-2199" r="-219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3"/>
          <p:cNvSpPr/>
          <p:nvPr/>
        </p:nvSpPr>
        <p:spPr>
          <a:xfrm>
            <a:off x="17259300" y="7433853"/>
            <a:ext cx="1028700" cy="1932670"/>
          </a:xfrm>
          <a:custGeom>
            <a:rect b="b" l="l" r="r" t="t"/>
            <a:pathLst>
              <a:path extrusionOk="0" h="1932670" w="1028700">
                <a:moveTo>
                  <a:pt x="0" y="0"/>
                </a:moveTo>
                <a:lnTo>
                  <a:pt x="1028700" y="0"/>
                </a:lnTo>
                <a:lnTo>
                  <a:pt x="1028700" y="1932670"/>
                </a:lnTo>
                <a:lnTo>
                  <a:pt x="0" y="1932670"/>
                </a:lnTo>
                <a:lnTo>
                  <a:pt x="0" y="0"/>
                </a:lnTo>
                <a:close/>
              </a:path>
            </a:pathLst>
          </a:custGeom>
          <a:blipFill rotWithShape="1">
            <a:blip r:embed="rId11">
              <a:alphaModFix/>
            </a:blip>
            <a:stretch>
              <a:fillRect b="-807" l="0" r="0" t="-80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3"/>
          <p:cNvSpPr/>
          <p:nvPr/>
        </p:nvSpPr>
        <p:spPr>
          <a:xfrm>
            <a:off x="0" y="460505"/>
            <a:ext cx="744236" cy="1602648"/>
          </a:xfrm>
          <a:custGeom>
            <a:rect b="b" l="l" r="r" t="t"/>
            <a:pathLst>
              <a:path extrusionOk="0" h="1602648" w="744236">
                <a:moveTo>
                  <a:pt x="0" y="0"/>
                </a:moveTo>
                <a:lnTo>
                  <a:pt x="744236" y="0"/>
                </a:lnTo>
                <a:lnTo>
                  <a:pt x="744236" y="1602648"/>
                </a:lnTo>
                <a:lnTo>
                  <a:pt x="0" y="1602648"/>
                </a:lnTo>
                <a:lnTo>
                  <a:pt x="0" y="0"/>
                </a:lnTo>
                <a:close/>
              </a:path>
            </a:pathLst>
          </a:custGeom>
          <a:blipFill rotWithShape="1">
            <a:blip r:embed="rId12">
              <a:alphaModFix/>
            </a:blip>
            <a:stretch>
              <a:fillRect b="0" l="-3835" r="-383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3"/>
          <p:cNvSpPr/>
          <p:nvPr/>
        </p:nvSpPr>
        <p:spPr>
          <a:xfrm>
            <a:off x="2172414" y="2332930"/>
            <a:ext cx="2407882" cy="2407882"/>
          </a:xfrm>
          <a:custGeom>
            <a:rect b="b" l="l" r="r" t="t"/>
            <a:pathLst>
              <a:path extrusionOk="0" h="2407882" w="2407882">
                <a:moveTo>
                  <a:pt x="0" y="0"/>
                </a:moveTo>
                <a:lnTo>
                  <a:pt x="2407882" y="0"/>
                </a:lnTo>
                <a:lnTo>
                  <a:pt x="2407882" y="2407882"/>
                </a:lnTo>
                <a:lnTo>
                  <a:pt x="0" y="2407882"/>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3"/>
          <p:cNvSpPr/>
          <p:nvPr/>
        </p:nvSpPr>
        <p:spPr>
          <a:xfrm>
            <a:off x="7920033" y="4070707"/>
            <a:ext cx="2447948" cy="2447948"/>
          </a:xfrm>
          <a:custGeom>
            <a:rect b="b" l="l" r="r" t="t"/>
            <a:pathLst>
              <a:path extrusionOk="0" h="2447948" w="2447948">
                <a:moveTo>
                  <a:pt x="0" y="0"/>
                </a:moveTo>
                <a:lnTo>
                  <a:pt x="2447948" y="0"/>
                </a:lnTo>
                <a:lnTo>
                  <a:pt x="2447948" y="2447948"/>
                </a:lnTo>
                <a:lnTo>
                  <a:pt x="0" y="2447948"/>
                </a:lnTo>
                <a:lnTo>
                  <a:pt x="0" y="0"/>
                </a:lnTo>
                <a:close/>
              </a:path>
            </a:pathLst>
          </a:cu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3"/>
          <p:cNvSpPr/>
          <p:nvPr/>
        </p:nvSpPr>
        <p:spPr>
          <a:xfrm>
            <a:off x="13550322" y="6518655"/>
            <a:ext cx="2172587" cy="2172587"/>
          </a:xfrm>
          <a:custGeom>
            <a:rect b="b" l="l" r="r" t="t"/>
            <a:pathLst>
              <a:path extrusionOk="0" h="2172587" w="2172587">
                <a:moveTo>
                  <a:pt x="0" y="0"/>
                </a:moveTo>
                <a:lnTo>
                  <a:pt x="2172588" y="0"/>
                </a:lnTo>
                <a:lnTo>
                  <a:pt x="2172588" y="2172587"/>
                </a:lnTo>
                <a:lnTo>
                  <a:pt x="0" y="2172587"/>
                </a:lnTo>
                <a:lnTo>
                  <a:pt x="0" y="0"/>
                </a:lnTo>
                <a:close/>
              </a:path>
            </a:pathLst>
          </a:custGeom>
          <a:blipFill rotWithShape="1">
            <a:blip r:embed="rId1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3"/>
          <p:cNvSpPr txBox="1"/>
          <p:nvPr/>
        </p:nvSpPr>
        <p:spPr>
          <a:xfrm>
            <a:off x="1320308" y="1428655"/>
            <a:ext cx="1092203" cy="3333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200">
                <a:solidFill>
                  <a:srgbClr val="000000"/>
                </a:solidFill>
                <a:latin typeface="Open Sans"/>
                <a:ea typeface="Open Sans"/>
                <a:cs typeface="Open Sans"/>
                <a:sym typeface="Open Sans"/>
              </a:rPr>
              <a:t>VSCode</a:t>
            </a:r>
            <a:endParaRPr/>
          </a:p>
        </p:txBody>
      </p:sp>
      <p:sp>
        <p:nvSpPr>
          <p:cNvPr id="267" name="Google Shape;267;p13"/>
          <p:cNvSpPr txBox="1"/>
          <p:nvPr/>
        </p:nvSpPr>
        <p:spPr>
          <a:xfrm>
            <a:off x="6969862" y="3369059"/>
            <a:ext cx="1674446" cy="3333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200">
                <a:solidFill>
                  <a:srgbClr val="000000"/>
                </a:solidFill>
                <a:latin typeface="Open Sans"/>
                <a:ea typeface="Open Sans"/>
                <a:cs typeface="Open Sans"/>
                <a:sym typeface="Open Sans"/>
              </a:rPr>
              <a:t>Visual Studio</a:t>
            </a:r>
            <a:endParaRPr/>
          </a:p>
        </p:txBody>
      </p:sp>
      <p:sp>
        <p:nvSpPr>
          <p:cNvPr id="268" name="Google Shape;268;p13"/>
          <p:cNvSpPr txBox="1"/>
          <p:nvPr/>
        </p:nvSpPr>
        <p:spPr>
          <a:xfrm>
            <a:off x="12412751" y="5681939"/>
            <a:ext cx="4447730" cy="3333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200">
                <a:solidFill>
                  <a:srgbClr val="000000"/>
                </a:solidFill>
                <a:latin typeface="Open Sans"/>
                <a:ea typeface="Open Sans"/>
                <a:cs typeface="Open Sans"/>
                <a:sym typeface="Open Sans"/>
              </a:rPr>
              <a:t>Cursor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4"/>
          <p:cNvSpPr/>
          <p:nvPr/>
        </p:nvSpPr>
        <p:spPr>
          <a:xfrm>
            <a:off x="11583622" y="2717721"/>
            <a:ext cx="4851559" cy="4851559"/>
          </a:xfrm>
          <a:custGeom>
            <a:rect b="b" l="l" r="r" t="t"/>
            <a:pathLst>
              <a:path extrusionOk="0" h="4851559" w="4851559">
                <a:moveTo>
                  <a:pt x="0" y="0"/>
                </a:moveTo>
                <a:lnTo>
                  <a:pt x="4851558" y="0"/>
                </a:lnTo>
                <a:lnTo>
                  <a:pt x="4851558" y="4851558"/>
                </a:lnTo>
                <a:lnTo>
                  <a:pt x="0" y="485155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4"/>
          <p:cNvSpPr txBox="1"/>
          <p:nvPr/>
        </p:nvSpPr>
        <p:spPr>
          <a:xfrm>
            <a:off x="836609" y="1127855"/>
            <a:ext cx="5411791"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000">
                <a:solidFill>
                  <a:srgbClr val="000000"/>
                </a:solidFill>
                <a:latin typeface="Open Sans"/>
                <a:ea typeface="Open Sans"/>
                <a:cs typeface="Open Sans"/>
                <a:sym typeface="Open Sans"/>
              </a:rPr>
              <a:t>VSCode</a:t>
            </a:r>
            <a:endParaRPr b="1" sz="9000">
              <a:solidFill>
                <a:srgbClr val="000000"/>
              </a:solidFill>
              <a:latin typeface="Open Sans"/>
              <a:ea typeface="Open Sans"/>
              <a:cs typeface="Open Sans"/>
              <a:sym typeface="Open Sans"/>
            </a:endParaRPr>
          </a:p>
        </p:txBody>
      </p:sp>
      <p:sp>
        <p:nvSpPr>
          <p:cNvPr id="276" name="Google Shape;276;p14"/>
          <p:cNvSpPr txBox="1"/>
          <p:nvPr/>
        </p:nvSpPr>
        <p:spPr>
          <a:xfrm>
            <a:off x="836609" y="2753556"/>
            <a:ext cx="9514307" cy="6043803"/>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lang="en-US" sz="3300">
                <a:solidFill>
                  <a:srgbClr val="000000"/>
                </a:solidFill>
                <a:latin typeface="Open Sans"/>
                <a:ea typeface="Open Sans"/>
                <a:cs typeface="Open Sans"/>
                <a:sym typeface="Open Sans"/>
              </a:rPr>
              <a:t>Es un editor de código fuente compatible con Windows, macOS  y  Linux.  Resalta  por  tener  soporte  para  la depuración, integra Git, posee el resaltado de sintaxis, autocompletado de código y demás. Igualmente, posee lo que son </a:t>
            </a:r>
            <a:r>
              <a:rPr b="1" lang="en-US" sz="3300">
                <a:solidFill>
                  <a:srgbClr val="000000"/>
                </a:solidFill>
                <a:latin typeface="Open Sans"/>
                <a:ea typeface="Open Sans"/>
                <a:cs typeface="Open Sans"/>
                <a:sym typeface="Open Sans"/>
              </a:rPr>
              <a:t>Extensiones </a:t>
            </a:r>
            <a:r>
              <a:rPr lang="en-US" sz="3300">
                <a:solidFill>
                  <a:srgbClr val="000000"/>
                </a:solidFill>
                <a:latin typeface="Open Sans"/>
                <a:ea typeface="Open Sans"/>
                <a:cs typeface="Open Sans"/>
                <a:sym typeface="Open Sans"/>
              </a:rPr>
              <a:t>que permite una experiencia más personalizada  al  usuario  y que  este IDE  pueda admitir casi cualquier lenguaje de programación.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5"/>
          <p:cNvSpPr/>
          <p:nvPr/>
        </p:nvSpPr>
        <p:spPr>
          <a:xfrm>
            <a:off x="0" y="8919658"/>
            <a:ext cx="3022378" cy="950138"/>
          </a:xfrm>
          <a:custGeom>
            <a:rect b="b" l="l" r="r" t="t"/>
            <a:pathLst>
              <a:path extrusionOk="0" h="950138" w="3022378">
                <a:moveTo>
                  <a:pt x="0" y="0"/>
                </a:moveTo>
                <a:lnTo>
                  <a:pt x="3022378" y="0"/>
                </a:lnTo>
                <a:lnTo>
                  <a:pt x="3022378" y="950137"/>
                </a:lnTo>
                <a:lnTo>
                  <a:pt x="0" y="950137"/>
                </a:lnTo>
                <a:lnTo>
                  <a:pt x="0" y="0"/>
                </a:lnTo>
                <a:close/>
              </a:path>
            </a:pathLst>
          </a:custGeom>
          <a:blipFill rotWithShape="1">
            <a:blip r:embed="rId4">
              <a:alphaModFix/>
            </a:blip>
            <a:stretch>
              <a:fillRect b="-135" l="0" r="0" t="-1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5"/>
          <p:cNvSpPr/>
          <p:nvPr/>
        </p:nvSpPr>
        <p:spPr>
          <a:xfrm>
            <a:off x="4472902" y="0"/>
            <a:ext cx="4980946" cy="1366371"/>
          </a:xfrm>
          <a:custGeom>
            <a:rect b="b" l="l" r="r" t="t"/>
            <a:pathLst>
              <a:path extrusionOk="0" h="1366371" w="4980946">
                <a:moveTo>
                  <a:pt x="0" y="0"/>
                </a:moveTo>
                <a:lnTo>
                  <a:pt x="4980946" y="0"/>
                </a:lnTo>
                <a:lnTo>
                  <a:pt x="4980946" y="1366371"/>
                </a:lnTo>
                <a:lnTo>
                  <a:pt x="0" y="1366371"/>
                </a:lnTo>
                <a:lnTo>
                  <a:pt x="0" y="0"/>
                </a:lnTo>
                <a:close/>
              </a:path>
            </a:pathLst>
          </a:custGeom>
          <a:blipFill rotWithShape="1">
            <a:blip r:embed="rId5">
              <a:alphaModFix/>
            </a:blip>
            <a:stretch>
              <a:fillRect b="-498" l="0" r="0" t="-4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5"/>
          <p:cNvSpPr/>
          <p:nvPr/>
        </p:nvSpPr>
        <p:spPr>
          <a:xfrm>
            <a:off x="3431076" y="8919658"/>
            <a:ext cx="2587019" cy="1367342"/>
          </a:xfrm>
          <a:custGeom>
            <a:rect b="b" l="l" r="r" t="t"/>
            <a:pathLst>
              <a:path extrusionOk="0" h="1367342" w="2587019">
                <a:moveTo>
                  <a:pt x="0" y="0"/>
                </a:moveTo>
                <a:lnTo>
                  <a:pt x="2587019" y="0"/>
                </a:lnTo>
                <a:lnTo>
                  <a:pt x="2587019" y="1367342"/>
                </a:lnTo>
                <a:lnTo>
                  <a:pt x="0" y="1367342"/>
                </a:lnTo>
                <a:lnTo>
                  <a:pt x="0" y="0"/>
                </a:lnTo>
                <a:close/>
              </a:path>
            </a:pathLst>
          </a:custGeom>
          <a:blipFill rotWithShape="1">
            <a:blip r:embed="rId6">
              <a:alphaModFix/>
            </a:blip>
            <a:stretch>
              <a:fillRect b="0" l="-522" r="-52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5"/>
          <p:cNvSpPr/>
          <p:nvPr/>
        </p:nvSpPr>
        <p:spPr>
          <a:xfrm>
            <a:off x="0" y="0"/>
            <a:ext cx="1748752" cy="2052171"/>
          </a:xfrm>
          <a:custGeom>
            <a:rect b="b" l="l" r="r" t="t"/>
            <a:pathLst>
              <a:path extrusionOk="0" h="2052171" w="1748752">
                <a:moveTo>
                  <a:pt x="0" y="0"/>
                </a:moveTo>
                <a:lnTo>
                  <a:pt x="1748752" y="0"/>
                </a:lnTo>
                <a:lnTo>
                  <a:pt x="1748752" y="2052171"/>
                </a:lnTo>
                <a:lnTo>
                  <a:pt x="0" y="2052171"/>
                </a:lnTo>
                <a:lnTo>
                  <a:pt x="0" y="0"/>
                </a:lnTo>
                <a:close/>
              </a:path>
            </a:pathLst>
          </a:custGeom>
          <a:blipFill rotWithShape="1">
            <a:blip r:embed="rId7">
              <a:alphaModFix/>
            </a:blip>
            <a:stretch>
              <a:fillRect b="-498" l="0" r="0" t="-49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5"/>
          <p:cNvSpPr/>
          <p:nvPr/>
        </p:nvSpPr>
        <p:spPr>
          <a:xfrm>
            <a:off x="2689995" y="6981040"/>
            <a:ext cx="1720631" cy="1720631"/>
          </a:xfrm>
          <a:custGeom>
            <a:rect b="b" l="l" r="r" t="t"/>
            <a:pathLst>
              <a:path extrusionOk="0" h="1720631" w="1720631">
                <a:moveTo>
                  <a:pt x="0" y="0"/>
                </a:moveTo>
                <a:lnTo>
                  <a:pt x="1720631" y="0"/>
                </a:lnTo>
                <a:lnTo>
                  <a:pt x="1720631" y="1720631"/>
                </a:lnTo>
                <a:lnTo>
                  <a:pt x="0" y="1720631"/>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5"/>
          <p:cNvSpPr/>
          <p:nvPr/>
        </p:nvSpPr>
        <p:spPr>
          <a:xfrm>
            <a:off x="7702640" y="5868795"/>
            <a:ext cx="9212905" cy="3374227"/>
          </a:xfrm>
          <a:custGeom>
            <a:rect b="b" l="l" r="r" t="t"/>
            <a:pathLst>
              <a:path extrusionOk="0" h="3374227" w="9212905">
                <a:moveTo>
                  <a:pt x="0" y="0"/>
                </a:moveTo>
                <a:lnTo>
                  <a:pt x="9212905" y="0"/>
                </a:lnTo>
                <a:lnTo>
                  <a:pt x="9212905" y="3374227"/>
                </a:lnTo>
                <a:lnTo>
                  <a:pt x="0" y="3374227"/>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5"/>
          <p:cNvSpPr txBox="1"/>
          <p:nvPr/>
        </p:nvSpPr>
        <p:spPr>
          <a:xfrm>
            <a:off x="1910760" y="6068820"/>
            <a:ext cx="4415433" cy="8070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lang="en-US" sz="4599" u="sng">
                <a:solidFill>
                  <a:srgbClr val="000000"/>
                </a:solidFill>
                <a:latin typeface="Arimo"/>
                <a:ea typeface="Arimo"/>
                <a:cs typeface="Arimo"/>
                <a:sym typeface="Arimo"/>
                <a:hlinkClick r:id="rId10">
                  <a:extLst>
                    <a:ext uri="{A12FA001-AC4F-418D-AE19-62706E023703}">
                      <ahyp:hlinkClr val="tx"/>
                    </a:ext>
                  </a:extLst>
                </a:hlinkClick>
              </a:rPr>
              <a:t>Enlace VSCODE</a:t>
            </a:r>
            <a:endParaRPr/>
          </a:p>
        </p:txBody>
      </p:sp>
      <p:sp>
        <p:nvSpPr>
          <p:cNvPr id="289" name="Google Shape;289;p15"/>
          <p:cNvSpPr txBox="1"/>
          <p:nvPr/>
        </p:nvSpPr>
        <p:spPr>
          <a:xfrm>
            <a:off x="748994" y="1322784"/>
            <a:ext cx="16790012" cy="1219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000">
                <a:solidFill>
                  <a:srgbClr val="000000"/>
                </a:solidFill>
                <a:latin typeface="Open Sans"/>
                <a:ea typeface="Open Sans"/>
                <a:cs typeface="Open Sans"/>
                <a:sym typeface="Open Sans"/>
              </a:rPr>
              <a:t>PASOS PARA INSTALAR VSCODE</a:t>
            </a:r>
            <a:endParaRPr/>
          </a:p>
        </p:txBody>
      </p:sp>
      <p:sp>
        <p:nvSpPr>
          <p:cNvPr id="290" name="Google Shape;290;p15"/>
          <p:cNvSpPr txBox="1"/>
          <p:nvPr/>
        </p:nvSpPr>
        <p:spPr>
          <a:xfrm>
            <a:off x="1028700" y="3011295"/>
            <a:ext cx="15746778" cy="2857500"/>
          </a:xfrm>
          <a:prstGeom prst="rect">
            <a:avLst/>
          </a:prstGeom>
          <a:noFill/>
          <a:ln>
            <a:noFill/>
          </a:ln>
        </p:spPr>
        <p:txBody>
          <a:bodyPr anchorCtr="0" anchor="t" bIns="0" lIns="0" spcFirstLastPara="1" rIns="0" wrap="square" tIns="0">
            <a:spAutoFit/>
          </a:bodyPr>
          <a:lstStyle/>
          <a:p>
            <a:pPr indent="0" lvl="0" marL="0" marR="0" rtl="0" algn="just">
              <a:lnSpc>
                <a:spcPct val="253277"/>
              </a:lnSpc>
              <a:spcBef>
                <a:spcPts val="0"/>
              </a:spcBef>
              <a:spcAft>
                <a:spcPts val="0"/>
              </a:spcAft>
              <a:buNone/>
            </a:pPr>
            <a:r>
              <a:t/>
            </a:r>
            <a:endParaRPr sz="1800">
              <a:solidFill>
                <a:schemeClr val="dk1"/>
              </a:solidFill>
              <a:latin typeface="Calibri"/>
              <a:ea typeface="Calibri"/>
              <a:cs typeface="Calibri"/>
              <a:sym typeface="Calibri"/>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Descargar el instalador de VSCode.</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Ejecutar el instalador descargado y presionar Instalar.</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Esperar a que finalice la instalación.</a:t>
            </a:r>
            <a:endParaRPr/>
          </a:p>
          <a:p>
            <a:pPr indent="0" lvl="0" marL="0" marR="0" rtl="0" algn="just">
              <a:lnSpc>
                <a:spcPct val="120005"/>
              </a:lnSpc>
              <a:spcBef>
                <a:spcPts val="0"/>
              </a:spcBef>
              <a:spcAft>
                <a:spcPts val="0"/>
              </a:spcAft>
              <a:buNone/>
            </a:pPr>
            <a:r>
              <a:t/>
            </a:r>
            <a:endParaRPr sz="3799">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6"/>
          <p:cNvSpPr txBox="1"/>
          <p:nvPr/>
        </p:nvSpPr>
        <p:spPr>
          <a:xfrm>
            <a:off x="1028700" y="1038225"/>
            <a:ext cx="16230600" cy="11144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400">
                <a:solidFill>
                  <a:srgbClr val="000000"/>
                </a:solidFill>
                <a:latin typeface="Open Sans"/>
                <a:ea typeface="Open Sans"/>
                <a:cs typeface="Open Sans"/>
                <a:sym typeface="Open Sans"/>
              </a:rPr>
              <a:t>CONFIGURACIÓN INICIAL</a:t>
            </a:r>
            <a:endParaRPr/>
          </a:p>
        </p:txBody>
      </p:sp>
      <p:sp>
        <p:nvSpPr>
          <p:cNvPr id="297" name="Google Shape;297;p16"/>
          <p:cNvSpPr/>
          <p:nvPr/>
        </p:nvSpPr>
        <p:spPr>
          <a:xfrm>
            <a:off x="4580544" y="0"/>
            <a:ext cx="2892762" cy="589617"/>
          </a:xfrm>
          <a:custGeom>
            <a:rect b="b" l="l" r="r" t="t"/>
            <a:pathLst>
              <a:path extrusionOk="0" h="589617" w="2892762">
                <a:moveTo>
                  <a:pt x="0" y="0"/>
                </a:moveTo>
                <a:lnTo>
                  <a:pt x="2892761" y="0"/>
                </a:lnTo>
                <a:lnTo>
                  <a:pt x="2892761" y="589617"/>
                </a:lnTo>
                <a:lnTo>
                  <a:pt x="0" y="589617"/>
                </a:lnTo>
                <a:lnTo>
                  <a:pt x="0" y="0"/>
                </a:lnTo>
                <a:close/>
              </a:path>
            </a:pathLst>
          </a:custGeom>
          <a:blipFill rotWithShape="1">
            <a:blip r:embed="rId4">
              <a:alphaModFix/>
            </a:blip>
            <a:stretch>
              <a:fillRect b="-345" l="0" r="0" t="-34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6"/>
          <p:cNvSpPr/>
          <p:nvPr/>
        </p:nvSpPr>
        <p:spPr>
          <a:xfrm>
            <a:off x="17259300" y="0"/>
            <a:ext cx="1028700" cy="2969981"/>
          </a:xfrm>
          <a:custGeom>
            <a:rect b="b" l="l" r="r" t="t"/>
            <a:pathLst>
              <a:path extrusionOk="0" h="2969981" w="1028700">
                <a:moveTo>
                  <a:pt x="0" y="0"/>
                </a:moveTo>
                <a:lnTo>
                  <a:pt x="1028700" y="0"/>
                </a:lnTo>
                <a:lnTo>
                  <a:pt x="1028700" y="2969981"/>
                </a:lnTo>
                <a:lnTo>
                  <a:pt x="0" y="2969981"/>
                </a:lnTo>
                <a:lnTo>
                  <a:pt x="0" y="0"/>
                </a:lnTo>
                <a:close/>
              </a:path>
            </a:pathLst>
          </a:custGeom>
          <a:blipFill rotWithShape="1">
            <a:blip r:embed="rId5">
              <a:alphaModFix/>
            </a:blip>
            <a:stretch>
              <a:fillRect b="-118" l="0" r="0" t="-11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6"/>
          <p:cNvSpPr/>
          <p:nvPr/>
        </p:nvSpPr>
        <p:spPr>
          <a:xfrm>
            <a:off x="15353490" y="8540134"/>
            <a:ext cx="2934510" cy="1746866"/>
          </a:xfrm>
          <a:custGeom>
            <a:rect b="b" l="l" r="r" t="t"/>
            <a:pathLst>
              <a:path extrusionOk="0" h="1746866" w="2934510">
                <a:moveTo>
                  <a:pt x="0" y="0"/>
                </a:moveTo>
                <a:lnTo>
                  <a:pt x="2934510" y="0"/>
                </a:lnTo>
                <a:lnTo>
                  <a:pt x="2934510" y="1746866"/>
                </a:lnTo>
                <a:lnTo>
                  <a:pt x="0" y="1746866"/>
                </a:lnTo>
                <a:lnTo>
                  <a:pt x="0" y="0"/>
                </a:lnTo>
                <a:close/>
              </a:path>
            </a:pathLst>
          </a:custGeom>
          <a:blipFill rotWithShape="1">
            <a:blip r:embed="rId6">
              <a:alphaModFix/>
            </a:blip>
            <a:stretch>
              <a:fillRect b="-50" l="0" r="0" t="-5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6"/>
          <p:cNvSpPr/>
          <p:nvPr/>
        </p:nvSpPr>
        <p:spPr>
          <a:xfrm>
            <a:off x="9144000"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7">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6"/>
          <p:cNvSpPr/>
          <p:nvPr/>
        </p:nvSpPr>
        <p:spPr>
          <a:xfrm>
            <a:off x="3145197" y="8654946"/>
            <a:ext cx="1206708" cy="1206708"/>
          </a:xfrm>
          <a:custGeom>
            <a:rect b="b" l="l" r="r" t="t"/>
            <a:pathLst>
              <a:path extrusionOk="0" h="1206708" w="1206708">
                <a:moveTo>
                  <a:pt x="0" y="0"/>
                </a:moveTo>
                <a:lnTo>
                  <a:pt x="1206708" y="0"/>
                </a:lnTo>
                <a:lnTo>
                  <a:pt x="1206708" y="1206708"/>
                </a:lnTo>
                <a:lnTo>
                  <a:pt x="0" y="1206708"/>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6"/>
          <p:cNvSpPr txBox="1"/>
          <p:nvPr/>
        </p:nvSpPr>
        <p:spPr>
          <a:xfrm>
            <a:off x="4580544" y="8797607"/>
            <a:ext cx="5935056" cy="749821"/>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lang="en-US" sz="4599" u="sng">
                <a:solidFill>
                  <a:srgbClr val="000000"/>
                </a:solidFill>
                <a:latin typeface="Arimo"/>
                <a:ea typeface="Arimo"/>
                <a:cs typeface="Arimo"/>
                <a:sym typeface="Arimo"/>
                <a:hlinkClick r:id="rId9">
                  <a:extLst>
                    <a:ext uri="{A12FA001-AC4F-418D-AE19-62706E023703}">
                      <ahyp:hlinkClr val="tx"/>
                    </a:ext>
                  </a:extLst>
                </a:hlinkClick>
              </a:rPr>
              <a:t>Config VSCode</a:t>
            </a:r>
            <a:endParaRPr sz="4599" u="sng">
              <a:solidFill>
                <a:srgbClr val="000000"/>
              </a:solidFill>
              <a:latin typeface="Arimo"/>
              <a:ea typeface="Arimo"/>
              <a:cs typeface="Arimo"/>
              <a:sym typeface="Arimo"/>
              <a:hlinkClick r:id="rId10">
                <a:extLst>
                  <a:ext uri="{A12FA001-AC4F-418D-AE19-62706E023703}">
                    <ahyp:hlinkClr val="tx"/>
                  </a:ext>
                </a:extLst>
              </a:hlinkClick>
            </a:endParaRPr>
          </a:p>
        </p:txBody>
      </p:sp>
      <p:sp>
        <p:nvSpPr>
          <p:cNvPr id="303" name="Google Shape;303;p16"/>
          <p:cNvSpPr txBox="1"/>
          <p:nvPr/>
        </p:nvSpPr>
        <p:spPr>
          <a:xfrm>
            <a:off x="1005030" y="2315221"/>
            <a:ext cx="16254270" cy="6043803"/>
          </a:xfrm>
          <a:prstGeom prst="rect">
            <a:avLst/>
          </a:prstGeom>
          <a:noFill/>
          <a:ln>
            <a:noFill/>
          </a:ln>
        </p:spPr>
        <p:txBody>
          <a:bodyPr anchorCtr="0" anchor="t" bIns="0" lIns="0" spcFirstLastPara="1" rIns="0" wrap="square" tIns="0">
            <a:spAutoFit/>
          </a:bodyPr>
          <a:lstStyle/>
          <a:p>
            <a:pPr indent="-356235" lvl="1" marL="712470" marR="0" rtl="0" algn="just">
              <a:lnSpc>
                <a:spcPct val="162000"/>
              </a:lnSpc>
              <a:spcBef>
                <a:spcPts val="0"/>
              </a:spcBef>
              <a:spcAft>
                <a:spcPts val="0"/>
              </a:spcAft>
              <a:buClr>
                <a:srgbClr val="000000"/>
              </a:buClr>
              <a:buSzPts val="3300"/>
              <a:buFont typeface="Arial"/>
              <a:buChar char="•"/>
            </a:pPr>
            <a:r>
              <a:rPr b="1" i="0" lang="en-US" sz="3300" u="none" cap="none" strike="noStrike">
                <a:solidFill>
                  <a:srgbClr val="000000"/>
                </a:solidFill>
                <a:latin typeface="Open Sans"/>
                <a:ea typeface="Open Sans"/>
                <a:cs typeface="Open Sans"/>
                <a:sym typeface="Open Sans"/>
              </a:rPr>
              <a:t>Gestión de extensiones</a:t>
            </a:r>
            <a:r>
              <a:rPr b="0" i="0" lang="en-US" sz="3300" u="none" cap="none" strike="noStrike">
                <a:solidFill>
                  <a:srgbClr val="000000"/>
                </a:solidFill>
                <a:latin typeface="Open Sans"/>
                <a:ea typeface="Open Sans"/>
                <a:cs typeface="Open Sans"/>
                <a:sym typeface="Open Sans"/>
              </a:rPr>
              <a:t>: Permite instalar extensiones desde el Marketplace para agregar soporte a lenguajes, depuradores y herramientas adicionales, personalizando el entorno de desarrollo.</a:t>
            </a:r>
            <a:endParaRPr/>
          </a:p>
          <a:p>
            <a:pPr indent="-356235" lvl="1" marL="712470" marR="0" rtl="0" algn="just">
              <a:lnSpc>
                <a:spcPct val="162000"/>
              </a:lnSpc>
              <a:spcBef>
                <a:spcPts val="0"/>
              </a:spcBef>
              <a:spcAft>
                <a:spcPts val="0"/>
              </a:spcAft>
              <a:buClr>
                <a:srgbClr val="000000"/>
              </a:buClr>
              <a:buSzPts val="3300"/>
              <a:buFont typeface="Arial"/>
              <a:buChar char="•"/>
            </a:pPr>
            <a:r>
              <a:rPr b="1" i="0" lang="en-US" sz="3300" u="none" cap="none" strike="noStrike">
                <a:solidFill>
                  <a:srgbClr val="000000"/>
                </a:solidFill>
                <a:latin typeface="Open Sans"/>
                <a:ea typeface="Open Sans"/>
                <a:cs typeface="Open Sans"/>
                <a:sym typeface="Open Sans"/>
              </a:rPr>
              <a:t>Control de fuente integrado (Git):</a:t>
            </a:r>
            <a:r>
              <a:rPr b="0" i="0" lang="en-US" sz="3300" u="none" cap="none" strike="noStrike">
                <a:solidFill>
                  <a:srgbClr val="000000"/>
                </a:solidFill>
                <a:latin typeface="Open Sans"/>
                <a:ea typeface="Open Sans"/>
                <a:cs typeface="Open Sans"/>
                <a:sym typeface="Open Sans"/>
              </a:rPr>
              <a:t> Integra Git directamente en VS Code para gestionar repositorios, ver cambios, hacer commits y sincronizar con repositorios remotos sin salir del editor.</a:t>
            </a:r>
            <a:endParaRPr/>
          </a:p>
          <a:p>
            <a:pPr indent="-356235" lvl="1" marL="712470" marR="0" rtl="0" algn="just">
              <a:lnSpc>
                <a:spcPct val="162000"/>
              </a:lnSpc>
              <a:spcBef>
                <a:spcPts val="0"/>
              </a:spcBef>
              <a:spcAft>
                <a:spcPts val="0"/>
              </a:spcAft>
              <a:buClr>
                <a:srgbClr val="000000"/>
              </a:buClr>
              <a:buSzPts val="3300"/>
              <a:buFont typeface="Arial"/>
              <a:buChar char="•"/>
            </a:pPr>
            <a:r>
              <a:rPr b="1" i="0" lang="en-US" sz="3300" u="none" cap="none" strike="noStrike">
                <a:solidFill>
                  <a:srgbClr val="000000"/>
                </a:solidFill>
                <a:latin typeface="Open Sans"/>
                <a:ea typeface="Open Sans"/>
                <a:cs typeface="Open Sans"/>
                <a:sym typeface="Open Sans"/>
              </a:rPr>
              <a:t>Mejora tu codificación con IA y GitHub Copilot:</a:t>
            </a:r>
            <a:r>
              <a:rPr b="0" i="0" lang="en-US" sz="3300" u="none" cap="none" strike="noStrike">
                <a:solidFill>
                  <a:srgbClr val="000000"/>
                </a:solidFill>
                <a:latin typeface="Open Sans"/>
                <a:ea typeface="Open Sans"/>
                <a:cs typeface="Open Sans"/>
                <a:sym typeface="Open Sans"/>
              </a:rPr>
              <a:t> Extensión de IA que sugiere código en tiempo real, ayuda a completar funciones y acelera el desarrollo. Requiere una cuenta de GitHub.</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7"/>
          <p:cNvSpPr txBox="1"/>
          <p:nvPr/>
        </p:nvSpPr>
        <p:spPr>
          <a:xfrm>
            <a:off x="836609" y="824403"/>
            <a:ext cx="8784282"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000">
                <a:solidFill>
                  <a:srgbClr val="000000"/>
                </a:solidFill>
                <a:latin typeface="Open Sans"/>
                <a:ea typeface="Open Sans"/>
                <a:cs typeface="Open Sans"/>
                <a:sym typeface="Open Sans"/>
              </a:rPr>
              <a:t>VISUAL STUDIO</a:t>
            </a:r>
            <a:endParaRPr/>
          </a:p>
        </p:txBody>
      </p:sp>
      <p:sp>
        <p:nvSpPr>
          <p:cNvPr id="310" name="Google Shape;310;p17"/>
          <p:cNvSpPr txBox="1"/>
          <p:nvPr/>
        </p:nvSpPr>
        <p:spPr>
          <a:xfrm>
            <a:off x="1028700" y="2219325"/>
            <a:ext cx="12636437" cy="7038975"/>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lang="en-US" sz="2600">
                <a:solidFill>
                  <a:srgbClr val="000000"/>
                </a:solidFill>
                <a:latin typeface="Open Sans"/>
                <a:ea typeface="Open Sans"/>
                <a:cs typeface="Open Sans"/>
                <a:sym typeface="Open Sans"/>
              </a:rPr>
              <a:t>Visual Studio es una herramienta eficaz para desarrolladores que puede usar para completar todo el ciclo de desarrollo en un solo lugar. Es un entorno de desarrollo integrado (IDE) completo que puede usar para escribir, editar, depurar y compilar código y, a continuación, implementar la aplicación. </a:t>
            </a:r>
            <a:endParaRPr/>
          </a:p>
          <a:p>
            <a:pPr indent="0" lvl="0" marL="0" marR="0" rtl="0" algn="just">
              <a:lnSpc>
                <a:spcPct val="120000"/>
              </a:lnSpc>
              <a:spcBef>
                <a:spcPts val="0"/>
              </a:spcBef>
              <a:spcAft>
                <a:spcPts val="0"/>
              </a:spcAft>
              <a:buNone/>
            </a:pPr>
            <a:r>
              <a:t/>
            </a:r>
            <a:endParaRPr sz="2600">
              <a:solidFill>
                <a:srgbClr val="000000"/>
              </a:solidFill>
              <a:latin typeface="Open Sans"/>
              <a:ea typeface="Open Sans"/>
              <a:cs typeface="Open Sans"/>
              <a:sym typeface="Open Sans"/>
            </a:endParaRPr>
          </a:p>
          <a:p>
            <a:pPr indent="0" lvl="0" marL="0" marR="0" rtl="0" algn="just">
              <a:lnSpc>
                <a:spcPct val="120000"/>
              </a:lnSpc>
              <a:spcBef>
                <a:spcPts val="0"/>
              </a:spcBef>
              <a:spcAft>
                <a:spcPts val="0"/>
              </a:spcAft>
              <a:buNone/>
            </a:pPr>
            <a:r>
              <a:rPr b="1" lang="en-US" sz="2600">
                <a:solidFill>
                  <a:srgbClr val="000000"/>
                </a:solidFill>
                <a:latin typeface="Open Sans"/>
                <a:ea typeface="Open Sans"/>
                <a:cs typeface="Open Sans"/>
                <a:sym typeface="Open Sans"/>
              </a:rPr>
              <a:t>¿Por qué usar Visual Studio?</a:t>
            </a:r>
            <a:endParaRPr/>
          </a:p>
          <a:p>
            <a:pPr indent="0" lvl="0" marL="0" marR="0" rtl="0" algn="just">
              <a:lnSpc>
                <a:spcPct val="120000"/>
              </a:lnSpc>
              <a:spcBef>
                <a:spcPts val="0"/>
              </a:spcBef>
              <a:spcAft>
                <a:spcPts val="0"/>
              </a:spcAft>
              <a:buNone/>
            </a:pPr>
            <a:r>
              <a:rPr lang="en-US" sz="2600">
                <a:solidFill>
                  <a:srgbClr val="000000"/>
                </a:solidFill>
                <a:latin typeface="Open Sans"/>
                <a:ea typeface="Open Sans"/>
                <a:cs typeface="Open Sans"/>
                <a:sym typeface="Open Sans"/>
              </a:rPr>
              <a:t>Visual Studio proporciona a los desarrolladores un entorno de desarrollo enriquecido con características para desarrollar código de forma eficaz y colaborativa.</a:t>
            </a:r>
            <a:endParaRPr/>
          </a:p>
          <a:p>
            <a:pPr indent="-280670" lvl="1" marL="561341" marR="0" rtl="0" algn="just">
              <a:lnSpc>
                <a:spcPct val="120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Instalador basado en cargas de trabajo. Instale solo lo que necesita.</a:t>
            </a:r>
            <a:endParaRPr/>
          </a:p>
          <a:p>
            <a:pPr indent="-280670" lvl="1" marL="561341" marR="0" rtl="0" algn="just">
              <a:lnSpc>
                <a:spcPct val="120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Potentes herramientas y características de codificación.</a:t>
            </a:r>
            <a:endParaRPr/>
          </a:p>
          <a:p>
            <a:pPr indent="-280670" lvl="1" marL="561341" marR="0" rtl="0" algn="just">
              <a:lnSpc>
                <a:spcPct val="120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Compatibilidad con varios idiomas. Código en C++, C#, JavaScript, TypeScript, Python, etc.</a:t>
            </a:r>
            <a:endParaRPr/>
          </a:p>
          <a:p>
            <a:pPr indent="-280670" lvl="1" marL="561341" marR="0" rtl="0" algn="just">
              <a:lnSpc>
                <a:spcPct val="120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Desarrollo multiplataforma. Cree aplicaciones para cualquier plataforma.</a:t>
            </a:r>
            <a:endParaRPr/>
          </a:p>
          <a:p>
            <a:pPr indent="-280670" lvl="1" marL="561341" marR="0" rtl="0" algn="just">
              <a:lnSpc>
                <a:spcPct val="120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Integración del control de versiones. Colabore en el código con compañeros de equipo.</a:t>
            </a:r>
            <a:endParaRPr/>
          </a:p>
          <a:p>
            <a:pPr indent="-280670" lvl="1" marL="561341" marR="0" rtl="0" algn="just">
              <a:lnSpc>
                <a:spcPct val="120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Desarrollo asistido por IA. Escribir código de forma eficaz con ayuda de IA.</a:t>
            </a:r>
            <a:endParaRPr/>
          </a:p>
          <a:p>
            <a:pPr indent="0" lvl="0" marL="0" marR="0" rtl="0" algn="just">
              <a:lnSpc>
                <a:spcPct val="120000"/>
              </a:lnSpc>
              <a:spcBef>
                <a:spcPts val="0"/>
              </a:spcBef>
              <a:spcAft>
                <a:spcPts val="0"/>
              </a:spcAft>
              <a:buNone/>
            </a:pPr>
            <a:r>
              <a:t/>
            </a:r>
            <a:endParaRPr sz="2600">
              <a:solidFill>
                <a:srgbClr val="000000"/>
              </a:solidFill>
              <a:latin typeface="Open Sans"/>
              <a:ea typeface="Open Sans"/>
              <a:cs typeface="Open Sans"/>
              <a:sym typeface="Open Sans"/>
            </a:endParaRPr>
          </a:p>
        </p:txBody>
      </p:sp>
      <p:sp>
        <p:nvSpPr>
          <p:cNvPr id="311" name="Google Shape;311;p17"/>
          <p:cNvSpPr/>
          <p:nvPr/>
        </p:nvSpPr>
        <p:spPr>
          <a:xfrm>
            <a:off x="14059796" y="4073209"/>
            <a:ext cx="2743814" cy="2743814"/>
          </a:xfrm>
          <a:custGeom>
            <a:rect b="b" l="l" r="r" t="t"/>
            <a:pathLst>
              <a:path extrusionOk="0" h="2743814" w="2743814">
                <a:moveTo>
                  <a:pt x="0" y="0"/>
                </a:moveTo>
                <a:lnTo>
                  <a:pt x="2743814" y="0"/>
                </a:lnTo>
                <a:lnTo>
                  <a:pt x="2743814" y="2743814"/>
                </a:lnTo>
                <a:lnTo>
                  <a:pt x="0" y="274381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8"/>
          <p:cNvSpPr/>
          <p:nvPr/>
        </p:nvSpPr>
        <p:spPr>
          <a:xfrm>
            <a:off x="0" y="8919658"/>
            <a:ext cx="3022378" cy="950138"/>
          </a:xfrm>
          <a:custGeom>
            <a:rect b="b" l="l" r="r" t="t"/>
            <a:pathLst>
              <a:path extrusionOk="0" h="950138" w="3022378">
                <a:moveTo>
                  <a:pt x="0" y="0"/>
                </a:moveTo>
                <a:lnTo>
                  <a:pt x="3022378" y="0"/>
                </a:lnTo>
                <a:lnTo>
                  <a:pt x="3022378" y="950137"/>
                </a:lnTo>
                <a:lnTo>
                  <a:pt x="0" y="950137"/>
                </a:lnTo>
                <a:lnTo>
                  <a:pt x="0" y="0"/>
                </a:lnTo>
                <a:close/>
              </a:path>
            </a:pathLst>
          </a:custGeom>
          <a:blipFill rotWithShape="1">
            <a:blip r:embed="rId4">
              <a:alphaModFix/>
            </a:blip>
            <a:stretch>
              <a:fillRect b="-135" l="0" r="0" t="-1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8"/>
          <p:cNvSpPr/>
          <p:nvPr/>
        </p:nvSpPr>
        <p:spPr>
          <a:xfrm>
            <a:off x="4472902" y="0"/>
            <a:ext cx="4980946" cy="1366371"/>
          </a:xfrm>
          <a:custGeom>
            <a:rect b="b" l="l" r="r" t="t"/>
            <a:pathLst>
              <a:path extrusionOk="0" h="1366371" w="4980946">
                <a:moveTo>
                  <a:pt x="0" y="0"/>
                </a:moveTo>
                <a:lnTo>
                  <a:pt x="4980946" y="0"/>
                </a:lnTo>
                <a:lnTo>
                  <a:pt x="4980946" y="1366371"/>
                </a:lnTo>
                <a:lnTo>
                  <a:pt x="0" y="1366371"/>
                </a:lnTo>
                <a:lnTo>
                  <a:pt x="0" y="0"/>
                </a:lnTo>
                <a:close/>
              </a:path>
            </a:pathLst>
          </a:custGeom>
          <a:blipFill rotWithShape="1">
            <a:blip r:embed="rId5">
              <a:alphaModFix/>
            </a:blip>
            <a:stretch>
              <a:fillRect b="-498" l="0" r="0" t="-4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8"/>
          <p:cNvSpPr/>
          <p:nvPr/>
        </p:nvSpPr>
        <p:spPr>
          <a:xfrm>
            <a:off x="3431076" y="8919658"/>
            <a:ext cx="2587019" cy="1367342"/>
          </a:xfrm>
          <a:custGeom>
            <a:rect b="b" l="l" r="r" t="t"/>
            <a:pathLst>
              <a:path extrusionOk="0" h="1367342" w="2587019">
                <a:moveTo>
                  <a:pt x="0" y="0"/>
                </a:moveTo>
                <a:lnTo>
                  <a:pt x="2587019" y="0"/>
                </a:lnTo>
                <a:lnTo>
                  <a:pt x="2587019" y="1367342"/>
                </a:lnTo>
                <a:lnTo>
                  <a:pt x="0" y="1367342"/>
                </a:lnTo>
                <a:lnTo>
                  <a:pt x="0" y="0"/>
                </a:lnTo>
                <a:close/>
              </a:path>
            </a:pathLst>
          </a:custGeom>
          <a:blipFill rotWithShape="1">
            <a:blip r:embed="rId6">
              <a:alphaModFix/>
            </a:blip>
            <a:stretch>
              <a:fillRect b="0" l="-522" r="-52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8"/>
          <p:cNvSpPr/>
          <p:nvPr/>
        </p:nvSpPr>
        <p:spPr>
          <a:xfrm>
            <a:off x="0" y="0"/>
            <a:ext cx="1748752" cy="2052171"/>
          </a:xfrm>
          <a:custGeom>
            <a:rect b="b" l="l" r="r" t="t"/>
            <a:pathLst>
              <a:path extrusionOk="0" h="2052171" w="1748752">
                <a:moveTo>
                  <a:pt x="0" y="0"/>
                </a:moveTo>
                <a:lnTo>
                  <a:pt x="1748752" y="0"/>
                </a:lnTo>
                <a:lnTo>
                  <a:pt x="1748752" y="2052171"/>
                </a:lnTo>
                <a:lnTo>
                  <a:pt x="0" y="2052171"/>
                </a:lnTo>
                <a:lnTo>
                  <a:pt x="0" y="0"/>
                </a:lnTo>
                <a:close/>
              </a:path>
            </a:pathLst>
          </a:custGeom>
          <a:blipFill rotWithShape="1">
            <a:blip r:embed="rId7">
              <a:alphaModFix/>
            </a:blip>
            <a:stretch>
              <a:fillRect b="-498" l="0" r="0" t="-49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8"/>
          <p:cNvSpPr/>
          <p:nvPr/>
        </p:nvSpPr>
        <p:spPr>
          <a:xfrm>
            <a:off x="6427670" y="7199027"/>
            <a:ext cx="1720631" cy="1720631"/>
          </a:xfrm>
          <a:custGeom>
            <a:rect b="b" l="l" r="r" t="t"/>
            <a:pathLst>
              <a:path extrusionOk="0" h="1720631" w="1720631">
                <a:moveTo>
                  <a:pt x="0" y="0"/>
                </a:moveTo>
                <a:lnTo>
                  <a:pt x="1720631" y="0"/>
                </a:lnTo>
                <a:lnTo>
                  <a:pt x="1720631" y="1720631"/>
                </a:lnTo>
                <a:lnTo>
                  <a:pt x="0" y="1720631"/>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8"/>
          <p:cNvSpPr/>
          <p:nvPr/>
        </p:nvSpPr>
        <p:spPr>
          <a:xfrm>
            <a:off x="8405476" y="4800378"/>
            <a:ext cx="8493359" cy="4119279"/>
          </a:xfrm>
          <a:custGeom>
            <a:rect b="b" l="l" r="r" t="t"/>
            <a:pathLst>
              <a:path extrusionOk="0" h="4119279" w="8493359">
                <a:moveTo>
                  <a:pt x="0" y="0"/>
                </a:moveTo>
                <a:lnTo>
                  <a:pt x="8493359" y="0"/>
                </a:lnTo>
                <a:lnTo>
                  <a:pt x="8493359" y="4119280"/>
                </a:lnTo>
                <a:lnTo>
                  <a:pt x="0" y="4119280"/>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8"/>
          <p:cNvSpPr txBox="1"/>
          <p:nvPr/>
        </p:nvSpPr>
        <p:spPr>
          <a:xfrm>
            <a:off x="822803" y="7495048"/>
            <a:ext cx="5347692" cy="8070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lang="en-US" sz="4599" u="sng">
                <a:solidFill>
                  <a:srgbClr val="000000"/>
                </a:solidFill>
                <a:latin typeface="Arimo"/>
                <a:ea typeface="Arimo"/>
                <a:cs typeface="Arimo"/>
                <a:sym typeface="Arimo"/>
                <a:hlinkClick r:id="rId10">
                  <a:extLst>
                    <a:ext uri="{A12FA001-AC4F-418D-AE19-62706E023703}">
                      <ahyp:hlinkClr val="tx"/>
                    </a:ext>
                  </a:extLst>
                </a:hlinkClick>
              </a:rPr>
              <a:t>Enlace Visual Studio</a:t>
            </a:r>
            <a:endParaRPr/>
          </a:p>
        </p:txBody>
      </p:sp>
      <p:sp>
        <p:nvSpPr>
          <p:cNvPr id="324" name="Google Shape;324;p18"/>
          <p:cNvSpPr txBox="1"/>
          <p:nvPr/>
        </p:nvSpPr>
        <p:spPr>
          <a:xfrm>
            <a:off x="748994" y="1332309"/>
            <a:ext cx="16790012" cy="11144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400">
                <a:solidFill>
                  <a:srgbClr val="000000"/>
                </a:solidFill>
                <a:latin typeface="Open Sans"/>
                <a:ea typeface="Open Sans"/>
                <a:cs typeface="Open Sans"/>
                <a:sym typeface="Open Sans"/>
              </a:rPr>
              <a:t>PASOS PAR INSTALAR VISUAL STUDIO</a:t>
            </a:r>
            <a:endParaRPr/>
          </a:p>
        </p:txBody>
      </p:sp>
      <p:sp>
        <p:nvSpPr>
          <p:cNvPr id="325" name="Google Shape;325;p18"/>
          <p:cNvSpPr txBox="1"/>
          <p:nvPr/>
        </p:nvSpPr>
        <p:spPr>
          <a:xfrm>
            <a:off x="1028700" y="2530831"/>
            <a:ext cx="15746778" cy="2286000"/>
          </a:xfrm>
          <a:prstGeom prst="rect">
            <a:avLst/>
          </a:prstGeom>
          <a:noFill/>
          <a:ln>
            <a:noFill/>
          </a:ln>
        </p:spPr>
        <p:txBody>
          <a:bodyPr anchorCtr="0" anchor="t" bIns="0" lIns="0" spcFirstLastPara="1" rIns="0" wrap="square" tIns="0">
            <a:spAutoFit/>
          </a:bodyPr>
          <a:lstStyle/>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Descargar el instalador de Visual Studio Community.</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Ejecutar el instalador descargado</a:t>
            </a:r>
            <a:endParaRPr/>
          </a:p>
          <a:p>
            <a:pPr indent="-410206" lvl="1" marL="820412" marR="0" rtl="0" algn="just">
              <a:lnSpc>
                <a:spcPct val="120005"/>
              </a:lnSpc>
              <a:spcBef>
                <a:spcPts val="0"/>
              </a:spcBef>
              <a:spcAft>
                <a:spcPts val="0"/>
              </a:spcAft>
              <a:buClr>
                <a:srgbClr val="000000"/>
              </a:buClr>
              <a:buSzPts val="3799"/>
              <a:buFont typeface="Open Sans"/>
              <a:buAutoNum type="arabicPeriod"/>
            </a:pPr>
            <a:r>
              <a:rPr b="0" i="0" lang="en-US" sz="3799" u="none" cap="none" strike="noStrike">
                <a:solidFill>
                  <a:srgbClr val="000000"/>
                </a:solidFill>
                <a:latin typeface="Open Sans"/>
                <a:ea typeface="Open Sans"/>
                <a:cs typeface="Open Sans"/>
                <a:sym typeface="Open Sans"/>
              </a:rPr>
              <a:t>Se abrirá una ventana para seleccionar los paquetes que deseamos instalar.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9"/>
          <p:cNvSpPr/>
          <p:nvPr/>
        </p:nvSpPr>
        <p:spPr>
          <a:xfrm>
            <a:off x="15353490" y="8540134"/>
            <a:ext cx="2934510" cy="1746866"/>
          </a:xfrm>
          <a:custGeom>
            <a:rect b="b" l="l" r="r" t="t"/>
            <a:pathLst>
              <a:path extrusionOk="0" h="1746866" w="2934510">
                <a:moveTo>
                  <a:pt x="0" y="0"/>
                </a:moveTo>
                <a:lnTo>
                  <a:pt x="2934510" y="0"/>
                </a:lnTo>
                <a:lnTo>
                  <a:pt x="2934510" y="1746866"/>
                </a:lnTo>
                <a:lnTo>
                  <a:pt x="0" y="1746866"/>
                </a:lnTo>
                <a:lnTo>
                  <a:pt x="0" y="0"/>
                </a:lnTo>
                <a:close/>
              </a:path>
            </a:pathLst>
          </a:custGeom>
          <a:blipFill rotWithShape="1">
            <a:blip r:embed="rId4">
              <a:alphaModFix/>
            </a:blip>
            <a:stretch>
              <a:fillRect b="-50" l="0" r="0" t="-5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9"/>
          <p:cNvSpPr/>
          <p:nvPr/>
        </p:nvSpPr>
        <p:spPr>
          <a:xfrm>
            <a:off x="9144000"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5">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19"/>
          <p:cNvSpPr/>
          <p:nvPr/>
        </p:nvSpPr>
        <p:spPr>
          <a:xfrm>
            <a:off x="4580544" y="0"/>
            <a:ext cx="2892762" cy="589617"/>
          </a:xfrm>
          <a:custGeom>
            <a:rect b="b" l="l" r="r" t="t"/>
            <a:pathLst>
              <a:path extrusionOk="0" h="589617" w="2892762">
                <a:moveTo>
                  <a:pt x="0" y="0"/>
                </a:moveTo>
                <a:lnTo>
                  <a:pt x="2892761" y="0"/>
                </a:lnTo>
                <a:lnTo>
                  <a:pt x="2892761" y="589617"/>
                </a:lnTo>
                <a:lnTo>
                  <a:pt x="0" y="589617"/>
                </a:lnTo>
                <a:lnTo>
                  <a:pt x="0" y="0"/>
                </a:lnTo>
                <a:close/>
              </a:path>
            </a:pathLst>
          </a:custGeom>
          <a:blipFill rotWithShape="1">
            <a:blip r:embed="rId6">
              <a:alphaModFix/>
            </a:blip>
            <a:stretch>
              <a:fillRect b="-345" l="0" r="0" t="-34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9"/>
          <p:cNvSpPr/>
          <p:nvPr/>
        </p:nvSpPr>
        <p:spPr>
          <a:xfrm>
            <a:off x="17259300" y="0"/>
            <a:ext cx="1028700" cy="2969981"/>
          </a:xfrm>
          <a:custGeom>
            <a:rect b="b" l="l" r="r" t="t"/>
            <a:pathLst>
              <a:path extrusionOk="0" h="2969981" w="1028700">
                <a:moveTo>
                  <a:pt x="0" y="0"/>
                </a:moveTo>
                <a:lnTo>
                  <a:pt x="1028700" y="0"/>
                </a:lnTo>
                <a:lnTo>
                  <a:pt x="1028700" y="2969981"/>
                </a:lnTo>
                <a:lnTo>
                  <a:pt x="0" y="2969981"/>
                </a:lnTo>
                <a:lnTo>
                  <a:pt x="0" y="0"/>
                </a:lnTo>
                <a:close/>
              </a:path>
            </a:pathLst>
          </a:custGeom>
          <a:blipFill rotWithShape="1">
            <a:blip r:embed="rId7">
              <a:alphaModFix/>
            </a:blip>
            <a:stretch>
              <a:fillRect b="-118" l="0" r="0" t="-11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9"/>
          <p:cNvSpPr/>
          <p:nvPr/>
        </p:nvSpPr>
        <p:spPr>
          <a:xfrm>
            <a:off x="7194370" y="1935312"/>
            <a:ext cx="10579280" cy="5977293"/>
          </a:xfrm>
          <a:custGeom>
            <a:rect b="b" l="l" r="r" t="t"/>
            <a:pathLst>
              <a:path extrusionOk="0" h="5977293" w="10579280">
                <a:moveTo>
                  <a:pt x="0" y="0"/>
                </a:moveTo>
                <a:lnTo>
                  <a:pt x="10579280" y="0"/>
                </a:lnTo>
                <a:lnTo>
                  <a:pt x="10579280" y="5977293"/>
                </a:lnTo>
                <a:lnTo>
                  <a:pt x="0" y="597729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9"/>
          <p:cNvSpPr txBox="1"/>
          <p:nvPr/>
        </p:nvSpPr>
        <p:spPr>
          <a:xfrm>
            <a:off x="694902" y="589617"/>
            <a:ext cx="6081811" cy="8229600"/>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None/>
            </a:pPr>
            <a:r>
              <a:t/>
            </a:r>
            <a:endParaRPr sz="1800">
              <a:solidFill>
                <a:schemeClr val="dk1"/>
              </a:solidFill>
              <a:latin typeface="Calibri"/>
              <a:ea typeface="Calibri"/>
              <a:cs typeface="Calibri"/>
              <a:sym typeface="Calibri"/>
            </a:endParaRPr>
          </a:p>
          <a:p>
            <a:pPr indent="-323850" lvl="1" marL="647700" marR="0" rtl="0" algn="just">
              <a:lnSpc>
                <a:spcPct val="120000"/>
              </a:lnSpc>
              <a:spcBef>
                <a:spcPts val="0"/>
              </a:spcBef>
              <a:spcAft>
                <a:spcPts val="0"/>
              </a:spcAft>
              <a:buClr>
                <a:srgbClr val="000000"/>
              </a:buClr>
              <a:buSzPts val="3000"/>
              <a:buFont typeface="Open Sans"/>
              <a:buAutoNum type="arabicPeriod"/>
            </a:pPr>
            <a:r>
              <a:rPr b="1" i="1" lang="en-US" sz="3000" u="none" cap="none" strike="noStrike">
                <a:solidFill>
                  <a:srgbClr val="000000"/>
                </a:solidFill>
                <a:latin typeface="Open Sans"/>
                <a:ea typeface="Open Sans"/>
                <a:cs typeface="Open Sans"/>
                <a:sym typeface="Open Sans"/>
              </a:rPr>
              <a:t>Selección de carga de trabajo (.NET):</a:t>
            </a:r>
            <a:r>
              <a:rPr b="0" i="0" lang="en-US" sz="3000" u="none" cap="none" strike="noStrike">
                <a:solidFill>
                  <a:srgbClr val="000000"/>
                </a:solidFill>
                <a:latin typeface="Open Sans"/>
                <a:ea typeface="Open Sans"/>
                <a:cs typeface="Open Sans"/>
                <a:sym typeface="Open Sans"/>
              </a:rPr>
              <a:t> Se selecciona Desarrollo de escritorio de .NET porque está enfocado en usar C# para crear aplicaciones de escritorio y de consola.</a:t>
            </a:r>
            <a:endParaRPr/>
          </a:p>
          <a:p>
            <a:pPr indent="-323850" lvl="1" marL="647700" marR="0" rtl="0" algn="just">
              <a:lnSpc>
                <a:spcPct val="120000"/>
              </a:lnSpc>
              <a:spcBef>
                <a:spcPts val="0"/>
              </a:spcBef>
              <a:spcAft>
                <a:spcPts val="0"/>
              </a:spcAft>
              <a:buClr>
                <a:srgbClr val="000000"/>
              </a:buClr>
              <a:buSzPts val="3000"/>
              <a:buFont typeface="Open Sans"/>
              <a:buAutoNum type="arabicPeriod"/>
            </a:pPr>
            <a:r>
              <a:rPr b="1" i="0" lang="en-US" sz="3000" u="none" cap="none" strike="noStrike">
                <a:solidFill>
                  <a:srgbClr val="000000"/>
                </a:solidFill>
                <a:latin typeface="Open Sans"/>
                <a:ea typeface="Open Sans"/>
                <a:cs typeface="Open Sans"/>
                <a:sym typeface="Open Sans"/>
              </a:rPr>
              <a:t>Detalles de la instalación:</a:t>
            </a:r>
            <a:r>
              <a:rPr b="0" i="0" lang="en-US" sz="3000" u="none" cap="none" strike="noStrike">
                <a:solidFill>
                  <a:srgbClr val="000000"/>
                </a:solidFill>
                <a:latin typeface="Open Sans"/>
                <a:ea typeface="Open Sans"/>
                <a:cs typeface="Open Sans"/>
                <a:sym typeface="Open Sans"/>
              </a:rPr>
              <a:t> Muestra los componentes que se instalarán junto con .NET, como herramientas de desarrollo, depuración e IntelliCode.</a:t>
            </a:r>
            <a:endParaRPr/>
          </a:p>
          <a:p>
            <a:pPr indent="-323850" lvl="1" marL="647700" marR="0" rtl="0" algn="just">
              <a:lnSpc>
                <a:spcPct val="120000"/>
              </a:lnSpc>
              <a:spcBef>
                <a:spcPts val="0"/>
              </a:spcBef>
              <a:spcAft>
                <a:spcPts val="0"/>
              </a:spcAft>
              <a:buClr>
                <a:srgbClr val="000000"/>
              </a:buClr>
              <a:buSzPts val="3000"/>
              <a:buFont typeface="Open Sans"/>
              <a:buAutoNum type="arabicPeriod"/>
            </a:pPr>
            <a:r>
              <a:rPr b="1" i="0" lang="en-US" sz="3000" u="none" cap="none" strike="noStrike">
                <a:solidFill>
                  <a:srgbClr val="000000"/>
                </a:solidFill>
                <a:latin typeface="Open Sans"/>
                <a:ea typeface="Open Sans"/>
                <a:cs typeface="Open Sans"/>
                <a:sym typeface="Open Sans"/>
              </a:rPr>
              <a:t>Ubicación y tamaño:</a:t>
            </a:r>
            <a:r>
              <a:rPr b="0" i="0" lang="en-US" sz="3000" u="none" cap="none" strike="noStrike">
                <a:solidFill>
                  <a:srgbClr val="000000"/>
                </a:solidFill>
                <a:latin typeface="Open Sans"/>
                <a:ea typeface="Open Sans"/>
                <a:cs typeface="Open Sans"/>
                <a:sym typeface="Open Sans"/>
              </a:rPr>
              <a:t> Indica la carpeta de instalación y el espacio en disco requerido, y permite iniciar la instalación.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20"/>
          <p:cNvSpPr/>
          <p:nvPr/>
        </p:nvSpPr>
        <p:spPr>
          <a:xfrm>
            <a:off x="1582393" y="7269320"/>
            <a:ext cx="1720631" cy="1720631"/>
          </a:xfrm>
          <a:custGeom>
            <a:rect b="b" l="l" r="r" t="t"/>
            <a:pathLst>
              <a:path extrusionOk="0" h="1720631" w="1720631">
                <a:moveTo>
                  <a:pt x="0" y="0"/>
                </a:moveTo>
                <a:lnTo>
                  <a:pt x="1720631" y="0"/>
                </a:lnTo>
                <a:lnTo>
                  <a:pt x="1720631" y="1720631"/>
                </a:lnTo>
                <a:lnTo>
                  <a:pt x="0" y="172063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20"/>
          <p:cNvSpPr/>
          <p:nvPr/>
        </p:nvSpPr>
        <p:spPr>
          <a:xfrm>
            <a:off x="10181439" y="6724512"/>
            <a:ext cx="4684710" cy="3121188"/>
          </a:xfrm>
          <a:custGeom>
            <a:rect b="b" l="l" r="r" t="t"/>
            <a:pathLst>
              <a:path extrusionOk="0" h="3121188" w="4684710">
                <a:moveTo>
                  <a:pt x="0" y="0"/>
                </a:moveTo>
                <a:lnTo>
                  <a:pt x="4684710" y="0"/>
                </a:lnTo>
                <a:lnTo>
                  <a:pt x="4684710" y="3121188"/>
                </a:lnTo>
                <a:lnTo>
                  <a:pt x="0" y="312118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20"/>
          <p:cNvSpPr txBox="1"/>
          <p:nvPr/>
        </p:nvSpPr>
        <p:spPr>
          <a:xfrm>
            <a:off x="1028700" y="877281"/>
            <a:ext cx="12717698"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000">
                <a:solidFill>
                  <a:srgbClr val="000000"/>
                </a:solidFill>
                <a:latin typeface="Open Sans"/>
                <a:ea typeface="Open Sans"/>
                <a:cs typeface="Open Sans"/>
                <a:sym typeface="Open Sans"/>
              </a:rPr>
              <a:t>CURSOR</a:t>
            </a:r>
            <a:endParaRPr/>
          </a:p>
        </p:txBody>
      </p:sp>
      <p:sp>
        <p:nvSpPr>
          <p:cNvPr id="345" name="Google Shape;345;p20"/>
          <p:cNvSpPr txBox="1"/>
          <p:nvPr/>
        </p:nvSpPr>
        <p:spPr>
          <a:xfrm>
            <a:off x="1161337" y="2310246"/>
            <a:ext cx="16097963" cy="4242816"/>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lang="en-US" sz="2600">
                <a:solidFill>
                  <a:srgbClr val="000000"/>
                </a:solidFill>
                <a:latin typeface="Open Sans"/>
                <a:ea typeface="Open Sans"/>
                <a:cs typeface="Open Sans"/>
                <a:sym typeface="Open Sans"/>
              </a:rPr>
              <a:t>Es un IDE moderno basado en Visual Studio Code, que integra inteligencia artificial para ayudar a los desarrolladores a escribir, entender, depurar y refactorizar código de forma más rápida. Soporta múltiples lenguajes de programación, ofrece autocompletado inteligente, generación de código, explicación de fragmentos y edición asistida por IA, lo que lo hace útil tanto para principiantes como para programadores experimentados.</a:t>
            </a:r>
            <a:endParaRPr/>
          </a:p>
          <a:p>
            <a:pPr indent="0" lvl="0" marL="0" marR="0" rtl="0" algn="just">
              <a:lnSpc>
                <a:spcPct val="162000"/>
              </a:lnSpc>
              <a:spcBef>
                <a:spcPts val="0"/>
              </a:spcBef>
              <a:spcAft>
                <a:spcPts val="0"/>
              </a:spcAft>
              <a:buNone/>
            </a:pPr>
            <a:r>
              <a:t/>
            </a:r>
            <a:endParaRPr sz="2600">
              <a:solidFill>
                <a:srgbClr val="000000"/>
              </a:solidFill>
              <a:latin typeface="Open Sans"/>
              <a:ea typeface="Open Sans"/>
              <a:cs typeface="Open Sans"/>
              <a:sym typeface="Open Sans"/>
            </a:endParaRPr>
          </a:p>
          <a:p>
            <a:pPr indent="0" lvl="0" marL="0" marR="0" rtl="0" algn="just">
              <a:lnSpc>
                <a:spcPct val="162000"/>
              </a:lnSpc>
              <a:spcBef>
                <a:spcPts val="0"/>
              </a:spcBef>
              <a:spcAft>
                <a:spcPts val="0"/>
              </a:spcAft>
              <a:buNone/>
            </a:pPr>
            <a:r>
              <a:rPr lang="en-US" sz="2600">
                <a:solidFill>
                  <a:srgbClr val="000000"/>
                </a:solidFill>
                <a:latin typeface="Open Sans"/>
                <a:ea typeface="Open Sans"/>
                <a:cs typeface="Open Sans"/>
                <a:sym typeface="Open Sans"/>
              </a:rPr>
              <a:t>Cursor IDE se destaca en este espacio competitivo debido a su énfasis en la eficiencia, la personalización y la colaboración, por lo que es una opción popular para los desarrolladores individuales y equipos.</a:t>
            </a:r>
            <a:endParaRPr/>
          </a:p>
        </p:txBody>
      </p:sp>
      <p:sp>
        <p:nvSpPr>
          <p:cNvPr id="346" name="Google Shape;346;p20"/>
          <p:cNvSpPr txBox="1"/>
          <p:nvPr/>
        </p:nvSpPr>
        <p:spPr>
          <a:xfrm>
            <a:off x="3746649" y="7668943"/>
            <a:ext cx="4480024" cy="8070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lang="en-US" sz="4599" u="sng">
                <a:solidFill>
                  <a:srgbClr val="000000"/>
                </a:solidFill>
                <a:latin typeface="Arimo"/>
                <a:ea typeface="Arimo"/>
                <a:cs typeface="Arimo"/>
                <a:sym typeface="Arimo"/>
                <a:hlinkClick r:id="rId6">
                  <a:extLst>
                    <a:ext uri="{A12FA001-AC4F-418D-AE19-62706E023703}">
                      <ahyp:hlinkClr val="tx"/>
                    </a:ext>
                  </a:extLst>
                </a:hlinkClick>
              </a:rPr>
              <a:t>Enlace CURSOR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21"/>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21"/>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1"/>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21"/>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21"/>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21"/>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21"/>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21"/>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21"/>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21"/>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21"/>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1"/>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1"/>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21"/>
          <p:cNvSpPr txBox="1"/>
          <p:nvPr/>
        </p:nvSpPr>
        <p:spPr>
          <a:xfrm>
            <a:off x="3110108" y="3451611"/>
            <a:ext cx="11960857" cy="3064510"/>
          </a:xfrm>
          <a:prstGeom prst="rect">
            <a:avLst/>
          </a:prstGeom>
          <a:noFill/>
          <a:ln>
            <a:noFill/>
          </a:ln>
        </p:spPr>
        <p:txBody>
          <a:bodyPr anchorCtr="0" anchor="t" bIns="0" lIns="0" spcFirstLastPara="1" rIns="0" wrap="square" tIns="0">
            <a:spAutoFit/>
          </a:bodyPr>
          <a:lstStyle/>
          <a:p>
            <a:pPr indent="0" lvl="0" marL="0" marR="0" rtl="0" algn="ctr">
              <a:lnSpc>
                <a:spcPct val="104377"/>
              </a:lnSpc>
              <a:spcBef>
                <a:spcPts val="0"/>
              </a:spcBef>
              <a:spcAft>
                <a:spcPts val="0"/>
              </a:spcAft>
              <a:buNone/>
            </a:pPr>
            <a:r>
              <a:rPr b="1" lang="en-US" sz="11400">
                <a:solidFill>
                  <a:srgbClr val="000000"/>
                </a:solidFill>
                <a:latin typeface="Open Sans"/>
                <a:ea typeface="Open Sans"/>
                <a:cs typeface="Open Sans"/>
                <a:sym typeface="Open Sans"/>
              </a:rPr>
              <a:t>PROGRAMACIÓN BÁSICA CON C#</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22"/>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22"/>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2"/>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22"/>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22"/>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2"/>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22"/>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2"/>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22"/>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22"/>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2"/>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22"/>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22"/>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2"/>
          <p:cNvSpPr/>
          <p:nvPr/>
        </p:nvSpPr>
        <p:spPr>
          <a:xfrm>
            <a:off x="9564796" y="2609387"/>
            <a:ext cx="7537960" cy="6049331"/>
          </a:xfrm>
          <a:custGeom>
            <a:rect b="b" l="l" r="r" t="t"/>
            <a:pathLst>
              <a:path extrusionOk="0" h="6049331" w="7537960">
                <a:moveTo>
                  <a:pt x="0" y="0"/>
                </a:moveTo>
                <a:lnTo>
                  <a:pt x="7537960" y="0"/>
                </a:lnTo>
                <a:lnTo>
                  <a:pt x="7537960" y="6049331"/>
                </a:lnTo>
                <a:lnTo>
                  <a:pt x="0" y="6049331"/>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22"/>
          <p:cNvSpPr txBox="1"/>
          <p:nvPr/>
        </p:nvSpPr>
        <p:spPr>
          <a:xfrm>
            <a:off x="4567178" y="1367922"/>
            <a:ext cx="11206222" cy="1038225"/>
          </a:xfrm>
          <a:prstGeom prst="rect">
            <a:avLst/>
          </a:prstGeom>
          <a:noFill/>
          <a:ln>
            <a:noFill/>
          </a:ln>
        </p:spPr>
        <p:txBody>
          <a:bodyPr anchorCtr="0" anchor="t" bIns="0" lIns="0" spcFirstLastPara="1" rIns="0" wrap="square" tIns="0">
            <a:spAutoFit/>
          </a:bodyPr>
          <a:lstStyle/>
          <a:p>
            <a:pPr indent="0" lvl="0" marL="0" marR="0" rtl="0" algn="l">
              <a:lnSpc>
                <a:spcPct val="119985"/>
              </a:lnSpc>
              <a:spcBef>
                <a:spcPts val="0"/>
              </a:spcBef>
              <a:spcAft>
                <a:spcPts val="0"/>
              </a:spcAft>
              <a:buNone/>
            </a:pPr>
            <a:r>
              <a:rPr b="1" lang="en-US" sz="6800">
                <a:solidFill>
                  <a:srgbClr val="000000"/>
                </a:solidFill>
                <a:latin typeface="Open Sans"/>
                <a:ea typeface="Open Sans"/>
                <a:cs typeface="Open Sans"/>
                <a:sym typeface="Open Sans"/>
              </a:rPr>
              <a:t>PALABRAS RESERVADAS</a:t>
            </a:r>
            <a:endParaRPr/>
          </a:p>
        </p:txBody>
      </p:sp>
      <p:sp>
        <p:nvSpPr>
          <p:cNvPr id="386" name="Google Shape;386;p22"/>
          <p:cNvSpPr txBox="1"/>
          <p:nvPr/>
        </p:nvSpPr>
        <p:spPr>
          <a:xfrm>
            <a:off x="1835969" y="2500328"/>
            <a:ext cx="6643198" cy="6276975"/>
          </a:xfrm>
          <a:prstGeom prst="rect">
            <a:avLst/>
          </a:prstGeom>
          <a:noFill/>
          <a:ln>
            <a:noFill/>
          </a:ln>
        </p:spPr>
        <p:txBody>
          <a:bodyPr anchorCtr="0" anchor="t" bIns="0" lIns="0" spcFirstLastPara="1" rIns="0" wrap="square" tIns="0">
            <a:spAutoFit/>
          </a:bodyPr>
          <a:lstStyle/>
          <a:p>
            <a:pPr indent="0" lvl="0" marL="0" marR="0" rtl="0" algn="just">
              <a:lnSpc>
                <a:spcPct val="120005"/>
              </a:lnSpc>
              <a:spcBef>
                <a:spcPts val="0"/>
              </a:spcBef>
              <a:spcAft>
                <a:spcPts val="0"/>
              </a:spcAft>
              <a:buNone/>
            </a:pPr>
            <a:r>
              <a:rPr lang="en-US" sz="3499">
                <a:solidFill>
                  <a:srgbClr val="000000"/>
                </a:solidFill>
                <a:latin typeface="Open Sans"/>
                <a:ea typeface="Open Sans"/>
                <a:cs typeface="Open Sans"/>
                <a:sym typeface="Open Sans"/>
              </a:rPr>
              <a:t>Las palabras clave son identificadores reservados predefinidos que tienen significados especiales para el compilador. No se pueden usar como identificadores en el programa a menos que incluyan @ como prefijo. Por ejemplo, @if es un identificador válido, pero if no es porque if es una palabra clave.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23"/>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3"/>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3"/>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23"/>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23"/>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23"/>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3"/>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3"/>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23"/>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23"/>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23"/>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4">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3"/>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5">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23"/>
          <p:cNvSpPr txBox="1"/>
          <p:nvPr/>
        </p:nvSpPr>
        <p:spPr>
          <a:xfrm>
            <a:off x="1489079" y="2459960"/>
            <a:ext cx="9577565" cy="5843016"/>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b="1" lang="en-US" sz="2600">
                <a:solidFill>
                  <a:srgbClr val="000000"/>
                </a:solidFill>
                <a:latin typeface="Open Sans"/>
                <a:ea typeface="Open Sans"/>
                <a:cs typeface="Open Sans"/>
                <a:sym typeface="Open Sans"/>
              </a:rPr>
              <a:t>Tipos por valor</a:t>
            </a:r>
            <a:endParaRPr/>
          </a:p>
          <a:p>
            <a:pPr indent="0" lvl="0" marL="0" marR="0" rtl="0" algn="just">
              <a:lnSpc>
                <a:spcPct val="162000"/>
              </a:lnSpc>
              <a:spcBef>
                <a:spcPts val="0"/>
              </a:spcBef>
              <a:spcAft>
                <a:spcPts val="0"/>
              </a:spcAft>
              <a:buNone/>
            </a:pPr>
            <a:r>
              <a:rPr lang="en-US" sz="2600">
                <a:solidFill>
                  <a:srgbClr val="000000"/>
                </a:solidFill>
                <a:latin typeface="Open Sans"/>
                <a:ea typeface="Open Sans"/>
                <a:cs typeface="Open Sans"/>
                <a:sym typeface="Open Sans"/>
              </a:rPr>
              <a:t>Se almacenan directamente en memoria y cada variable tiene su propio valor:</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Números enteros: int, short, long, byte, etc., para almacenar números sin decimales.</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Números de punto flotante: float, double, decimal para números con decimales.</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char: representa un solo carácter Unicode.</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bool: valores lógicos (true o false).</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void: indica ausencia de valor, por ejemplo en métodos que no devuelven nada.</a:t>
            </a:r>
            <a:endParaRPr/>
          </a:p>
        </p:txBody>
      </p:sp>
      <p:sp>
        <p:nvSpPr>
          <p:cNvPr id="405" name="Google Shape;405;p23"/>
          <p:cNvSpPr/>
          <p:nvPr/>
        </p:nvSpPr>
        <p:spPr>
          <a:xfrm>
            <a:off x="11326174" y="2254469"/>
            <a:ext cx="5778062" cy="5778062"/>
          </a:xfrm>
          <a:custGeom>
            <a:rect b="b" l="l" r="r" t="t"/>
            <a:pathLst>
              <a:path extrusionOk="0" h="5778062" w="5778062">
                <a:moveTo>
                  <a:pt x="0" y="0"/>
                </a:moveTo>
                <a:lnTo>
                  <a:pt x="5778062" y="0"/>
                </a:lnTo>
                <a:lnTo>
                  <a:pt x="5778062" y="5778062"/>
                </a:lnTo>
                <a:lnTo>
                  <a:pt x="0" y="5778062"/>
                </a:lnTo>
                <a:lnTo>
                  <a:pt x="0" y="0"/>
                </a:lnTo>
                <a:close/>
              </a:path>
            </a:pathLst>
          </a:custGeom>
          <a:blipFill rotWithShape="1">
            <a:blip r:embed="rId1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23"/>
          <p:cNvSpPr txBox="1"/>
          <p:nvPr/>
        </p:nvSpPr>
        <p:spPr>
          <a:xfrm>
            <a:off x="3448571" y="1224115"/>
            <a:ext cx="10935679" cy="1038225"/>
          </a:xfrm>
          <a:prstGeom prst="rect">
            <a:avLst/>
          </a:prstGeom>
          <a:noFill/>
          <a:ln>
            <a:noFill/>
          </a:ln>
        </p:spPr>
        <p:txBody>
          <a:bodyPr anchorCtr="0" anchor="t" bIns="0" lIns="0" spcFirstLastPara="1" rIns="0" wrap="square" tIns="0">
            <a:spAutoFit/>
          </a:bodyPr>
          <a:lstStyle/>
          <a:p>
            <a:pPr indent="0" lvl="0" marL="0" marR="0" rtl="0" algn="ctr">
              <a:lnSpc>
                <a:spcPct val="119985"/>
              </a:lnSpc>
              <a:spcBef>
                <a:spcPts val="0"/>
              </a:spcBef>
              <a:spcAft>
                <a:spcPts val="0"/>
              </a:spcAft>
              <a:buNone/>
            </a:pPr>
            <a:r>
              <a:rPr b="1" lang="en-US" sz="6800">
                <a:solidFill>
                  <a:srgbClr val="000000"/>
                </a:solidFill>
                <a:latin typeface="Open Sans"/>
                <a:ea typeface="Open Sans"/>
                <a:cs typeface="Open Sans"/>
                <a:sym typeface="Open Sans"/>
              </a:rPr>
              <a:t>TIPO DE DATOS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24"/>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24"/>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4"/>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24"/>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4"/>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24"/>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24"/>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4"/>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4"/>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4"/>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4"/>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4">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4"/>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5">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4"/>
          <p:cNvSpPr txBox="1"/>
          <p:nvPr/>
        </p:nvSpPr>
        <p:spPr>
          <a:xfrm>
            <a:off x="1489079" y="2381774"/>
            <a:ext cx="11947465" cy="6376416"/>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b="1" lang="en-US" sz="2600">
                <a:solidFill>
                  <a:srgbClr val="000000"/>
                </a:solidFill>
                <a:latin typeface="Open Sans"/>
                <a:ea typeface="Open Sans"/>
                <a:cs typeface="Open Sans"/>
                <a:sym typeface="Open Sans"/>
              </a:rPr>
              <a:t>Tipos por referencia</a:t>
            </a:r>
            <a:endParaRPr/>
          </a:p>
          <a:p>
            <a:pPr indent="0" lvl="0" marL="0" marR="0" rtl="0" algn="just">
              <a:lnSpc>
                <a:spcPct val="162000"/>
              </a:lnSpc>
              <a:spcBef>
                <a:spcPts val="0"/>
              </a:spcBef>
              <a:spcAft>
                <a:spcPts val="0"/>
              </a:spcAft>
              <a:buNone/>
            </a:pPr>
            <a:r>
              <a:rPr lang="en-US" sz="2600">
                <a:solidFill>
                  <a:srgbClr val="000000"/>
                </a:solidFill>
                <a:latin typeface="Open Sans"/>
                <a:ea typeface="Open Sans"/>
                <a:cs typeface="Open Sans"/>
                <a:sym typeface="Open Sans"/>
              </a:rPr>
              <a:t>Almacenan una referencia al valor, no el valor directamente:</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string: secuencia de caracteres para texto.</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Nullable: tipos que pueden tomar null para representar ausencia de dato.</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Arreglos: colecciones de elementos del mismo tipo.</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Clases (class): objetos con datos y comportamiento.</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Interfaces (interface): contratos que las clases implementan.</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Delegados (delegate): referencias a métodos.</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object: tipo base de todos los objetos en C#.</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Listas (List&lt;T&gt;): colecciones dinámicas de elementos.</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Tuplas: grupos de valores (Tuple y ValueTuple).</a:t>
            </a:r>
            <a:endParaRPr/>
          </a:p>
          <a:p>
            <a:pPr indent="-280670" lvl="1" marL="561341" marR="0" rtl="0" algn="just">
              <a:lnSpc>
                <a:spcPct val="162000"/>
              </a:lnSpc>
              <a:spcBef>
                <a:spcPts val="0"/>
              </a:spcBef>
              <a:spcAft>
                <a:spcPts val="0"/>
              </a:spcAft>
              <a:buClr>
                <a:srgbClr val="000000"/>
              </a:buClr>
              <a:buSzPts val="2600"/>
              <a:buFont typeface="Arial"/>
              <a:buChar char="•"/>
            </a:pPr>
            <a:r>
              <a:rPr b="0" i="0" lang="en-US" sz="2600" u="none" cap="none" strike="noStrike">
                <a:solidFill>
                  <a:srgbClr val="000000"/>
                </a:solidFill>
                <a:latin typeface="Open Sans"/>
                <a:ea typeface="Open Sans"/>
                <a:cs typeface="Open Sans"/>
                <a:sym typeface="Open Sans"/>
              </a:rPr>
              <a:t>Diccionarios (Dictionary&lt;TKey, TValue&gt;): colecciones de pares clave-valor.</a:t>
            </a:r>
            <a:endParaRPr/>
          </a:p>
        </p:txBody>
      </p:sp>
      <p:sp>
        <p:nvSpPr>
          <p:cNvPr id="425" name="Google Shape;425;p24"/>
          <p:cNvSpPr/>
          <p:nvPr/>
        </p:nvSpPr>
        <p:spPr>
          <a:xfrm>
            <a:off x="12998579" y="3926473"/>
            <a:ext cx="3667693" cy="3667693"/>
          </a:xfrm>
          <a:custGeom>
            <a:rect b="b" l="l" r="r" t="t"/>
            <a:pathLst>
              <a:path extrusionOk="0" h="3667693" w="3667693">
                <a:moveTo>
                  <a:pt x="0" y="0"/>
                </a:moveTo>
                <a:lnTo>
                  <a:pt x="3667693" y="0"/>
                </a:lnTo>
                <a:lnTo>
                  <a:pt x="3667693" y="3667694"/>
                </a:lnTo>
                <a:lnTo>
                  <a:pt x="0" y="3667694"/>
                </a:lnTo>
                <a:lnTo>
                  <a:pt x="0" y="0"/>
                </a:lnTo>
                <a:close/>
              </a:path>
            </a:pathLst>
          </a:custGeom>
          <a:blipFill rotWithShape="1">
            <a:blip r:embed="rId1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24"/>
          <p:cNvSpPr txBox="1"/>
          <p:nvPr/>
        </p:nvSpPr>
        <p:spPr>
          <a:xfrm>
            <a:off x="3448571" y="1224115"/>
            <a:ext cx="10935679" cy="1038225"/>
          </a:xfrm>
          <a:prstGeom prst="rect">
            <a:avLst/>
          </a:prstGeom>
          <a:noFill/>
          <a:ln>
            <a:noFill/>
          </a:ln>
        </p:spPr>
        <p:txBody>
          <a:bodyPr anchorCtr="0" anchor="t" bIns="0" lIns="0" spcFirstLastPara="1" rIns="0" wrap="square" tIns="0">
            <a:spAutoFit/>
          </a:bodyPr>
          <a:lstStyle/>
          <a:p>
            <a:pPr indent="0" lvl="0" marL="0" marR="0" rtl="0" algn="ctr">
              <a:lnSpc>
                <a:spcPct val="119985"/>
              </a:lnSpc>
              <a:spcBef>
                <a:spcPts val="0"/>
              </a:spcBef>
              <a:spcAft>
                <a:spcPts val="0"/>
              </a:spcAft>
              <a:buNone/>
            </a:pPr>
            <a:r>
              <a:rPr b="1" lang="en-US" sz="6800">
                <a:solidFill>
                  <a:srgbClr val="000000"/>
                </a:solidFill>
                <a:latin typeface="Open Sans"/>
                <a:ea typeface="Open Sans"/>
                <a:cs typeface="Open Sans"/>
                <a:sym typeface="Open Sans"/>
              </a:rPr>
              <a:t>TIPO DE DATOS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25"/>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5"/>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25"/>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25"/>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25"/>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5"/>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5"/>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5"/>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25"/>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25"/>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5"/>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4">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5"/>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5">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25"/>
          <p:cNvSpPr txBox="1"/>
          <p:nvPr/>
        </p:nvSpPr>
        <p:spPr>
          <a:xfrm>
            <a:off x="1493325" y="2822791"/>
            <a:ext cx="15301351" cy="4776216"/>
          </a:xfrm>
          <a:prstGeom prst="rect">
            <a:avLst/>
          </a:prstGeom>
          <a:noFill/>
          <a:ln>
            <a:noFill/>
          </a:ln>
        </p:spPr>
        <p:txBody>
          <a:bodyPr anchorCtr="0" anchor="t" bIns="0" lIns="0" spcFirstLastPara="1" rIns="0" wrap="square" tIns="0">
            <a:spAutoFit/>
          </a:bodyPr>
          <a:lstStyle/>
          <a:p>
            <a:pPr indent="0" lvl="0" marL="0" marR="0" rtl="0" algn="just">
              <a:lnSpc>
                <a:spcPct val="162000"/>
              </a:lnSpc>
              <a:spcBef>
                <a:spcPts val="0"/>
              </a:spcBef>
              <a:spcAft>
                <a:spcPts val="0"/>
              </a:spcAft>
              <a:buNone/>
            </a:pPr>
            <a:r>
              <a:rPr b="1" lang="en-US" sz="2600">
                <a:solidFill>
                  <a:srgbClr val="000000"/>
                </a:solidFill>
                <a:latin typeface="Open Sans"/>
                <a:ea typeface="Open Sans"/>
                <a:cs typeface="Open Sans"/>
                <a:sym typeface="Open Sans"/>
              </a:rPr>
              <a:t>Uso de llaves “{}”: </a:t>
            </a:r>
            <a:r>
              <a:rPr lang="en-US" sz="2600">
                <a:solidFill>
                  <a:srgbClr val="000000"/>
                </a:solidFill>
                <a:latin typeface="Open Sans"/>
                <a:ea typeface="Open Sans"/>
                <a:cs typeface="Open Sans"/>
                <a:sym typeface="Open Sans"/>
              </a:rPr>
              <a:t>Las llaves {} se utilizan para delimitar bloques de código en C#. Esto incluye definiciones de clases, métodos y bloques de control de flujo como if, for, y while.</a:t>
            </a:r>
            <a:endParaRPr/>
          </a:p>
          <a:p>
            <a:pPr indent="0" lvl="0" marL="0" marR="0" rtl="0" algn="just">
              <a:lnSpc>
                <a:spcPct val="162000"/>
              </a:lnSpc>
              <a:spcBef>
                <a:spcPts val="0"/>
              </a:spcBef>
              <a:spcAft>
                <a:spcPts val="0"/>
              </a:spcAft>
              <a:buNone/>
            </a:pPr>
            <a:r>
              <a:t/>
            </a:r>
            <a:endParaRPr sz="2600">
              <a:solidFill>
                <a:srgbClr val="000000"/>
              </a:solidFill>
              <a:latin typeface="Open Sans"/>
              <a:ea typeface="Open Sans"/>
              <a:cs typeface="Open Sans"/>
              <a:sym typeface="Open Sans"/>
            </a:endParaRPr>
          </a:p>
          <a:p>
            <a:pPr indent="0" lvl="0" marL="0" marR="0" rtl="0" algn="just">
              <a:lnSpc>
                <a:spcPct val="162000"/>
              </a:lnSpc>
              <a:spcBef>
                <a:spcPts val="0"/>
              </a:spcBef>
              <a:spcAft>
                <a:spcPts val="0"/>
              </a:spcAft>
              <a:buNone/>
            </a:pPr>
            <a:r>
              <a:rPr b="1" lang="en-US" sz="2600">
                <a:solidFill>
                  <a:srgbClr val="000000"/>
                </a:solidFill>
                <a:latin typeface="Open Sans"/>
                <a:ea typeface="Open Sans"/>
                <a:cs typeface="Open Sans"/>
                <a:sym typeface="Open Sans"/>
              </a:rPr>
              <a:t>Uso del punto y coma “;”: </a:t>
            </a:r>
            <a:r>
              <a:rPr lang="en-US" sz="2600">
                <a:solidFill>
                  <a:srgbClr val="000000"/>
                </a:solidFill>
                <a:latin typeface="Open Sans"/>
                <a:ea typeface="Open Sans"/>
                <a:cs typeface="Open Sans"/>
                <a:sym typeface="Open Sans"/>
              </a:rPr>
              <a:t>En C#, cada instrucción debe terminar con un punto y coma (;). Esto incluye declaraciones de variables, llamadas a métodos, y otras operaciones.</a:t>
            </a:r>
            <a:endParaRPr/>
          </a:p>
          <a:p>
            <a:pPr indent="0" lvl="0" marL="0" marR="0" rtl="0" algn="just">
              <a:lnSpc>
                <a:spcPct val="162000"/>
              </a:lnSpc>
              <a:spcBef>
                <a:spcPts val="0"/>
              </a:spcBef>
              <a:spcAft>
                <a:spcPts val="0"/>
              </a:spcAft>
              <a:buNone/>
            </a:pPr>
            <a:r>
              <a:t/>
            </a:r>
            <a:endParaRPr sz="2600">
              <a:solidFill>
                <a:srgbClr val="000000"/>
              </a:solidFill>
              <a:latin typeface="Open Sans"/>
              <a:ea typeface="Open Sans"/>
              <a:cs typeface="Open Sans"/>
              <a:sym typeface="Open Sans"/>
            </a:endParaRPr>
          </a:p>
          <a:p>
            <a:pPr indent="0" lvl="0" marL="0" marR="0" rtl="0" algn="just">
              <a:lnSpc>
                <a:spcPct val="162000"/>
              </a:lnSpc>
              <a:spcBef>
                <a:spcPts val="0"/>
              </a:spcBef>
              <a:spcAft>
                <a:spcPts val="0"/>
              </a:spcAft>
              <a:buNone/>
            </a:pPr>
            <a:r>
              <a:rPr b="1" lang="en-US" sz="2600">
                <a:solidFill>
                  <a:srgbClr val="000000"/>
                </a:solidFill>
                <a:latin typeface="Open Sans"/>
                <a:ea typeface="Open Sans"/>
                <a:cs typeface="Open Sans"/>
                <a:sym typeface="Open Sans"/>
              </a:rPr>
              <a:t>Normas de nombrado de variables: </a:t>
            </a:r>
            <a:r>
              <a:rPr lang="en-US" sz="2600">
                <a:solidFill>
                  <a:srgbClr val="000000"/>
                </a:solidFill>
                <a:latin typeface="Open Sans"/>
                <a:ea typeface="Open Sans"/>
                <a:cs typeface="Open Sans"/>
                <a:sym typeface="Open Sans"/>
              </a:rPr>
              <a:t>Los caracteres válidos incluyen letras (tanto mayúsculas como minúsculas), números y el guion bajo _. Aunque los nombres no pueden comenzar con un número. Por ejemplo, nombres como miVariable y _contador son aceptable</a:t>
            </a:r>
            <a:endParaRPr/>
          </a:p>
        </p:txBody>
      </p:sp>
      <p:sp>
        <p:nvSpPr>
          <p:cNvPr id="445" name="Google Shape;445;p25"/>
          <p:cNvSpPr txBox="1"/>
          <p:nvPr/>
        </p:nvSpPr>
        <p:spPr>
          <a:xfrm>
            <a:off x="3676161" y="1661817"/>
            <a:ext cx="10935679" cy="1038225"/>
          </a:xfrm>
          <a:prstGeom prst="rect">
            <a:avLst/>
          </a:prstGeom>
          <a:noFill/>
          <a:ln>
            <a:noFill/>
          </a:ln>
        </p:spPr>
        <p:txBody>
          <a:bodyPr anchorCtr="0" anchor="t" bIns="0" lIns="0" spcFirstLastPara="1" rIns="0" wrap="square" tIns="0">
            <a:spAutoFit/>
          </a:bodyPr>
          <a:lstStyle/>
          <a:p>
            <a:pPr indent="0" lvl="0" marL="0" marR="0" rtl="0" algn="ctr">
              <a:lnSpc>
                <a:spcPct val="119985"/>
              </a:lnSpc>
              <a:spcBef>
                <a:spcPts val="0"/>
              </a:spcBef>
              <a:spcAft>
                <a:spcPts val="0"/>
              </a:spcAft>
              <a:buNone/>
            </a:pPr>
            <a:r>
              <a:rPr b="1" lang="en-US" sz="6800">
                <a:solidFill>
                  <a:srgbClr val="000000"/>
                </a:solidFill>
                <a:latin typeface="Open Sans"/>
                <a:ea typeface="Open Sans"/>
                <a:cs typeface="Open Sans"/>
                <a:sym typeface="Open Sans"/>
              </a:rPr>
              <a:t>SINTAXIS BÁSICA DE C#</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6"/>
          <p:cNvSpPr txBox="1"/>
          <p:nvPr/>
        </p:nvSpPr>
        <p:spPr>
          <a:xfrm>
            <a:off x="948509" y="729863"/>
            <a:ext cx="7411269" cy="3350260"/>
          </a:xfrm>
          <a:prstGeom prst="rect">
            <a:avLst/>
          </a:prstGeom>
          <a:noFill/>
          <a:ln>
            <a:noFill/>
          </a:ln>
        </p:spPr>
        <p:txBody>
          <a:bodyPr anchorCtr="0" anchor="t" bIns="0" lIns="0" spcFirstLastPara="1" rIns="0" wrap="square" tIns="0">
            <a:spAutoFit/>
          </a:bodyPr>
          <a:lstStyle/>
          <a:p>
            <a:pPr indent="0" lvl="0" marL="0" marR="0" rtl="0" algn="l">
              <a:lnSpc>
                <a:spcPct val="116315"/>
              </a:lnSpc>
              <a:spcBef>
                <a:spcPts val="0"/>
              </a:spcBef>
              <a:spcAft>
                <a:spcPts val="0"/>
              </a:spcAft>
              <a:buNone/>
            </a:pPr>
            <a:r>
              <a:rPr b="1" lang="en-US" sz="7600">
                <a:solidFill>
                  <a:srgbClr val="000000"/>
                </a:solidFill>
                <a:latin typeface="Open Sans"/>
                <a:ea typeface="Open Sans"/>
                <a:cs typeface="Open Sans"/>
                <a:sym typeface="Open Sans"/>
              </a:rPr>
              <a:t>VARIABLES, EXPRESIONES Y SENTENCIAS</a:t>
            </a:r>
            <a:endParaRPr/>
          </a:p>
        </p:txBody>
      </p:sp>
      <p:sp>
        <p:nvSpPr>
          <p:cNvPr id="452" name="Google Shape;452;p26"/>
          <p:cNvSpPr/>
          <p:nvPr/>
        </p:nvSpPr>
        <p:spPr>
          <a:xfrm>
            <a:off x="9975494" y="3939973"/>
            <a:ext cx="6998113" cy="2561558"/>
          </a:xfrm>
          <a:custGeom>
            <a:rect b="b" l="l" r="r" t="t"/>
            <a:pathLst>
              <a:path extrusionOk="0" h="3415411" w="9330817">
                <a:moveTo>
                  <a:pt x="9282176" y="3415411"/>
                </a:moveTo>
                <a:lnTo>
                  <a:pt x="66040" y="3415411"/>
                </a:lnTo>
                <a:lnTo>
                  <a:pt x="40259" y="3410204"/>
                </a:lnTo>
                <a:lnTo>
                  <a:pt x="19304" y="3395980"/>
                </a:lnTo>
                <a:lnTo>
                  <a:pt x="5080" y="3375025"/>
                </a:lnTo>
                <a:lnTo>
                  <a:pt x="0" y="3349244"/>
                </a:lnTo>
                <a:lnTo>
                  <a:pt x="0" y="66040"/>
                </a:lnTo>
                <a:lnTo>
                  <a:pt x="5207" y="40386"/>
                </a:lnTo>
                <a:lnTo>
                  <a:pt x="19304" y="19304"/>
                </a:lnTo>
                <a:lnTo>
                  <a:pt x="40386" y="5207"/>
                </a:lnTo>
                <a:lnTo>
                  <a:pt x="66040" y="0"/>
                </a:lnTo>
                <a:lnTo>
                  <a:pt x="9264650" y="0"/>
                </a:lnTo>
                <a:lnTo>
                  <a:pt x="9290431" y="5207"/>
                </a:lnTo>
                <a:lnTo>
                  <a:pt x="9311386" y="19431"/>
                </a:lnTo>
                <a:lnTo>
                  <a:pt x="9325610" y="40386"/>
                </a:lnTo>
                <a:lnTo>
                  <a:pt x="9330817" y="66167"/>
                </a:lnTo>
                <a:lnTo>
                  <a:pt x="9330817" y="3366770"/>
                </a:lnTo>
                <a:lnTo>
                  <a:pt x="9323832" y="3383534"/>
                </a:lnTo>
                <a:lnTo>
                  <a:pt x="9299067" y="3408299"/>
                </a:lnTo>
                <a:lnTo>
                  <a:pt x="9282303" y="3415284"/>
                </a:lnTo>
                <a:close/>
              </a:path>
            </a:pathLst>
          </a:custGeom>
          <a:solidFill>
            <a:srgbClr val="8AB7E1"/>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26"/>
          <p:cNvSpPr/>
          <p:nvPr/>
        </p:nvSpPr>
        <p:spPr>
          <a:xfrm>
            <a:off x="9975494" y="6709686"/>
            <a:ext cx="6998113" cy="2657832"/>
          </a:xfrm>
          <a:custGeom>
            <a:rect b="b" l="l" r="r" t="t"/>
            <a:pathLst>
              <a:path extrusionOk="0" h="3543775" w="9330817">
                <a:moveTo>
                  <a:pt x="9282176" y="3543775"/>
                </a:moveTo>
                <a:lnTo>
                  <a:pt x="66040" y="3543775"/>
                </a:lnTo>
                <a:lnTo>
                  <a:pt x="40259" y="3538372"/>
                </a:lnTo>
                <a:lnTo>
                  <a:pt x="19304" y="3523614"/>
                </a:lnTo>
                <a:lnTo>
                  <a:pt x="5080" y="3501871"/>
                </a:lnTo>
                <a:lnTo>
                  <a:pt x="0" y="3475121"/>
                </a:lnTo>
                <a:lnTo>
                  <a:pt x="0" y="68522"/>
                </a:lnTo>
                <a:lnTo>
                  <a:pt x="5207" y="41904"/>
                </a:lnTo>
                <a:lnTo>
                  <a:pt x="19304" y="20030"/>
                </a:lnTo>
                <a:lnTo>
                  <a:pt x="40386" y="5403"/>
                </a:lnTo>
                <a:lnTo>
                  <a:pt x="66040" y="0"/>
                </a:lnTo>
                <a:lnTo>
                  <a:pt x="9264650" y="0"/>
                </a:lnTo>
                <a:lnTo>
                  <a:pt x="9290431" y="5403"/>
                </a:lnTo>
                <a:lnTo>
                  <a:pt x="9311386" y="20161"/>
                </a:lnTo>
                <a:lnTo>
                  <a:pt x="9325610" y="41904"/>
                </a:lnTo>
                <a:lnTo>
                  <a:pt x="9330817" y="68654"/>
                </a:lnTo>
                <a:lnTo>
                  <a:pt x="9330817" y="3493306"/>
                </a:lnTo>
                <a:lnTo>
                  <a:pt x="9323832" y="3510700"/>
                </a:lnTo>
                <a:lnTo>
                  <a:pt x="9299067" y="3536395"/>
                </a:lnTo>
                <a:lnTo>
                  <a:pt x="9282303" y="3543643"/>
                </a:lnTo>
                <a:close/>
              </a:path>
            </a:pathLst>
          </a:custGeom>
          <a:solidFill>
            <a:srgbClr val="8AB7E1"/>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6"/>
          <p:cNvSpPr/>
          <p:nvPr/>
        </p:nvSpPr>
        <p:spPr>
          <a:xfrm>
            <a:off x="4472902" y="0"/>
            <a:ext cx="4980946" cy="1366371"/>
          </a:xfrm>
          <a:custGeom>
            <a:rect b="b" l="l" r="r" t="t"/>
            <a:pathLst>
              <a:path extrusionOk="0" h="1366371" w="4980946">
                <a:moveTo>
                  <a:pt x="0" y="0"/>
                </a:moveTo>
                <a:lnTo>
                  <a:pt x="4980946" y="0"/>
                </a:lnTo>
                <a:lnTo>
                  <a:pt x="4980946" y="1366371"/>
                </a:lnTo>
                <a:lnTo>
                  <a:pt x="0" y="1366371"/>
                </a:lnTo>
                <a:lnTo>
                  <a:pt x="0" y="0"/>
                </a:lnTo>
                <a:close/>
              </a:path>
            </a:pathLst>
          </a:custGeom>
          <a:blipFill rotWithShape="1">
            <a:blip r:embed="rId4">
              <a:alphaModFix/>
            </a:blip>
            <a:stretch>
              <a:fillRect b="-498" l="0" r="0" t="-4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6"/>
          <p:cNvSpPr/>
          <p:nvPr/>
        </p:nvSpPr>
        <p:spPr>
          <a:xfrm>
            <a:off x="9975494" y="1170261"/>
            <a:ext cx="6998113" cy="2561558"/>
          </a:xfrm>
          <a:custGeom>
            <a:rect b="b" l="l" r="r" t="t"/>
            <a:pathLst>
              <a:path extrusionOk="0" h="3415411" w="9330817">
                <a:moveTo>
                  <a:pt x="9282176" y="3415411"/>
                </a:moveTo>
                <a:lnTo>
                  <a:pt x="66040" y="3415411"/>
                </a:lnTo>
                <a:lnTo>
                  <a:pt x="40259" y="3410204"/>
                </a:lnTo>
                <a:lnTo>
                  <a:pt x="19304" y="3395980"/>
                </a:lnTo>
                <a:lnTo>
                  <a:pt x="5080" y="3375025"/>
                </a:lnTo>
                <a:lnTo>
                  <a:pt x="0" y="3349244"/>
                </a:lnTo>
                <a:lnTo>
                  <a:pt x="0" y="66040"/>
                </a:lnTo>
                <a:lnTo>
                  <a:pt x="5207" y="40386"/>
                </a:lnTo>
                <a:lnTo>
                  <a:pt x="19304" y="19304"/>
                </a:lnTo>
                <a:lnTo>
                  <a:pt x="40386" y="5207"/>
                </a:lnTo>
                <a:lnTo>
                  <a:pt x="66040" y="0"/>
                </a:lnTo>
                <a:lnTo>
                  <a:pt x="9264650" y="0"/>
                </a:lnTo>
                <a:lnTo>
                  <a:pt x="9290431" y="5207"/>
                </a:lnTo>
                <a:lnTo>
                  <a:pt x="9311386" y="19431"/>
                </a:lnTo>
                <a:lnTo>
                  <a:pt x="9325610" y="40386"/>
                </a:lnTo>
                <a:lnTo>
                  <a:pt x="9330817" y="66167"/>
                </a:lnTo>
                <a:lnTo>
                  <a:pt x="9330817" y="3366770"/>
                </a:lnTo>
                <a:lnTo>
                  <a:pt x="9323832" y="3383534"/>
                </a:lnTo>
                <a:lnTo>
                  <a:pt x="9299067" y="3408299"/>
                </a:lnTo>
                <a:lnTo>
                  <a:pt x="9282303" y="3415284"/>
                </a:lnTo>
                <a:close/>
              </a:path>
            </a:pathLst>
          </a:custGeom>
          <a:solidFill>
            <a:srgbClr val="8AB7E1"/>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26"/>
          <p:cNvSpPr/>
          <p:nvPr/>
        </p:nvSpPr>
        <p:spPr>
          <a:xfrm>
            <a:off x="0" y="8919658"/>
            <a:ext cx="3022378" cy="950138"/>
          </a:xfrm>
          <a:custGeom>
            <a:rect b="b" l="l" r="r" t="t"/>
            <a:pathLst>
              <a:path extrusionOk="0" h="950138" w="3022378">
                <a:moveTo>
                  <a:pt x="0" y="0"/>
                </a:moveTo>
                <a:lnTo>
                  <a:pt x="3022378" y="0"/>
                </a:lnTo>
                <a:lnTo>
                  <a:pt x="3022378" y="950137"/>
                </a:lnTo>
                <a:lnTo>
                  <a:pt x="0" y="950137"/>
                </a:lnTo>
                <a:lnTo>
                  <a:pt x="0" y="0"/>
                </a:lnTo>
                <a:close/>
              </a:path>
            </a:pathLst>
          </a:custGeom>
          <a:blipFill rotWithShape="1">
            <a:blip r:embed="rId5">
              <a:alphaModFix/>
            </a:blip>
            <a:stretch>
              <a:fillRect b="-135" l="0" r="0" t="-1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26"/>
          <p:cNvSpPr/>
          <p:nvPr/>
        </p:nvSpPr>
        <p:spPr>
          <a:xfrm>
            <a:off x="3431076" y="8919658"/>
            <a:ext cx="2587019" cy="1367342"/>
          </a:xfrm>
          <a:custGeom>
            <a:rect b="b" l="l" r="r" t="t"/>
            <a:pathLst>
              <a:path extrusionOk="0" h="1367342" w="2587019">
                <a:moveTo>
                  <a:pt x="0" y="0"/>
                </a:moveTo>
                <a:lnTo>
                  <a:pt x="2587019" y="0"/>
                </a:lnTo>
                <a:lnTo>
                  <a:pt x="2587019" y="1367342"/>
                </a:lnTo>
                <a:lnTo>
                  <a:pt x="0" y="1367342"/>
                </a:lnTo>
                <a:lnTo>
                  <a:pt x="0" y="0"/>
                </a:lnTo>
                <a:close/>
              </a:path>
            </a:pathLst>
          </a:custGeom>
          <a:blipFill rotWithShape="1">
            <a:blip r:embed="rId6">
              <a:alphaModFix/>
            </a:blip>
            <a:stretch>
              <a:fillRect b="0" l="-522" r="-52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26"/>
          <p:cNvSpPr/>
          <p:nvPr/>
        </p:nvSpPr>
        <p:spPr>
          <a:xfrm>
            <a:off x="1712709" y="8658520"/>
            <a:ext cx="171450" cy="165097"/>
          </a:xfrm>
          <a:custGeom>
            <a:rect b="b" l="l" r="r" t="t"/>
            <a:pathLst>
              <a:path extrusionOk="0" h="165097" w="171450">
                <a:moveTo>
                  <a:pt x="0" y="0"/>
                </a:moveTo>
                <a:lnTo>
                  <a:pt x="171450" y="0"/>
                </a:lnTo>
                <a:lnTo>
                  <a:pt x="171450" y="165097"/>
                </a:lnTo>
                <a:lnTo>
                  <a:pt x="0" y="1650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26"/>
          <p:cNvSpPr/>
          <p:nvPr/>
        </p:nvSpPr>
        <p:spPr>
          <a:xfrm>
            <a:off x="1712709" y="9399299"/>
            <a:ext cx="171450" cy="165097"/>
          </a:xfrm>
          <a:custGeom>
            <a:rect b="b" l="l" r="r" t="t"/>
            <a:pathLst>
              <a:path extrusionOk="0" h="165097" w="171450">
                <a:moveTo>
                  <a:pt x="0" y="0"/>
                </a:moveTo>
                <a:lnTo>
                  <a:pt x="171450" y="0"/>
                </a:lnTo>
                <a:lnTo>
                  <a:pt x="171450" y="165096"/>
                </a:lnTo>
                <a:lnTo>
                  <a:pt x="0" y="165096"/>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26"/>
          <p:cNvSpPr/>
          <p:nvPr/>
        </p:nvSpPr>
        <p:spPr>
          <a:xfrm>
            <a:off x="1511189" y="4145746"/>
            <a:ext cx="7573159" cy="4773911"/>
          </a:xfrm>
          <a:custGeom>
            <a:rect b="b" l="l" r="r" t="t"/>
            <a:pathLst>
              <a:path extrusionOk="0" h="4773911" w="7573159">
                <a:moveTo>
                  <a:pt x="0" y="0"/>
                </a:moveTo>
                <a:lnTo>
                  <a:pt x="7573159" y="0"/>
                </a:lnTo>
                <a:lnTo>
                  <a:pt x="7573159" y="4773912"/>
                </a:lnTo>
                <a:lnTo>
                  <a:pt x="0" y="4773912"/>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26"/>
          <p:cNvSpPr txBox="1"/>
          <p:nvPr/>
        </p:nvSpPr>
        <p:spPr>
          <a:xfrm>
            <a:off x="10325228" y="1189983"/>
            <a:ext cx="6299504" cy="2306194"/>
          </a:xfrm>
          <a:prstGeom prst="rect">
            <a:avLst/>
          </a:prstGeom>
          <a:noFill/>
          <a:ln>
            <a:noFill/>
          </a:ln>
        </p:spPr>
        <p:txBody>
          <a:bodyPr anchorCtr="0" anchor="t" bIns="0" lIns="0" spcFirstLastPara="1" rIns="0" wrap="square" tIns="0">
            <a:spAutoFit/>
          </a:bodyPr>
          <a:lstStyle/>
          <a:p>
            <a:pPr indent="0" lvl="0" marL="0" marR="0" rtl="0" algn="just">
              <a:lnSpc>
                <a:spcPct val="162026"/>
              </a:lnSpc>
              <a:spcBef>
                <a:spcPts val="0"/>
              </a:spcBef>
              <a:spcAft>
                <a:spcPts val="0"/>
              </a:spcAft>
              <a:buNone/>
            </a:pPr>
            <a:r>
              <a:rPr lang="en-US" sz="2299">
                <a:solidFill>
                  <a:srgbClr val="000000"/>
                </a:solidFill>
                <a:latin typeface="Open Sans"/>
                <a:ea typeface="Open Sans"/>
                <a:cs typeface="Open Sans"/>
                <a:sym typeface="Open Sans"/>
              </a:rPr>
              <a:t>En C#, una variable es un nombre que hace referencia a un espacio en memoria donde se almacena un dato.</a:t>
            </a:r>
            <a:endParaRPr/>
          </a:p>
          <a:p>
            <a:pPr indent="0" lvl="0" marL="0" marR="0" rtl="0" algn="just">
              <a:lnSpc>
                <a:spcPct val="162026"/>
              </a:lnSpc>
              <a:spcBef>
                <a:spcPts val="0"/>
              </a:spcBef>
              <a:spcAft>
                <a:spcPts val="0"/>
              </a:spcAft>
              <a:buNone/>
            </a:pPr>
            <a:r>
              <a:rPr lang="en-US" sz="2299">
                <a:solidFill>
                  <a:srgbClr val="000000"/>
                </a:solidFill>
                <a:latin typeface="Open Sans"/>
                <a:ea typeface="Open Sans"/>
                <a:cs typeface="Open Sans"/>
                <a:sym typeface="Open Sans"/>
              </a:rPr>
              <a:t> Antes de usar una variable, se debe declarar su tipo (por ejemplo: int, double, string, bool).</a:t>
            </a:r>
            <a:endParaRPr/>
          </a:p>
        </p:txBody>
      </p:sp>
      <p:sp>
        <p:nvSpPr>
          <p:cNvPr id="462" name="Google Shape;462;p26"/>
          <p:cNvSpPr txBox="1"/>
          <p:nvPr/>
        </p:nvSpPr>
        <p:spPr>
          <a:xfrm>
            <a:off x="10454251" y="4119486"/>
            <a:ext cx="6041457" cy="2116836"/>
          </a:xfrm>
          <a:prstGeom prst="rect">
            <a:avLst/>
          </a:prstGeom>
          <a:noFill/>
          <a:ln>
            <a:noFill/>
          </a:ln>
        </p:spPr>
        <p:txBody>
          <a:bodyPr anchorCtr="0" anchor="t" bIns="0" lIns="0" spcFirstLastPara="1" rIns="0" wrap="square" tIns="0">
            <a:spAutoFit/>
          </a:bodyPr>
          <a:lstStyle/>
          <a:p>
            <a:pPr indent="0" lvl="0" marL="0" marR="0" rtl="0" algn="just">
              <a:lnSpc>
                <a:spcPct val="162029"/>
              </a:lnSpc>
              <a:spcBef>
                <a:spcPts val="0"/>
              </a:spcBef>
              <a:spcAft>
                <a:spcPts val="0"/>
              </a:spcAft>
              <a:buNone/>
            </a:pPr>
            <a:r>
              <a:rPr lang="en-US" sz="2099">
                <a:solidFill>
                  <a:srgbClr val="000000"/>
                </a:solidFill>
                <a:latin typeface="Open Sans"/>
                <a:ea typeface="Open Sans"/>
                <a:cs typeface="Open Sans"/>
                <a:sym typeface="Open Sans"/>
              </a:rPr>
              <a:t>En C#, una expresión es una combinación de valores, variables, operadores y/o llamadas a métodos que se evalúa para producir un resultado. Es cualquier fragmento de código que devuelve un valor.</a:t>
            </a:r>
            <a:endParaRPr/>
          </a:p>
        </p:txBody>
      </p:sp>
      <p:sp>
        <p:nvSpPr>
          <p:cNvPr id="463" name="Google Shape;463;p26"/>
          <p:cNvSpPr txBox="1"/>
          <p:nvPr/>
        </p:nvSpPr>
        <p:spPr>
          <a:xfrm>
            <a:off x="10454251" y="6777506"/>
            <a:ext cx="6277613" cy="2436495"/>
          </a:xfrm>
          <a:prstGeom prst="rect">
            <a:avLst/>
          </a:prstGeom>
          <a:noFill/>
          <a:ln>
            <a:noFill/>
          </a:ln>
        </p:spPr>
        <p:txBody>
          <a:bodyPr anchorCtr="0" anchor="t" bIns="0" lIns="0" spcFirstLastPara="1" rIns="0" wrap="square" tIns="0">
            <a:spAutoFit/>
          </a:bodyPr>
          <a:lstStyle/>
          <a:p>
            <a:pPr indent="0" lvl="0" marL="0" marR="0" rtl="0" algn="just">
              <a:lnSpc>
                <a:spcPct val="162031"/>
              </a:lnSpc>
              <a:spcBef>
                <a:spcPts val="0"/>
              </a:spcBef>
              <a:spcAft>
                <a:spcPts val="0"/>
              </a:spcAft>
              <a:buNone/>
            </a:pPr>
            <a:r>
              <a:rPr lang="en-US" sz="1999">
                <a:solidFill>
                  <a:srgbClr val="000000"/>
                </a:solidFill>
                <a:latin typeface="Open Sans"/>
                <a:ea typeface="Open Sans"/>
                <a:cs typeface="Open Sans"/>
                <a:sym typeface="Open Sans"/>
              </a:rPr>
              <a:t>En C#, una sentencia es una instrucción completa que realiza una acción. Las sentencias indican al programa qué hacer: declarar variables, asignar valores, mostrar datos, tomar decisiones, entre otras. A diferencia de las expresiones, las sentencias no producen directamente un valor reutilizable.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7"/>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27"/>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7"/>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27"/>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7"/>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27"/>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27"/>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27"/>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7"/>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27"/>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27"/>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27"/>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7"/>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27"/>
          <p:cNvSpPr/>
          <p:nvPr/>
        </p:nvSpPr>
        <p:spPr>
          <a:xfrm>
            <a:off x="3367423" y="4689870"/>
            <a:ext cx="5554517" cy="4568430"/>
          </a:xfrm>
          <a:custGeom>
            <a:rect b="b" l="l" r="r" t="t"/>
            <a:pathLst>
              <a:path extrusionOk="0" h="4568430" w="5554517">
                <a:moveTo>
                  <a:pt x="0" y="0"/>
                </a:moveTo>
                <a:lnTo>
                  <a:pt x="5554517" y="0"/>
                </a:lnTo>
                <a:lnTo>
                  <a:pt x="5554517" y="4568430"/>
                </a:lnTo>
                <a:lnTo>
                  <a:pt x="0" y="4568430"/>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27"/>
          <p:cNvSpPr/>
          <p:nvPr/>
        </p:nvSpPr>
        <p:spPr>
          <a:xfrm>
            <a:off x="10138934" y="3689033"/>
            <a:ext cx="5770832" cy="5574546"/>
          </a:xfrm>
          <a:custGeom>
            <a:rect b="b" l="l" r="r" t="t"/>
            <a:pathLst>
              <a:path extrusionOk="0" h="5574546" w="5770832">
                <a:moveTo>
                  <a:pt x="0" y="0"/>
                </a:moveTo>
                <a:lnTo>
                  <a:pt x="5770832" y="0"/>
                </a:lnTo>
                <a:lnTo>
                  <a:pt x="5770832" y="5574545"/>
                </a:lnTo>
                <a:lnTo>
                  <a:pt x="0" y="5574545"/>
                </a:lnTo>
                <a:lnTo>
                  <a:pt x="0" y="0"/>
                </a:lnTo>
                <a:close/>
              </a:path>
            </a:pathLst>
          </a:custGeom>
          <a:blipFill rotWithShape="1">
            <a:blip r:embed="rId1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7"/>
          <p:cNvSpPr txBox="1"/>
          <p:nvPr/>
        </p:nvSpPr>
        <p:spPr>
          <a:xfrm>
            <a:off x="1678686" y="1618555"/>
            <a:ext cx="9493895" cy="75247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lang="en-US" sz="4999">
                <a:solidFill>
                  <a:srgbClr val="000000"/>
                </a:solidFill>
                <a:latin typeface="Open Sans"/>
                <a:ea typeface="Open Sans"/>
                <a:cs typeface="Open Sans"/>
                <a:sym typeface="Open Sans"/>
              </a:rPr>
              <a:t>EJECUCIONES CONDICIONALES</a:t>
            </a:r>
            <a:endParaRPr/>
          </a:p>
        </p:txBody>
      </p:sp>
      <p:sp>
        <p:nvSpPr>
          <p:cNvPr id="485" name="Google Shape;485;p27"/>
          <p:cNvSpPr txBox="1"/>
          <p:nvPr/>
        </p:nvSpPr>
        <p:spPr>
          <a:xfrm>
            <a:off x="1678686" y="2466280"/>
            <a:ext cx="15003656" cy="4010026"/>
          </a:xfrm>
          <a:prstGeom prst="rect">
            <a:avLst/>
          </a:prstGeom>
          <a:noFill/>
          <a:ln>
            <a:noFill/>
          </a:ln>
        </p:spPr>
        <p:txBody>
          <a:bodyPr anchorCtr="0" anchor="t" bIns="0" lIns="0" spcFirstLastPara="1" rIns="0" wrap="square" tIns="0">
            <a:spAutoFit/>
          </a:bodyPr>
          <a:lstStyle/>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En C#, las estructuras condicionales se utilizan para tomar decisiones basadas en una condición. Permiten que el programa ejecute diferentes bloques de código según si una condición es verdadera o falsa.</a:t>
            </a:r>
            <a:endParaRPr/>
          </a:p>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Las sentencias condicionales más comunes en C# son:</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if</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else if</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else</a:t>
            </a:r>
            <a:endParaRPr/>
          </a:p>
          <a:p>
            <a:pPr indent="0" lvl="0" marL="0" marR="0" rtl="0" algn="just">
              <a:lnSpc>
                <a:spcPct val="162024"/>
              </a:lnSpc>
              <a:spcBef>
                <a:spcPts val="0"/>
              </a:spcBef>
              <a:spcAft>
                <a:spcPts val="0"/>
              </a:spcAft>
              <a:buNone/>
            </a:pPr>
            <a:r>
              <a:t/>
            </a:r>
            <a:endParaRPr sz="2499">
              <a:solidFill>
                <a:srgbClr val="000000"/>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28"/>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28"/>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28"/>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28"/>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28"/>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28"/>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28"/>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28"/>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8"/>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28"/>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28"/>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28"/>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28"/>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8"/>
          <p:cNvSpPr/>
          <p:nvPr/>
        </p:nvSpPr>
        <p:spPr>
          <a:xfrm>
            <a:off x="1685427" y="4632534"/>
            <a:ext cx="6944284" cy="4467720"/>
          </a:xfrm>
          <a:custGeom>
            <a:rect b="b" l="l" r="r" t="t"/>
            <a:pathLst>
              <a:path extrusionOk="0" h="4467720" w="6944284">
                <a:moveTo>
                  <a:pt x="0" y="0"/>
                </a:moveTo>
                <a:lnTo>
                  <a:pt x="6944283" y="0"/>
                </a:lnTo>
                <a:lnTo>
                  <a:pt x="6944283" y="4467720"/>
                </a:lnTo>
                <a:lnTo>
                  <a:pt x="0" y="4467720"/>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8"/>
          <p:cNvSpPr/>
          <p:nvPr/>
        </p:nvSpPr>
        <p:spPr>
          <a:xfrm>
            <a:off x="9824370" y="4632534"/>
            <a:ext cx="4909366" cy="5057834"/>
          </a:xfrm>
          <a:custGeom>
            <a:rect b="b" l="l" r="r" t="t"/>
            <a:pathLst>
              <a:path extrusionOk="0" h="5057834" w="4909366">
                <a:moveTo>
                  <a:pt x="0" y="0"/>
                </a:moveTo>
                <a:lnTo>
                  <a:pt x="4909365" y="0"/>
                </a:lnTo>
                <a:lnTo>
                  <a:pt x="4909365" y="5057834"/>
                </a:lnTo>
                <a:lnTo>
                  <a:pt x="0" y="5057834"/>
                </a:lnTo>
                <a:lnTo>
                  <a:pt x="0" y="0"/>
                </a:lnTo>
                <a:close/>
              </a:path>
            </a:pathLst>
          </a:custGeom>
          <a:blipFill rotWithShape="1">
            <a:blip r:embed="rId1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28"/>
          <p:cNvSpPr txBox="1"/>
          <p:nvPr/>
        </p:nvSpPr>
        <p:spPr>
          <a:xfrm>
            <a:off x="7935664" y="1292790"/>
            <a:ext cx="3722936" cy="75247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lang="en-US" sz="4999">
                <a:solidFill>
                  <a:srgbClr val="000000"/>
                </a:solidFill>
                <a:latin typeface="Open Sans"/>
                <a:ea typeface="Open Sans"/>
                <a:cs typeface="Open Sans"/>
                <a:sym typeface="Open Sans"/>
              </a:rPr>
              <a:t>SWITCH</a:t>
            </a:r>
            <a:endParaRPr/>
          </a:p>
        </p:txBody>
      </p:sp>
      <p:sp>
        <p:nvSpPr>
          <p:cNvPr id="507" name="Google Shape;507;p28"/>
          <p:cNvSpPr txBox="1"/>
          <p:nvPr/>
        </p:nvSpPr>
        <p:spPr>
          <a:xfrm>
            <a:off x="1280808" y="1978937"/>
            <a:ext cx="15587921" cy="2495551"/>
          </a:xfrm>
          <a:prstGeom prst="rect">
            <a:avLst/>
          </a:prstGeom>
          <a:noFill/>
          <a:ln>
            <a:noFill/>
          </a:ln>
        </p:spPr>
        <p:txBody>
          <a:bodyPr anchorCtr="0" anchor="t" bIns="0" lIns="0" spcFirstLastPara="1" rIns="0" wrap="square" tIns="0">
            <a:spAutoFit/>
          </a:bodyPr>
          <a:lstStyle/>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En C#, la estructura switch permite ejecutar diferentes bloques de código según el valor de una variable o una expresión. Funciona como una forma clara y ordenada de manejar múltiples casos posibles.</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Cada caso (case) define un valor específico. Si el valor evaluado coincide con un caso, se ejecuta el bloque de código correspondiente.</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También puede existir un caso por defecto (default) que se ejecuta cuando ningún caso coincide.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9"/>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29"/>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29"/>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9"/>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9"/>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29"/>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29"/>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29"/>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29"/>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9"/>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29"/>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29"/>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29"/>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9"/>
          <p:cNvSpPr/>
          <p:nvPr/>
        </p:nvSpPr>
        <p:spPr>
          <a:xfrm>
            <a:off x="10872812" y="3622590"/>
            <a:ext cx="4765943" cy="5623309"/>
          </a:xfrm>
          <a:custGeom>
            <a:rect b="b" l="l" r="r" t="t"/>
            <a:pathLst>
              <a:path extrusionOk="0" h="5623309" w="4765943">
                <a:moveTo>
                  <a:pt x="0" y="0"/>
                </a:moveTo>
                <a:lnTo>
                  <a:pt x="4765943" y="0"/>
                </a:lnTo>
                <a:lnTo>
                  <a:pt x="4765943" y="5623308"/>
                </a:lnTo>
                <a:lnTo>
                  <a:pt x="0" y="5623308"/>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9"/>
          <p:cNvSpPr txBox="1"/>
          <p:nvPr/>
        </p:nvSpPr>
        <p:spPr>
          <a:xfrm>
            <a:off x="1280808" y="1038463"/>
            <a:ext cx="15025364" cy="75247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lang="en-US" sz="4999">
                <a:solidFill>
                  <a:srgbClr val="000000"/>
                </a:solidFill>
                <a:latin typeface="Open Sans"/>
                <a:ea typeface="Open Sans"/>
                <a:cs typeface="Open Sans"/>
                <a:sym typeface="Open Sans"/>
              </a:rPr>
              <a:t>FUNCIONES</a:t>
            </a:r>
            <a:endParaRPr/>
          </a:p>
        </p:txBody>
      </p:sp>
      <p:sp>
        <p:nvSpPr>
          <p:cNvPr id="528" name="Google Shape;528;p29"/>
          <p:cNvSpPr txBox="1"/>
          <p:nvPr/>
        </p:nvSpPr>
        <p:spPr>
          <a:xfrm>
            <a:off x="1465476" y="2157565"/>
            <a:ext cx="15357049" cy="1485901"/>
          </a:xfrm>
          <a:prstGeom prst="rect">
            <a:avLst/>
          </a:prstGeom>
          <a:noFill/>
          <a:ln>
            <a:noFill/>
          </a:ln>
        </p:spPr>
        <p:txBody>
          <a:bodyPr anchorCtr="0" anchor="t" bIns="0" lIns="0" spcFirstLastPara="1" rIns="0" wrap="square" tIns="0">
            <a:spAutoFit/>
          </a:bodyPr>
          <a:lstStyle/>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En C#, una función (o método) es un bloque de código reutilizable que realiza una tarea específica.</a:t>
            </a:r>
            <a:endParaRPr/>
          </a:p>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Puede recibir cero o más parámetros como entrada, ejecutar operaciones con ellos y devolver un resultado o no, según su tipo de retorno.</a:t>
            </a:r>
            <a:endParaRPr/>
          </a:p>
        </p:txBody>
      </p:sp>
      <p:sp>
        <p:nvSpPr>
          <p:cNvPr id="529" name="Google Shape;529;p29"/>
          <p:cNvSpPr txBox="1"/>
          <p:nvPr/>
        </p:nvSpPr>
        <p:spPr>
          <a:xfrm>
            <a:off x="1465476" y="4194543"/>
            <a:ext cx="8849260" cy="4010026"/>
          </a:xfrm>
          <a:prstGeom prst="rect">
            <a:avLst/>
          </a:prstGeom>
          <a:noFill/>
          <a:ln>
            <a:noFill/>
          </a:ln>
        </p:spPr>
        <p:txBody>
          <a:bodyPr anchorCtr="0" anchor="t" bIns="0" lIns="0" spcFirstLastPara="1" rIns="0" wrap="square" tIns="0">
            <a:spAutoFit/>
          </a:bodyPr>
          <a:lstStyle/>
          <a:p>
            <a:pPr indent="0" lvl="0" marL="0" marR="0" rtl="0" algn="just">
              <a:lnSpc>
                <a:spcPct val="162024"/>
              </a:lnSpc>
              <a:spcBef>
                <a:spcPts val="0"/>
              </a:spcBef>
              <a:spcAft>
                <a:spcPts val="0"/>
              </a:spcAft>
              <a:buNone/>
            </a:pPr>
            <a:r>
              <a:rPr lang="en-US" sz="2499" u="none" strike="noStrike">
                <a:solidFill>
                  <a:srgbClr val="000000"/>
                </a:solidFill>
                <a:latin typeface="Open Sans"/>
                <a:ea typeface="Open Sans"/>
                <a:cs typeface="Open Sans"/>
                <a:sym typeface="Open Sans"/>
              </a:rPr>
              <a:t>En C#, la palabra clave static indica que un método o variable pertenece a la clase y no a un objeto específico de esa clase. Esto significa que puede usarse directamente sin crear una instancia de la clase. Se utiliza, por ejemplo, en el método Main porque el programa comienza a ejecutarse sin que exista ningún objeto creado. También se usa en métodos auxiliares que se quieren llamar de forma directa desde otros métodos estáticos.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30"/>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30"/>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30"/>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30"/>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30"/>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30"/>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30"/>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30"/>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30"/>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30"/>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30"/>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30"/>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30"/>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30"/>
          <p:cNvSpPr/>
          <p:nvPr/>
        </p:nvSpPr>
        <p:spPr>
          <a:xfrm>
            <a:off x="9413488" y="1790938"/>
            <a:ext cx="8219831" cy="7338248"/>
          </a:xfrm>
          <a:custGeom>
            <a:rect b="b" l="l" r="r" t="t"/>
            <a:pathLst>
              <a:path extrusionOk="0" h="7338248" w="8219831">
                <a:moveTo>
                  <a:pt x="0" y="0"/>
                </a:moveTo>
                <a:lnTo>
                  <a:pt x="8219830" y="0"/>
                </a:lnTo>
                <a:lnTo>
                  <a:pt x="8219830" y="7338248"/>
                </a:lnTo>
                <a:lnTo>
                  <a:pt x="0" y="7338248"/>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30"/>
          <p:cNvSpPr txBox="1"/>
          <p:nvPr/>
        </p:nvSpPr>
        <p:spPr>
          <a:xfrm>
            <a:off x="1280808" y="1038463"/>
            <a:ext cx="15025364" cy="75247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lang="en-US" sz="4999">
                <a:solidFill>
                  <a:srgbClr val="000000"/>
                </a:solidFill>
                <a:latin typeface="Open Sans"/>
                <a:ea typeface="Open Sans"/>
                <a:cs typeface="Open Sans"/>
                <a:sym typeface="Open Sans"/>
              </a:rPr>
              <a:t>TIPO DE FUNCIONES</a:t>
            </a:r>
            <a:endParaRPr/>
          </a:p>
        </p:txBody>
      </p:sp>
      <p:sp>
        <p:nvSpPr>
          <p:cNvPr id="550" name="Google Shape;550;p30"/>
          <p:cNvSpPr txBox="1"/>
          <p:nvPr/>
        </p:nvSpPr>
        <p:spPr>
          <a:xfrm>
            <a:off x="1137732" y="2122874"/>
            <a:ext cx="7952804" cy="6534151"/>
          </a:xfrm>
          <a:prstGeom prst="rect">
            <a:avLst/>
          </a:prstGeom>
          <a:noFill/>
          <a:ln>
            <a:noFill/>
          </a:ln>
        </p:spPr>
        <p:txBody>
          <a:bodyPr anchorCtr="0" anchor="t" bIns="0" lIns="0" spcFirstLastPara="1" rIns="0" wrap="square" tIns="0">
            <a:spAutoFit/>
          </a:bodyPr>
          <a:lstStyle/>
          <a:p>
            <a:pPr indent="-269873" lvl="1" marL="539746" marR="0" rtl="0" algn="l">
              <a:lnSpc>
                <a:spcPct val="162024"/>
              </a:lnSpc>
              <a:spcBef>
                <a:spcPts val="0"/>
              </a:spcBef>
              <a:spcAft>
                <a:spcPts val="0"/>
              </a:spcAft>
              <a:buClr>
                <a:srgbClr val="000000"/>
              </a:buClr>
              <a:buSzPts val="2499"/>
              <a:buFont typeface="Arial"/>
              <a:buChar char="•"/>
            </a:pPr>
            <a:r>
              <a:rPr b="1" i="0" lang="en-US" sz="2499" u="none" cap="none" strike="noStrike">
                <a:solidFill>
                  <a:srgbClr val="000000"/>
                </a:solidFill>
                <a:latin typeface="Open Sans"/>
                <a:ea typeface="Open Sans"/>
                <a:cs typeface="Open Sans"/>
                <a:sym typeface="Open Sans"/>
              </a:rPr>
              <a:t>Funciones predefinidas: </a:t>
            </a:r>
            <a:r>
              <a:rPr b="0" i="0" lang="en-US" sz="2499" u="none" cap="none" strike="noStrike">
                <a:solidFill>
                  <a:srgbClr val="000000"/>
                </a:solidFill>
                <a:latin typeface="Open Sans"/>
                <a:ea typeface="Open Sans"/>
                <a:cs typeface="Open Sans"/>
                <a:sym typeface="Open Sans"/>
              </a:rPr>
              <a:t>Son las funciones que vienen incluidas en las bibliotecas de .NET y se usan para realizar tareas comunes como mostrar texto, cálculos matemáticos o manejar fechas.</a:t>
            </a:r>
            <a:endParaRPr/>
          </a:p>
          <a:p>
            <a:pPr indent="0" lvl="0" marL="0" marR="0" rtl="0" algn="l">
              <a:lnSpc>
                <a:spcPct val="162024"/>
              </a:lnSpc>
              <a:spcBef>
                <a:spcPts val="0"/>
              </a:spcBef>
              <a:spcAft>
                <a:spcPts val="0"/>
              </a:spcAft>
              <a:buNone/>
            </a:pPr>
            <a:r>
              <a:t/>
            </a:r>
            <a:endParaRPr sz="2499">
              <a:solidFill>
                <a:srgbClr val="000000"/>
              </a:solidFill>
              <a:latin typeface="Open Sans"/>
              <a:ea typeface="Open Sans"/>
              <a:cs typeface="Open Sans"/>
              <a:sym typeface="Open Sans"/>
            </a:endParaRPr>
          </a:p>
          <a:p>
            <a:pPr indent="-269873" lvl="1" marL="539746" marR="0" rtl="0" algn="l">
              <a:lnSpc>
                <a:spcPct val="162024"/>
              </a:lnSpc>
              <a:spcBef>
                <a:spcPts val="0"/>
              </a:spcBef>
              <a:spcAft>
                <a:spcPts val="0"/>
              </a:spcAft>
              <a:buClr>
                <a:srgbClr val="000000"/>
              </a:buClr>
              <a:buSzPts val="2499"/>
              <a:buFont typeface="Arial"/>
              <a:buChar char="•"/>
            </a:pPr>
            <a:r>
              <a:rPr b="1" i="0" lang="en-US" sz="2499" u="none" cap="none" strike="noStrike">
                <a:solidFill>
                  <a:srgbClr val="000000"/>
                </a:solidFill>
                <a:latin typeface="Open Sans"/>
                <a:ea typeface="Open Sans"/>
                <a:cs typeface="Open Sans"/>
                <a:sym typeface="Open Sans"/>
              </a:rPr>
              <a:t>Funciones definidas por el usuario:</a:t>
            </a:r>
            <a:r>
              <a:rPr b="0" i="0" lang="en-US" sz="2499" u="none" cap="none" strike="noStrike">
                <a:solidFill>
                  <a:srgbClr val="000000"/>
                </a:solidFill>
                <a:latin typeface="Open Sans"/>
                <a:ea typeface="Open Sans"/>
                <a:cs typeface="Open Sans"/>
                <a:sym typeface="Open Sans"/>
              </a:rPr>
              <a:t> Son las funciones que el programador crea según sus necesidades, indicando su tipo de retorno, nombre y parámetros.</a:t>
            </a:r>
            <a:endParaRPr/>
          </a:p>
          <a:p>
            <a:pPr indent="0" lvl="0" marL="0" marR="0" rtl="0" algn="l">
              <a:lnSpc>
                <a:spcPct val="162024"/>
              </a:lnSpc>
              <a:spcBef>
                <a:spcPts val="0"/>
              </a:spcBef>
              <a:spcAft>
                <a:spcPts val="0"/>
              </a:spcAft>
              <a:buNone/>
            </a:pPr>
            <a:r>
              <a:t/>
            </a:r>
            <a:endParaRPr sz="2499">
              <a:solidFill>
                <a:srgbClr val="000000"/>
              </a:solidFill>
              <a:latin typeface="Open Sans"/>
              <a:ea typeface="Open Sans"/>
              <a:cs typeface="Open Sans"/>
              <a:sym typeface="Open Sans"/>
            </a:endParaRPr>
          </a:p>
          <a:p>
            <a:pPr indent="-269873" lvl="1" marL="539746" marR="0" rtl="0" algn="l">
              <a:lnSpc>
                <a:spcPct val="162024"/>
              </a:lnSpc>
              <a:spcBef>
                <a:spcPts val="0"/>
              </a:spcBef>
              <a:spcAft>
                <a:spcPts val="0"/>
              </a:spcAft>
              <a:buClr>
                <a:srgbClr val="000000"/>
              </a:buClr>
              <a:buSzPts val="2499"/>
              <a:buFont typeface="Arial"/>
              <a:buChar char="•"/>
            </a:pPr>
            <a:r>
              <a:rPr b="1" i="0" lang="en-US" sz="2499" u="none" cap="none" strike="noStrike">
                <a:solidFill>
                  <a:srgbClr val="000000"/>
                </a:solidFill>
                <a:latin typeface="Open Sans"/>
                <a:ea typeface="Open Sans"/>
                <a:cs typeface="Open Sans"/>
                <a:sym typeface="Open Sans"/>
              </a:rPr>
              <a:t>Funciones lambda:</a:t>
            </a:r>
            <a:r>
              <a:rPr b="0" i="0" lang="en-US" sz="2499" u="none" cap="none" strike="noStrike">
                <a:solidFill>
                  <a:srgbClr val="000000"/>
                </a:solidFill>
                <a:latin typeface="Open Sans"/>
                <a:ea typeface="Open Sans"/>
                <a:cs typeface="Open Sans"/>
                <a:sym typeface="Open Sans"/>
              </a:rPr>
              <a:t> Son funciones pequeñas y anónimas que se definen en una sola línea usando =&gt; y se usan para operaciones rápidas.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31"/>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31"/>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5">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31"/>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6">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31"/>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7">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31"/>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8">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31"/>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9">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31"/>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0">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31"/>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1">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31"/>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2">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31"/>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3">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31"/>
          <p:cNvSpPr txBox="1"/>
          <p:nvPr/>
        </p:nvSpPr>
        <p:spPr>
          <a:xfrm>
            <a:off x="1345584" y="2561568"/>
            <a:ext cx="7798416" cy="6758560"/>
          </a:xfrm>
          <a:prstGeom prst="rect">
            <a:avLst/>
          </a:prstGeom>
          <a:noFill/>
          <a:ln>
            <a:noFill/>
          </a:ln>
        </p:spPr>
        <p:txBody>
          <a:bodyPr anchorCtr="0" anchor="t" bIns="0" lIns="0" spcFirstLastPara="1" rIns="0" wrap="square" tIns="0">
            <a:spAutoFit/>
          </a:bodyPr>
          <a:lstStyle/>
          <a:p>
            <a:pPr indent="-259078" lvl="1" marL="518157" marR="0" rtl="0" algn="just">
              <a:lnSpc>
                <a:spcPct val="162025"/>
              </a:lnSpc>
              <a:spcBef>
                <a:spcPts val="0"/>
              </a:spcBef>
              <a:spcAft>
                <a:spcPts val="0"/>
              </a:spcAft>
              <a:buClr>
                <a:srgbClr val="000000"/>
              </a:buClr>
              <a:buSzPts val="2399"/>
              <a:buFont typeface="Arial"/>
              <a:buChar char="•"/>
            </a:pPr>
            <a:r>
              <a:rPr b="1" i="0" lang="en-US" sz="2399" u="none" cap="none" strike="noStrike">
                <a:solidFill>
                  <a:srgbClr val="000000"/>
                </a:solidFill>
                <a:latin typeface="Open Sans"/>
                <a:ea typeface="Open Sans"/>
                <a:cs typeface="Open Sans"/>
                <a:sym typeface="Open Sans"/>
              </a:rPr>
              <a:t>for:</a:t>
            </a:r>
            <a:r>
              <a:rPr b="0" i="0" lang="en-US" sz="2399" u="none" cap="none" strike="noStrike">
                <a:solidFill>
                  <a:srgbClr val="000000"/>
                </a:solidFill>
                <a:latin typeface="Open Sans"/>
                <a:ea typeface="Open Sans"/>
                <a:cs typeface="Open Sans"/>
                <a:sym typeface="Open Sans"/>
              </a:rPr>
              <a:t> Permite ejecutar un bloque de instrucciones un número determinado de veces.</a:t>
            </a:r>
            <a:endParaRPr/>
          </a:p>
          <a:p>
            <a:pPr indent="0" lvl="0" marL="0" marR="0" rtl="0" algn="just">
              <a:lnSpc>
                <a:spcPct val="162025"/>
              </a:lnSpc>
              <a:spcBef>
                <a:spcPts val="0"/>
              </a:spcBef>
              <a:spcAft>
                <a:spcPts val="0"/>
              </a:spcAft>
              <a:buNone/>
            </a:pPr>
            <a:r>
              <a:t/>
            </a:r>
            <a:endParaRPr sz="2399">
              <a:solidFill>
                <a:srgbClr val="000000"/>
              </a:solidFill>
              <a:latin typeface="Open Sans"/>
              <a:ea typeface="Open Sans"/>
              <a:cs typeface="Open Sans"/>
              <a:sym typeface="Open Sans"/>
            </a:endParaRPr>
          </a:p>
          <a:p>
            <a:pPr indent="-259078" lvl="1" marL="518157" marR="0" rtl="0" algn="just">
              <a:lnSpc>
                <a:spcPct val="162025"/>
              </a:lnSpc>
              <a:spcBef>
                <a:spcPts val="0"/>
              </a:spcBef>
              <a:spcAft>
                <a:spcPts val="0"/>
              </a:spcAft>
              <a:buClr>
                <a:srgbClr val="000000"/>
              </a:buClr>
              <a:buSzPts val="2399"/>
              <a:buFont typeface="Arial"/>
              <a:buChar char="•"/>
            </a:pPr>
            <a:r>
              <a:rPr b="1" i="0" lang="en-US" sz="2399" u="none" cap="none" strike="noStrike">
                <a:solidFill>
                  <a:srgbClr val="000000"/>
                </a:solidFill>
                <a:latin typeface="Open Sans"/>
                <a:ea typeface="Open Sans"/>
                <a:cs typeface="Open Sans"/>
                <a:sym typeface="Open Sans"/>
              </a:rPr>
              <a:t>while:</a:t>
            </a:r>
            <a:r>
              <a:rPr b="0" i="0" lang="en-US" sz="2399" u="none" cap="none" strike="noStrike">
                <a:solidFill>
                  <a:srgbClr val="000000"/>
                </a:solidFill>
                <a:latin typeface="Open Sans"/>
                <a:ea typeface="Open Sans"/>
                <a:cs typeface="Open Sans"/>
                <a:sym typeface="Open Sans"/>
              </a:rPr>
              <a:t> Permite repetir una instrucción o bloque de instrucciones mientras se cumpla una condición.</a:t>
            </a:r>
            <a:endParaRPr/>
          </a:p>
          <a:p>
            <a:pPr indent="0" lvl="0" marL="0" marR="0" rtl="0" algn="just">
              <a:lnSpc>
                <a:spcPct val="162025"/>
              </a:lnSpc>
              <a:spcBef>
                <a:spcPts val="0"/>
              </a:spcBef>
              <a:spcAft>
                <a:spcPts val="0"/>
              </a:spcAft>
              <a:buNone/>
            </a:pPr>
            <a:r>
              <a:t/>
            </a:r>
            <a:endParaRPr sz="2399">
              <a:solidFill>
                <a:srgbClr val="000000"/>
              </a:solidFill>
              <a:latin typeface="Open Sans"/>
              <a:ea typeface="Open Sans"/>
              <a:cs typeface="Open Sans"/>
              <a:sym typeface="Open Sans"/>
            </a:endParaRPr>
          </a:p>
          <a:p>
            <a:pPr indent="-259078" lvl="1" marL="518157" marR="0" rtl="0" algn="just">
              <a:lnSpc>
                <a:spcPct val="162025"/>
              </a:lnSpc>
              <a:spcBef>
                <a:spcPts val="0"/>
              </a:spcBef>
              <a:spcAft>
                <a:spcPts val="0"/>
              </a:spcAft>
              <a:buClr>
                <a:srgbClr val="000000"/>
              </a:buClr>
              <a:buSzPts val="2399"/>
              <a:buFont typeface="Arial"/>
              <a:buChar char="•"/>
            </a:pPr>
            <a:r>
              <a:rPr b="1" i="0" lang="en-US" sz="2399" u="none" cap="none" strike="noStrike">
                <a:solidFill>
                  <a:srgbClr val="000000"/>
                </a:solidFill>
                <a:latin typeface="Open Sans"/>
                <a:ea typeface="Open Sans"/>
                <a:cs typeface="Open Sans"/>
                <a:sym typeface="Open Sans"/>
              </a:rPr>
              <a:t>do-while: </a:t>
            </a:r>
            <a:r>
              <a:rPr b="0" i="0" lang="en-US" sz="2399" u="none" cap="none" strike="noStrike">
                <a:solidFill>
                  <a:srgbClr val="000000"/>
                </a:solidFill>
                <a:latin typeface="Open Sans"/>
                <a:ea typeface="Open Sans"/>
                <a:cs typeface="Open Sans"/>
                <a:sym typeface="Open Sans"/>
              </a:rPr>
              <a:t>Permite ejecutar un bloque de instrucciones al menos una vez y luego repetirlo mientras se cumpla una condición.</a:t>
            </a:r>
            <a:endParaRPr/>
          </a:p>
          <a:p>
            <a:pPr indent="0" lvl="0" marL="0" marR="0" rtl="0" algn="just">
              <a:lnSpc>
                <a:spcPct val="162025"/>
              </a:lnSpc>
              <a:spcBef>
                <a:spcPts val="0"/>
              </a:spcBef>
              <a:spcAft>
                <a:spcPts val="0"/>
              </a:spcAft>
              <a:buNone/>
            </a:pPr>
            <a:r>
              <a:t/>
            </a:r>
            <a:endParaRPr sz="2399">
              <a:solidFill>
                <a:srgbClr val="000000"/>
              </a:solidFill>
              <a:latin typeface="Open Sans"/>
              <a:ea typeface="Open Sans"/>
              <a:cs typeface="Open Sans"/>
              <a:sym typeface="Open Sans"/>
            </a:endParaRPr>
          </a:p>
          <a:p>
            <a:pPr indent="-259078" lvl="1" marL="518157" marR="0" rtl="0" algn="just">
              <a:lnSpc>
                <a:spcPct val="162025"/>
              </a:lnSpc>
              <a:spcBef>
                <a:spcPts val="0"/>
              </a:spcBef>
              <a:spcAft>
                <a:spcPts val="0"/>
              </a:spcAft>
              <a:buClr>
                <a:srgbClr val="000000"/>
              </a:buClr>
              <a:buSzPts val="2399"/>
              <a:buFont typeface="Arial"/>
              <a:buChar char="•"/>
            </a:pPr>
            <a:r>
              <a:rPr b="1" i="0" lang="en-US" sz="2399" u="none" cap="none" strike="noStrike">
                <a:solidFill>
                  <a:srgbClr val="000000"/>
                </a:solidFill>
                <a:latin typeface="Open Sans"/>
                <a:ea typeface="Open Sans"/>
                <a:cs typeface="Open Sans"/>
                <a:sym typeface="Open Sans"/>
              </a:rPr>
              <a:t>foreach:</a:t>
            </a:r>
            <a:r>
              <a:rPr b="0" i="0" lang="en-US" sz="2399" u="none" cap="none" strike="noStrike">
                <a:solidFill>
                  <a:srgbClr val="000000"/>
                </a:solidFill>
                <a:latin typeface="Open Sans"/>
                <a:ea typeface="Open Sans"/>
                <a:cs typeface="Open Sans"/>
                <a:sym typeface="Open Sans"/>
              </a:rPr>
              <a:t> Permite recorrer automáticamente los elementos de una colección (arreglo, lista, etc.) uno por uno.</a:t>
            </a:r>
            <a:endParaRPr/>
          </a:p>
          <a:p>
            <a:pPr indent="0" lvl="0" marL="0" marR="0" rtl="0" algn="just">
              <a:lnSpc>
                <a:spcPct val="162025"/>
              </a:lnSpc>
              <a:spcBef>
                <a:spcPts val="0"/>
              </a:spcBef>
              <a:spcAft>
                <a:spcPts val="0"/>
              </a:spcAft>
              <a:buNone/>
            </a:pPr>
            <a:r>
              <a:t/>
            </a:r>
            <a:endParaRPr sz="2399">
              <a:solidFill>
                <a:srgbClr val="000000"/>
              </a:solidFill>
              <a:latin typeface="Open Sans"/>
              <a:ea typeface="Open Sans"/>
              <a:cs typeface="Open Sans"/>
              <a:sym typeface="Open Sans"/>
            </a:endParaRPr>
          </a:p>
        </p:txBody>
      </p:sp>
      <p:sp>
        <p:nvSpPr>
          <p:cNvPr id="567" name="Google Shape;567;p31"/>
          <p:cNvSpPr/>
          <p:nvPr/>
        </p:nvSpPr>
        <p:spPr>
          <a:xfrm>
            <a:off x="10155855" y="1656693"/>
            <a:ext cx="4857514" cy="1809104"/>
          </a:xfrm>
          <a:custGeom>
            <a:rect b="b" l="l" r="r" t="t"/>
            <a:pathLst>
              <a:path extrusionOk="0" h="1809104" w="4857514">
                <a:moveTo>
                  <a:pt x="0" y="0"/>
                </a:moveTo>
                <a:lnTo>
                  <a:pt x="4857514" y="0"/>
                </a:lnTo>
                <a:lnTo>
                  <a:pt x="4857514" y="1809103"/>
                </a:lnTo>
                <a:lnTo>
                  <a:pt x="0" y="1809103"/>
                </a:lnTo>
                <a:lnTo>
                  <a:pt x="0" y="0"/>
                </a:lnTo>
                <a:close/>
              </a:path>
            </a:pathLst>
          </a:cu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31"/>
          <p:cNvSpPr/>
          <p:nvPr/>
        </p:nvSpPr>
        <p:spPr>
          <a:xfrm>
            <a:off x="10154423" y="4063484"/>
            <a:ext cx="2946478" cy="2077927"/>
          </a:xfrm>
          <a:custGeom>
            <a:rect b="b" l="l" r="r" t="t"/>
            <a:pathLst>
              <a:path extrusionOk="0" h="2077927" w="2946478">
                <a:moveTo>
                  <a:pt x="0" y="0"/>
                </a:moveTo>
                <a:lnTo>
                  <a:pt x="2946478" y="0"/>
                </a:lnTo>
                <a:lnTo>
                  <a:pt x="2946478" y="2077926"/>
                </a:lnTo>
                <a:lnTo>
                  <a:pt x="0" y="2077926"/>
                </a:lnTo>
                <a:lnTo>
                  <a:pt x="0" y="0"/>
                </a:lnTo>
                <a:close/>
              </a:path>
            </a:pathLst>
          </a:custGeom>
          <a:blipFill rotWithShape="1">
            <a:blip r:embed="rId1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31"/>
          <p:cNvSpPr/>
          <p:nvPr/>
        </p:nvSpPr>
        <p:spPr>
          <a:xfrm>
            <a:off x="13622595" y="4021280"/>
            <a:ext cx="2781548" cy="2162334"/>
          </a:xfrm>
          <a:custGeom>
            <a:rect b="b" l="l" r="r" t="t"/>
            <a:pathLst>
              <a:path extrusionOk="0" h="2162334" w="2781548">
                <a:moveTo>
                  <a:pt x="0" y="0"/>
                </a:moveTo>
                <a:lnTo>
                  <a:pt x="2781549" y="0"/>
                </a:lnTo>
                <a:lnTo>
                  <a:pt x="2781549" y="2162334"/>
                </a:lnTo>
                <a:lnTo>
                  <a:pt x="0" y="2162334"/>
                </a:lnTo>
                <a:lnTo>
                  <a:pt x="0" y="0"/>
                </a:lnTo>
                <a:close/>
              </a:path>
            </a:pathLst>
          </a:custGeom>
          <a:blipFill rotWithShape="1">
            <a:blip r:embed="rId1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31"/>
          <p:cNvSpPr/>
          <p:nvPr/>
        </p:nvSpPr>
        <p:spPr>
          <a:xfrm>
            <a:off x="10155855" y="6739097"/>
            <a:ext cx="3793585" cy="2354639"/>
          </a:xfrm>
          <a:custGeom>
            <a:rect b="b" l="l" r="r" t="t"/>
            <a:pathLst>
              <a:path extrusionOk="0" h="2354639" w="3793585">
                <a:moveTo>
                  <a:pt x="0" y="0"/>
                </a:moveTo>
                <a:lnTo>
                  <a:pt x="3793585" y="0"/>
                </a:lnTo>
                <a:lnTo>
                  <a:pt x="3793585" y="2354640"/>
                </a:lnTo>
                <a:lnTo>
                  <a:pt x="0" y="2354640"/>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31"/>
          <p:cNvSpPr txBox="1"/>
          <p:nvPr/>
        </p:nvSpPr>
        <p:spPr>
          <a:xfrm>
            <a:off x="1233488" y="1656693"/>
            <a:ext cx="4104680" cy="75247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lang="en-US" sz="4999">
                <a:solidFill>
                  <a:srgbClr val="000000"/>
                </a:solidFill>
                <a:latin typeface="Open Sans"/>
                <a:ea typeface="Open Sans"/>
                <a:cs typeface="Open Sans"/>
                <a:sym typeface="Open Sans"/>
              </a:rPr>
              <a:t>ITERACIONES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32"/>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32"/>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32"/>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32"/>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32"/>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32"/>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32"/>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32"/>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32"/>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32"/>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32"/>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32"/>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32"/>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32"/>
          <p:cNvSpPr/>
          <p:nvPr/>
        </p:nvSpPr>
        <p:spPr>
          <a:xfrm>
            <a:off x="2570550" y="6169345"/>
            <a:ext cx="6416233" cy="2745090"/>
          </a:xfrm>
          <a:custGeom>
            <a:rect b="b" l="l" r="r" t="t"/>
            <a:pathLst>
              <a:path extrusionOk="0" h="2745090" w="6416233">
                <a:moveTo>
                  <a:pt x="0" y="0"/>
                </a:moveTo>
                <a:lnTo>
                  <a:pt x="6416233" y="0"/>
                </a:lnTo>
                <a:lnTo>
                  <a:pt x="6416233" y="2745090"/>
                </a:lnTo>
                <a:lnTo>
                  <a:pt x="0" y="2745090"/>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32"/>
          <p:cNvSpPr txBox="1"/>
          <p:nvPr/>
        </p:nvSpPr>
        <p:spPr>
          <a:xfrm>
            <a:off x="4831479" y="1510317"/>
            <a:ext cx="3470557" cy="75247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lang="en-US" sz="4999">
                <a:solidFill>
                  <a:srgbClr val="000000"/>
                </a:solidFill>
                <a:latin typeface="Open Sans"/>
                <a:ea typeface="Open Sans"/>
                <a:cs typeface="Open Sans"/>
                <a:sym typeface="Open Sans"/>
              </a:rPr>
              <a:t>STRING</a:t>
            </a:r>
            <a:endParaRPr/>
          </a:p>
        </p:txBody>
      </p:sp>
      <p:sp>
        <p:nvSpPr>
          <p:cNvPr id="592" name="Google Shape;592;p32"/>
          <p:cNvSpPr txBox="1"/>
          <p:nvPr/>
        </p:nvSpPr>
        <p:spPr>
          <a:xfrm>
            <a:off x="1619745" y="2266255"/>
            <a:ext cx="8625023" cy="3505201"/>
          </a:xfrm>
          <a:prstGeom prst="rect">
            <a:avLst/>
          </a:prstGeom>
          <a:noFill/>
          <a:ln>
            <a:noFill/>
          </a:ln>
        </p:spPr>
        <p:txBody>
          <a:bodyPr anchorCtr="0" anchor="t" bIns="0" lIns="0" spcFirstLastPara="1" rIns="0" wrap="square" tIns="0">
            <a:spAutoFit/>
          </a:bodyPr>
          <a:lstStyle/>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Un string es una secuencia de caracteres utilizada para representar texto.</a:t>
            </a:r>
            <a:endParaRPr/>
          </a:p>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En C#, los strings se definen usando comillas dobles (").</a:t>
            </a:r>
            <a:endParaRPr/>
          </a:p>
          <a:p>
            <a:pPr indent="0" lvl="0" marL="0" marR="0" rtl="0" algn="just">
              <a:lnSpc>
                <a:spcPct val="162024"/>
              </a:lnSpc>
              <a:spcBef>
                <a:spcPts val="0"/>
              </a:spcBef>
              <a:spcAft>
                <a:spcPts val="0"/>
              </a:spcAft>
              <a:buNone/>
            </a:pPr>
            <a:r>
              <a:t/>
            </a:r>
            <a:endParaRPr sz="2499">
              <a:solidFill>
                <a:srgbClr val="000000"/>
              </a:solidFill>
              <a:latin typeface="Open Sans"/>
              <a:ea typeface="Open Sans"/>
              <a:cs typeface="Open Sans"/>
              <a:sym typeface="Open Sans"/>
            </a:endParaRPr>
          </a:p>
          <a:p>
            <a:pPr indent="0" lvl="0" marL="0" marR="0" rtl="0" algn="just">
              <a:lnSpc>
                <a:spcPct val="162024"/>
              </a:lnSpc>
              <a:spcBef>
                <a:spcPts val="0"/>
              </a:spcBef>
              <a:spcAft>
                <a:spcPts val="0"/>
              </a:spcAft>
              <a:buNone/>
            </a:pPr>
            <a:r>
              <a:rPr lang="en-US" sz="2499">
                <a:solidFill>
                  <a:srgbClr val="000000"/>
                </a:solidFill>
                <a:latin typeface="Open Sans"/>
                <a:ea typeface="Open Sans"/>
                <a:cs typeface="Open Sans"/>
                <a:sym typeface="Open Sans"/>
              </a:rPr>
              <a:t> Se pueden manipular usando operadores y métodos, como concatenación, acceso a caracteres individuales y funciones para convertir, buscar o modificar texto.</a:t>
            </a:r>
            <a:endParaRPr/>
          </a:p>
        </p:txBody>
      </p:sp>
      <p:sp>
        <p:nvSpPr>
          <p:cNvPr id="593" name="Google Shape;593;p32"/>
          <p:cNvSpPr txBox="1"/>
          <p:nvPr/>
        </p:nvSpPr>
        <p:spPr>
          <a:xfrm>
            <a:off x="10873418" y="1405542"/>
            <a:ext cx="5754865" cy="7038976"/>
          </a:xfrm>
          <a:prstGeom prst="rect">
            <a:avLst/>
          </a:prstGeom>
          <a:noFill/>
          <a:ln>
            <a:noFill/>
          </a:ln>
        </p:spPr>
        <p:txBody>
          <a:bodyPr anchorCtr="0" anchor="t" bIns="0" lIns="0" spcFirstLastPara="1" rIns="0" wrap="square" tIns="0">
            <a:spAutoFit/>
          </a:bodyPr>
          <a:lstStyle/>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Length: Devuelve la cantidad de caracteres del string.</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ToUpper(): Convierte el texto a mayúsculas.</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ToLower(): Convierte el texto a minúsculas.</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Substring(inicio, longitud): Devuelve una parte del string.</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Contains(texto): Indica si el string contiene un texto.</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Replace(viejo, nuevo): Reemplaza un texto por otro.</a:t>
            </a:r>
            <a:endParaRPr/>
          </a:p>
          <a:p>
            <a:pPr indent="-269873" lvl="1" marL="539746" marR="0" rtl="0" algn="just">
              <a:lnSpc>
                <a:spcPct val="162024"/>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Trim(): Quita espacios al inicio y al final.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33"/>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33"/>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33"/>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33"/>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33"/>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33"/>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33"/>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33"/>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33"/>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33"/>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33"/>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33"/>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33"/>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33"/>
          <p:cNvSpPr txBox="1"/>
          <p:nvPr/>
        </p:nvSpPr>
        <p:spPr>
          <a:xfrm>
            <a:off x="5473046" y="2175967"/>
            <a:ext cx="7345680" cy="4404893"/>
          </a:xfrm>
          <a:prstGeom prst="rect">
            <a:avLst/>
          </a:prstGeom>
          <a:noFill/>
          <a:ln>
            <a:noFill/>
          </a:ln>
        </p:spPr>
        <p:txBody>
          <a:bodyPr anchorCtr="0" anchor="t" bIns="0" lIns="0" spcFirstLastPara="1" rIns="0" wrap="square" tIns="0">
            <a:spAutoFit/>
          </a:bodyPr>
          <a:lstStyle/>
          <a:p>
            <a:pPr indent="0" lvl="0" marL="0" marR="0" rtl="0" algn="l">
              <a:lnSpc>
                <a:spcPct val="157192"/>
              </a:lnSpc>
              <a:spcBef>
                <a:spcPts val="0"/>
              </a:spcBef>
              <a:spcAft>
                <a:spcPts val="0"/>
              </a:spcAft>
              <a:buNone/>
            </a:pPr>
            <a:r>
              <a:rPr b="1" lang="en-US" sz="11400">
                <a:solidFill>
                  <a:srgbClr val="000000"/>
                </a:solidFill>
                <a:latin typeface="Open Sans"/>
                <a:ea typeface="Open Sans"/>
                <a:cs typeface="Open Sans"/>
                <a:sym typeface="Open Sans"/>
              </a:rPr>
              <a:t>EJEMPLO PRÁCTICO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34"/>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34"/>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34"/>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34"/>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34"/>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34"/>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34"/>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34"/>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34"/>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34"/>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34"/>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34"/>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34"/>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34"/>
          <p:cNvSpPr/>
          <p:nvPr/>
        </p:nvSpPr>
        <p:spPr>
          <a:xfrm>
            <a:off x="13358415" y="6202450"/>
            <a:ext cx="2170108" cy="2170108"/>
          </a:xfrm>
          <a:custGeom>
            <a:rect b="b" l="l" r="r" t="t"/>
            <a:pathLst>
              <a:path extrusionOk="0" h="2170108" w="2170108">
                <a:moveTo>
                  <a:pt x="0" y="0"/>
                </a:moveTo>
                <a:lnTo>
                  <a:pt x="2170108" y="0"/>
                </a:lnTo>
                <a:lnTo>
                  <a:pt x="2170108" y="2170108"/>
                </a:lnTo>
                <a:lnTo>
                  <a:pt x="0" y="2170108"/>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34"/>
          <p:cNvSpPr/>
          <p:nvPr/>
        </p:nvSpPr>
        <p:spPr>
          <a:xfrm>
            <a:off x="1961166" y="5143500"/>
            <a:ext cx="9200158" cy="3613066"/>
          </a:xfrm>
          <a:custGeom>
            <a:rect b="b" l="l" r="r" t="t"/>
            <a:pathLst>
              <a:path extrusionOk="0" h="3613066" w="9200158">
                <a:moveTo>
                  <a:pt x="0" y="0"/>
                </a:moveTo>
                <a:lnTo>
                  <a:pt x="9200158" y="0"/>
                </a:lnTo>
                <a:lnTo>
                  <a:pt x="9200158" y="3613066"/>
                </a:lnTo>
                <a:lnTo>
                  <a:pt x="0" y="3613066"/>
                </a:lnTo>
                <a:lnTo>
                  <a:pt x="0" y="0"/>
                </a:lnTo>
                <a:close/>
              </a:path>
            </a:pathLst>
          </a:custGeom>
          <a:blipFill rotWithShape="1">
            <a:blip r:embed="rId1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34"/>
          <p:cNvSpPr txBox="1"/>
          <p:nvPr/>
        </p:nvSpPr>
        <p:spPr>
          <a:xfrm>
            <a:off x="1433713" y="2053152"/>
            <a:ext cx="12129887" cy="1485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9800">
                <a:solidFill>
                  <a:srgbClr val="000000"/>
                </a:solidFill>
                <a:latin typeface="Open Sans"/>
                <a:ea typeface="Open Sans"/>
                <a:cs typeface="Open Sans"/>
                <a:sym typeface="Open Sans"/>
              </a:rPr>
              <a:t>RECOMENDACIÓN</a:t>
            </a:r>
            <a:endParaRPr/>
          </a:p>
        </p:txBody>
      </p:sp>
      <p:sp>
        <p:nvSpPr>
          <p:cNvPr id="634" name="Google Shape;634;p34"/>
          <p:cNvSpPr txBox="1"/>
          <p:nvPr/>
        </p:nvSpPr>
        <p:spPr>
          <a:xfrm>
            <a:off x="1961166" y="4177227"/>
            <a:ext cx="9200158" cy="6667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4400">
                <a:solidFill>
                  <a:srgbClr val="000000"/>
                </a:solidFill>
                <a:latin typeface="Open Sans"/>
                <a:ea typeface="Open Sans"/>
                <a:cs typeface="Open Sans"/>
                <a:sym typeface="Open Sans"/>
              </a:rPr>
              <a:t>CURSO GRATIS DE SOLOLEARN</a:t>
            </a:r>
            <a:endParaRPr/>
          </a:p>
        </p:txBody>
      </p:sp>
      <p:sp>
        <p:nvSpPr>
          <p:cNvPr id="635" name="Google Shape;635;p34"/>
          <p:cNvSpPr txBox="1"/>
          <p:nvPr/>
        </p:nvSpPr>
        <p:spPr>
          <a:xfrm>
            <a:off x="11627638" y="5368124"/>
            <a:ext cx="5631662" cy="666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400" u="sng">
                <a:solidFill>
                  <a:srgbClr val="0000FF"/>
                </a:solidFill>
                <a:latin typeface="Open Sans"/>
                <a:ea typeface="Open Sans"/>
                <a:cs typeface="Open Sans"/>
                <a:sym typeface="Open Sans"/>
                <a:hlinkClick r:id="rId19">
                  <a:extLst>
                    <a:ext uri="{A12FA001-AC4F-418D-AE19-62706E023703}">
                      <ahyp:hlinkClr val="tx"/>
                    </a:ext>
                  </a:extLst>
                </a:hlinkClick>
              </a:rPr>
              <a:t>INTRODUCCION A C#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3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35"/>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35"/>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35"/>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35"/>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35"/>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35"/>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35"/>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35"/>
          <p:cNvSpPr/>
          <p:nvPr/>
        </p:nvSpPr>
        <p:spPr>
          <a:xfrm>
            <a:off x="0" y="2371030"/>
            <a:ext cx="1287428" cy="5047783"/>
          </a:xfrm>
          <a:custGeom>
            <a:rect b="b" l="l" r="r" t="t"/>
            <a:pathLst>
              <a:path extrusionOk="0" h="5047783" w="1287428">
                <a:moveTo>
                  <a:pt x="0" y="0"/>
                </a:moveTo>
                <a:lnTo>
                  <a:pt x="1287428" y="0"/>
                </a:lnTo>
                <a:lnTo>
                  <a:pt x="1287428" y="5047783"/>
                </a:lnTo>
                <a:lnTo>
                  <a:pt x="0" y="5047783"/>
                </a:lnTo>
                <a:lnTo>
                  <a:pt x="0" y="0"/>
                </a:lnTo>
                <a:close/>
              </a:path>
            </a:pathLst>
          </a:custGeom>
          <a:blipFill rotWithShape="1">
            <a:blip r:embed="rId11">
              <a:alphaModFix/>
            </a:blip>
            <a:stretch>
              <a:fillRect b="0" l="-53" r="-5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35"/>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35"/>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35"/>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35"/>
          <p:cNvSpPr/>
          <p:nvPr/>
        </p:nvSpPr>
        <p:spPr>
          <a:xfrm>
            <a:off x="17497244" y="5835910"/>
            <a:ext cx="790756" cy="3410664"/>
          </a:xfrm>
          <a:custGeom>
            <a:rect b="b" l="l" r="r" t="t"/>
            <a:pathLst>
              <a:path extrusionOk="0" h="3410664" w="790756">
                <a:moveTo>
                  <a:pt x="0" y="0"/>
                </a:moveTo>
                <a:lnTo>
                  <a:pt x="790756" y="0"/>
                </a:lnTo>
                <a:lnTo>
                  <a:pt x="790756" y="3410665"/>
                </a:lnTo>
                <a:lnTo>
                  <a:pt x="0" y="3410665"/>
                </a:lnTo>
                <a:lnTo>
                  <a:pt x="0" y="0"/>
                </a:lnTo>
                <a:close/>
              </a:path>
            </a:pathLst>
          </a:custGeom>
          <a:blipFill rotWithShape="1">
            <a:blip r:embed="rId15">
              <a:alphaModFix/>
            </a:blip>
            <a:stretch>
              <a:fillRect b="-129" l="0" r="0" t="-1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35"/>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35"/>
          <p:cNvSpPr txBox="1"/>
          <p:nvPr/>
        </p:nvSpPr>
        <p:spPr>
          <a:xfrm>
            <a:off x="2289155" y="1962821"/>
            <a:ext cx="15208089" cy="1066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7000">
                <a:solidFill>
                  <a:srgbClr val="131416"/>
                </a:solidFill>
                <a:latin typeface="Open Sans"/>
                <a:ea typeface="Open Sans"/>
                <a:cs typeface="Open Sans"/>
                <a:sym typeface="Open Sans"/>
              </a:rPr>
              <a:t>CONCEPTOS CLAVE APRENDIDOS</a:t>
            </a:r>
            <a:endParaRPr/>
          </a:p>
        </p:txBody>
      </p:sp>
      <p:sp>
        <p:nvSpPr>
          <p:cNvPr id="655" name="Google Shape;655;p35"/>
          <p:cNvSpPr txBox="1"/>
          <p:nvPr/>
        </p:nvSpPr>
        <p:spPr>
          <a:xfrm>
            <a:off x="2063839" y="3530116"/>
            <a:ext cx="14187764" cy="3749043"/>
          </a:xfrm>
          <a:prstGeom prst="rect">
            <a:avLst/>
          </a:prstGeom>
          <a:noFill/>
          <a:ln>
            <a:noFill/>
          </a:ln>
        </p:spPr>
        <p:txBody>
          <a:bodyPr anchorCtr="0" anchor="t" bIns="0" lIns="0" spcFirstLastPara="1" rIns="0" wrap="square" tIns="0">
            <a:spAutoFit/>
          </a:bodyPr>
          <a:lstStyle/>
          <a:p>
            <a:pPr indent="-435470" lvl="1" marL="870941" marR="0" rtl="0" algn="l">
              <a:lnSpc>
                <a:spcPct val="138010"/>
              </a:lnSpc>
              <a:spcBef>
                <a:spcPts val="0"/>
              </a:spcBef>
              <a:spcAft>
                <a:spcPts val="0"/>
              </a:spcAft>
              <a:buClr>
                <a:srgbClr val="131416"/>
              </a:buClr>
              <a:buSzPts val="3499"/>
              <a:buFont typeface="Arial"/>
              <a:buChar char="•"/>
            </a:pPr>
            <a:r>
              <a:rPr b="0" i="0" lang="en-US" sz="3499" u="none" cap="none" strike="noStrike">
                <a:solidFill>
                  <a:srgbClr val="131416"/>
                </a:solidFill>
                <a:latin typeface="Open Sans"/>
                <a:ea typeface="Open Sans"/>
                <a:cs typeface="Open Sans"/>
                <a:sym typeface="Open Sans"/>
              </a:rPr>
              <a:t>C# es un lenguaje de programación fácil de aprender y usar. Es muy popular porque permite escribir código de manera clara y sencilla</a:t>
            </a:r>
            <a:endParaRPr/>
          </a:p>
          <a:p>
            <a:pPr indent="-436165" lvl="1" marL="872330" marR="0" rtl="0" algn="l">
              <a:lnSpc>
                <a:spcPct val="120005"/>
              </a:lnSpc>
              <a:spcBef>
                <a:spcPts val="0"/>
              </a:spcBef>
              <a:spcAft>
                <a:spcPts val="0"/>
              </a:spcAft>
              <a:buClr>
                <a:srgbClr val="131416"/>
              </a:buClr>
              <a:buSzPts val="3499"/>
              <a:buFont typeface="Arial"/>
              <a:buChar char="•"/>
            </a:pPr>
            <a:r>
              <a:rPr b="0" i="0" lang="en-US" sz="3499" u="none" cap="none" strike="noStrike">
                <a:solidFill>
                  <a:srgbClr val="131416"/>
                </a:solidFill>
                <a:latin typeface="Open Sans"/>
                <a:ea typeface="Open Sans"/>
                <a:cs typeface="Open Sans"/>
                <a:sym typeface="Open Sans"/>
              </a:rPr>
              <a:t>Una variable puede almacenar el resultado de una expresión.</a:t>
            </a:r>
            <a:endParaRPr/>
          </a:p>
          <a:p>
            <a:pPr indent="-435470" lvl="1" marL="870941" marR="0" rtl="0" algn="l">
              <a:lnSpc>
                <a:spcPct val="168019"/>
              </a:lnSpc>
              <a:spcBef>
                <a:spcPts val="0"/>
              </a:spcBef>
              <a:spcAft>
                <a:spcPts val="0"/>
              </a:spcAft>
              <a:buClr>
                <a:srgbClr val="131416"/>
              </a:buClr>
              <a:buSzPts val="3499"/>
              <a:buFont typeface="Arial"/>
              <a:buChar char="•"/>
            </a:pPr>
            <a:r>
              <a:rPr b="0" i="0" lang="en-US" sz="3499" u="none" cap="none" strike="noStrike">
                <a:solidFill>
                  <a:srgbClr val="131416"/>
                </a:solidFill>
                <a:latin typeface="Open Sans"/>
                <a:ea typeface="Open Sans"/>
                <a:cs typeface="Open Sans"/>
                <a:sym typeface="Open Sans"/>
              </a:rPr>
              <a:t>Una sentencia puede usar variables y expresiones para ejecutar una acción.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3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3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36"/>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36"/>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36"/>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36"/>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36"/>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36"/>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36"/>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36"/>
          <p:cNvSpPr/>
          <p:nvPr/>
        </p:nvSpPr>
        <p:spPr>
          <a:xfrm>
            <a:off x="0" y="2371030"/>
            <a:ext cx="1287428" cy="5047783"/>
          </a:xfrm>
          <a:custGeom>
            <a:rect b="b" l="l" r="r" t="t"/>
            <a:pathLst>
              <a:path extrusionOk="0" h="5047783" w="1287428">
                <a:moveTo>
                  <a:pt x="0" y="0"/>
                </a:moveTo>
                <a:lnTo>
                  <a:pt x="1287428" y="0"/>
                </a:lnTo>
                <a:lnTo>
                  <a:pt x="1287428" y="5047783"/>
                </a:lnTo>
                <a:lnTo>
                  <a:pt x="0" y="5047783"/>
                </a:lnTo>
                <a:lnTo>
                  <a:pt x="0" y="0"/>
                </a:lnTo>
                <a:close/>
              </a:path>
            </a:pathLst>
          </a:custGeom>
          <a:blipFill rotWithShape="1">
            <a:blip r:embed="rId11">
              <a:alphaModFix/>
            </a:blip>
            <a:stretch>
              <a:fillRect b="0" l="-53" r="-5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36"/>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36"/>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36"/>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36"/>
          <p:cNvSpPr/>
          <p:nvPr/>
        </p:nvSpPr>
        <p:spPr>
          <a:xfrm>
            <a:off x="17497244" y="5835910"/>
            <a:ext cx="790756" cy="3410664"/>
          </a:xfrm>
          <a:custGeom>
            <a:rect b="b" l="l" r="r" t="t"/>
            <a:pathLst>
              <a:path extrusionOk="0" h="3410664" w="790756">
                <a:moveTo>
                  <a:pt x="0" y="0"/>
                </a:moveTo>
                <a:lnTo>
                  <a:pt x="790756" y="0"/>
                </a:lnTo>
                <a:lnTo>
                  <a:pt x="790756" y="3410665"/>
                </a:lnTo>
                <a:lnTo>
                  <a:pt x="0" y="3410665"/>
                </a:lnTo>
                <a:lnTo>
                  <a:pt x="0" y="0"/>
                </a:lnTo>
                <a:close/>
              </a:path>
            </a:pathLst>
          </a:custGeom>
          <a:blipFill rotWithShape="1">
            <a:blip r:embed="rId15">
              <a:alphaModFix/>
            </a:blip>
            <a:stretch>
              <a:fillRect b="-129" l="0" r="0" t="-1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36"/>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36"/>
          <p:cNvSpPr txBox="1"/>
          <p:nvPr/>
        </p:nvSpPr>
        <p:spPr>
          <a:xfrm>
            <a:off x="3251202" y="1892494"/>
            <a:ext cx="11785597" cy="49911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i="1" lang="en-US" sz="7200">
                <a:solidFill>
                  <a:srgbClr val="131416"/>
                </a:solidFill>
                <a:latin typeface="Arial"/>
                <a:ea typeface="Arial"/>
                <a:cs typeface="Arial"/>
                <a:sym typeface="Arial"/>
              </a:rPr>
              <a:t>"Todos deberían ser respetados como individuos, pero ninguno idealizado".</a:t>
            </a:r>
            <a:endParaRPr/>
          </a:p>
        </p:txBody>
      </p:sp>
      <p:sp>
        <p:nvSpPr>
          <p:cNvPr id="676" name="Google Shape;676;p36"/>
          <p:cNvSpPr txBox="1"/>
          <p:nvPr/>
        </p:nvSpPr>
        <p:spPr>
          <a:xfrm>
            <a:off x="10780750" y="7188818"/>
            <a:ext cx="4243269" cy="714375"/>
          </a:xfrm>
          <a:prstGeom prst="rect">
            <a:avLst/>
          </a:prstGeom>
          <a:noFill/>
          <a:ln>
            <a:noFill/>
          </a:ln>
        </p:spPr>
        <p:txBody>
          <a:bodyPr anchorCtr="0" anchor="t" bIns="0" lIns="0" spcFirstLastPara="1" rIns="0" wrap="square" tIns="0">
            <a:spAutoFit/>
          </a:bodyPr>
          <a:lstStyle/>
          <a:p>
            <a:pPr indent="0" lvl="0" marL="0" marR="0" rtl="0" algn="l">
              <a:lnSpc>
                <a:spcPct val="119979"/>
              </a:lnSpc>
              <a:spcBef>
                <a:spcPts val="0"/>
              </a:spcBef>
              <a:spcAft>
                <a:spcPts val="0"/>
              </a:spcAft>
              <a:buNone/>
            </a:pPr>
            <a:r>
              <a:rPr lang="en-US" sz="4800">
                <a:solidFill>
                  <a:srgbClr val="131416"/>
                </a:solidFill>
                <a:latin typeface="Open Sans"/>
                <a:ea typeface="Open Sans"/>
                <a:cs typeface="Open Sans"/>
                <a:sym typeface="Open Sans"/>
              </a:rPr>
              <a:t>Albert Einstein.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37"/>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37"/>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37"/>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37"/>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37"/>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37"/>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37"/>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37"/>
          <p:cNvSpPr/>
          <p:nvPr/>
        </p:nvSpPr>
        <p:spPr>
          <a:xfrm>
            <a:off x="0" y="2371030"/>
            <a:ext cx="1287428" cy="5047783"/>
          </a:xfrm>
          <a:custGeom>
            <a:rect b="b" l="l" r="r" t="t"/>
            <a:pathLst>
              <a:path extrusionOk="0" h="5047783" w="1287428">
                <a:moveTo>
                  <a:pt x="0" y="0"/>
                </a:moveTo>
                <a:lnTo>
                  <a:pt x="1287428" y="0"/>
                </a:lnTo>
                <a:lnTo>
                  <a:pt x="1287428" y="5047783"/>
                </a:lnTo>
                <a:lnTo>
                  <a:pt x="0" y="5047783"/>
                </a:lnTo>
                <a:lnTo>
                  <a:pt x="0" y="0"/>
                </a:lnTo>
                <a:close/>
              </a:path>
            </a:pathLst>
          </a:custGeom>
          <a:blipFill rotWithShape="1">
            <a:blip r:embed="rId11">
              <a:alphaModFix/>
            </a:blip>
            <a:stretch>
              <a:fillRect b="0" l="-53" r="-5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37"/>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p37"/>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37"/>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37"/>
          <p:cNvSpPr/>
          <p:nvPr/>
        </p:nvSpPr>
        <p:spPr>
          <a:xfrm>
            <a:off x="17497244" y="5835910"/>
            <a:ext cx="790756" cy="3410664"/>
          </a:xfrm>
          <a:custGeom>
            <a:rect b="b" l="l" r="r" t="t"/>
            <a:pathLst>
              <a:path extrusionOk="0" h="3410664" w="790756">
                <a:moveTo>
                  <a:pt x="0" y="0"/>
                </a:moveTo>
                <a:lnTo>
                  <a:pt x="790756" y="0"/>
                </a:lnTo>
                <a:lnTo>
                  <a:pt x="790756" y="3410665"/>
                </a:lnTo>
                <a:lnTo>
                  <a:pt x="0" y="3410665"/>
                </a:lnTo>
                <a:lnTo>
                  <a:pt x="0" y="0"/>
                </a:lnTo>
                <a:close/>
              </a:path>
            </a:pathLst>
          </a:custGeom>
          <a:blipFill rotWithShape="1">
            <a:blip r:embed="rId15">
              <a:alphaModFix/>
            </a:blip>
            <a:stretch>
              <a:fillRect b="-129" l="0" r="0" t="-1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37"/>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37"/>
          <p:cNvSpPr txBox="1"/>
          <p:nvPr/>
        </p:nvSpPr>
        <p:spPr>
          <a:xfrm>
            <a:off x="6237149" y="1195540"/>
            <a:ext cx="6945899" cy="1066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7000">
                <a:solidFill>
                  <a:srgbClr val="131416"/>
                </a:solidFill>
                <a:latin typeface="Open Sans"/>
                <a:ea typeface="Open Sans"/>
                <a:cs typeface="Open Sans"/>
                <a:sym typeface="Open Sans"/>
              </a:rPr>
              <a:t>REFERENCIAS</a:t>
            </a:r>
            <a:endParaRPr/>
          </a:p>
        </p:txBody>
      </p:sp>
      <p:sp>
        <p:nvSpPr>
          <p:cNvPr id="696" name="Google Shape;696;p37"/>
          <p:cNvSpPr txBox="1"/>
          <p:nvPr/>
        </p:nvSpPr>
        <p:spPr>
          <a:xfrm>
            <a:off x="809519" y="1915119"/>
            <a:ext cx="16964131" cy="7718704"/>
          </a:xfrm>
          <a:prstGeom prst="rect">
            <a:avLst/>
          </a:prstGeom>
          <a:noFill/>
          <a:ln>
            <a:noFill/>
          </a:ln>
        </p:spPr>
        <p:txBody>
          <a:bodyPr anchorCtr="0" anchor="t" bIns="0" lIns="0" spcFirstLastPara="1" rIns="0" wrap="square" tIns="0">
            <a:spAutoFit/>
          </a:bodyPr>
          <a:lstStyle/>
          <a:p>
            <a:pPr indent="0" lvl="0" marL="0" marR="0" rtl="0" algn="l">
              <a:lnSpc>
                <a:spcPct val="245111"/>
              </a:lnSpc>
              <a:spcBef>
                <a:spcPts val="0"/>
              </a:spcBef>
              <a:spcAft>
                <a:spcPts val="0"/>
              </a:spcAft>
              <a:buNone/>
            </a:pPr>
            <a:r>
              <a:t/>
            </a:r>
            <a:endParaRPr sz="1800">
              <a:solidFill>
                <a:schemeClr val="dk1"/>
              </a:solidFill>
              <a:latin typeface="Calibri"/>
              <a:ea typeface="Calibri"/>
              <a:cs typeface="Calibri"/>
              <a:sym typeface="Calibri"/>
            </a:endParaRPr>
          </a:p>
          <a:p>
            <a:pPr indent="-345440" lvl="1" marL="690881" marR="0" rtl="0" algn="l">
              <a:lnSpc>
                <a:spcPct val="137875"/>
              </a:lnSpc>
              <a:spcBef>
                <a:spcPts val="0"/>
              </a:spcBef>
              <a:spcAft>
                <a:spcPts val="0"/>
              </a:spcAft>
              <a:buClr>
                <a:srgbClr val="000000"/>
              </a:buClr>
              <a:buSzPts val="3200"/>
              <a:buFont typeface="Open Sans"/>
              <a:buAutoNum type="arabicPeriod"/>
            </a:pPr>
            <a:r>
              <a:rPr b="1" i="0" lang="en-US" sz="3200" u="none" cap="none" strike="noStrike">
                <a:solidFill>
                  <a:srgbClr val="000000"/>
                </a:solidFill>
                <a:latin typeface="Open Sans"/>
                <a:ea typeface="Open Sans"/>
                <a:cs typeface="Open Sans"/>
                <a:sym typeface="Open Sans"/>
              </a:rPr>
              <a:t>Azul School. (s. f.). ¿Qué es .NET y para qué sirve?</a:t>
            </a:r>
            <a:r>
              <a:rPr b="0" i="0" lang="en-US" sz="3200" u="none" cap="none" strike="noStrike">
                <a:solidFill>
                  <a:srgbClr val="0000FF"/>
                </a:solidFill>
                <a:latin typeface="Open Sans"/>
                <a:ea typeface="Open Sans"/>
                <a:cs typeface="Open Sans"/>
                <a:sym typeface="Open Sans"/>
              </a:rPr>
              <a:t>. </a:t>
            </a:r>
            <a:r>
              <a:rPr b="0" i="0" lang="en-US" sz="3200" u="sng" cap="none" strike="noStrike">
                <a:solidFill>
                  <a:srgbClr val="0000FF"/>
                </a:solidFill>
                <a:latin typeface="Open Sans"/>
                <a:ea typeface="Open Sans"/>
                <a:cs typeface="Open Sans"/>
                <a:sym typeface="Open Sans"/>
                <a:hlinkClick r:id="rId17">
                  <a:extLst>
                    <a:ext uri="{A12FA001-AC4F-418D-AE19-62706E023703}">
                      <ahyp:hlinkClr val="tx"/>
                    </a:ext>
                  </a:extLst>
                </a:hlinkClick>
              </a:rPr>
              <a:t>https://azulschool.net/que-es-net-y-para-que-sirve/</a:t>
            </a:r>
            <a:endParaRPr/>
          </a:p>
          <a:p>
            <a:pPr indent="-345440" lvl="1" marL="690881" marR="0" rtl="0" algn="l">
              <a:lnSpc>
                <a:spcPct val="137875"/>
              </a:lnSpc>
              <a:spcBef>
                <a:spcPts val="0"/>
              </a:spcBef>
              <a:spcAft>
                <a:spcPts val="0"/>
              </a:spcAft>
              <a:buClr>
                <a:srgbClr val="000000"/>
              </a:buClr>
              <a:buSzPts val="3200"/>
              <a:buFont typeface="Open Sans"/>
              <a:buAutoNum type="arabicPeriod"/>
            </a:pPr>
            <a:r>
              <a:rPr b="1" i="0" lang="en-US" sz="3200" u="none" cap="none" strike="noStrike">
                <a:solidFill>
                  <a:srgbClr val="000000"/>
                </a:solidFill>
                <a:latin typeface="Open Sans"/>
                <a:ea typeface="Open Sans"/>
                <a:cs typeface="Open Sans"/>
                <a:sym typeface="Open Sans"/>
              </a:rPr>
              <a:t>Kodigo.org. (s. f.). Lenguaje C# — Qué es y para qué sirve.</a:t>
            </a:r>
            <a:r>
              <a:rPr b="0" i="0" lang="en-US" sz="3200" u="none" cap="none" strike="noStrike">
                <a:solidFill>
                  <a:srgbClr val="0000FF"/>
                </a:solidFill>
                <a:latin typeface="Open Sans"/>
                <a:ea typeface="Open Sans"/>
                <a:cs typeface="Open Sans"/>
                <a:sym typeface="Open Sans"/>
              </a:rPr>
              <a:t> </a:t>
            </a:r>
            <a:r>
              <a:rPr b="0" i="0" lang="en-US" sz="3200" u="sng" cap="none" strike="noStrike">
                <a:solidFill>
                  <a:srgbClr val="0000FF"/>
                </a:solidFill>
                <a:latin typeface="Open Sans"/>
                <a:ea typeface="Open Sans"/>
                <a:cs typeface="Open Sans"/>
                <a:sym typeface="Open Sans"/>
                <a:hlinkClick r:id="rId18">
                  <a:extLst>
                    <a:ext uri="{A12FA001-AC4F-418D-AE19-62706E023703}">
                      <ahyp:hlinkClr val="tx"/>
                    </a:ext>
                  </a:extLst>
                </a:hlinkClick>
              </a:rPr>
              <a:t>https://kodigo.org/lenguaje-c-c-sharp-que-es-y-para-que-sirve/</a:t>
            </a:r>
            <a:endParaRPr/>
          </a:p>
          <a:p>
            <a:pPr indent="-345440" lvl="1" marL="690881" marR="0" rtl="0" algn="l">
              <a:lnSpc>
                <a:spcPct val="137875"/>
              </a:lnSpc>
              <a:spcBef>
                <a:spcPts val="0"/>
              </a:spcBef>
              <a:spcAft>
                <a:spcPts val="0"/>
              </a:spcAft>
              <a:buClr>
                <a:srgbClr val="000000"/>
              </a:buClr>
              <a:buSzPts val="3200"/>
              <a:buFont typeface="Open Sans"/>
              <a:buAutoNum type="arabicPeriod"/>
            </a:pPr>
            <a:r>
              <a:rPr b="1" i="0" lang="en-US" sz="3200" u="none" cap="none" strike="noStrike">
                <a:solidFill>
                  <a:srgbClr val="000000"/>
                </a:solidFill>
                <a:latin typeface="Open Sans"/>
                <a:ea typeface="Open Sans"/>
                <a:cs typeface="Open Sans"/>
                <a:sym typeface="Open Sans"/>
              </a:rPr>
              <a:t>Llamas, L. (s. f.). C# — Sintaxis básica.</a:t>
            </a:r>
            <a:r>
              <a:rPr b="0" i="0" lang="en-US" sz="3200" u="none" cap="none" strike="noStrike">
                <a:solidFill>
                  <a:srgbClr val="0000FF"/>
                </a:solidFill>
                <a:latin typeface="Open Sans"/>
                <a:ea typeface="Open Sans"/>
                <a:cs typeface="Open Sans"/>
                <a:sym typeface="Open Sans"/>
              </a:rPr>
              <a:t> </a:t>
            </a:r>
            <a:r>
              <a:rPr b="0" i="0" lang="en-US" sz="3200" u="sng" cap="none" strike="noStrike">
                <a:solidFill>
                  <a:srgbClr val="0000FF"/>
                </a:solidFill>
                <a:latin typeface="Open Sans"/>
                <a:ea typeface="Open Sans"/>
                <a:cs typeface="Open Sans"/>
                <a:sym typeface="Open Sans"/>
                <a:hlinkClick r:id="rId19">
                  <a:extLst>
                    <a:ext uri="{A12FA001-AC4F-418D-AE19-62706E023703}">
                      <ahyp:hlinkClr val="tx"/>
                    </a:ext>
                  </a:extLst>
                </a:hlinkClick>
              </a:rPr>
              <a:t>https://www.luisllamas.es/csharp-sintaxis-basica/</a:t>
            </a:r>
            <a:endParaRPr/>
          </a:p>
          <a:p>
            <a:pPr indent="-345440" lvl="1" marL="690881" marR="0" rtl="0" algn="l">
              <a:lnSpc>
                <a:spcPct val="137875"/>
              </a:lnSpc>
              <a:spcBef>
                <a:spcPts val="0"/>
              </a:spcBef>
              <a:spcAft>
                <a:spcPts val="0"/>
              </a:spcAft>
              <a:buClr>
                <a:srgbClr val="000000"/>
              </a:buClr>
              <a:buSzPts val="3200"/>
              <a:buFont typeface="Open Sans"/>
              <a:buAutoNum type="arabicPeriod"/>
            </a:pPr>
            <a:r>
              <a:rPr b="1" i="0" lang="en-US" sz="3200" u="none" cap="none" strike="noStrike">
                <a:solidFill>
                  <a:srgbClr val="000000"/>
                </a:solidFill>
                <a:latin typeface="Open Sans"/>
                <a:ea typeface="Open Sans"/>
                <a:cs typeface="Open Sans"/>
                <a:sym typeface="Open Sans"/>
              </a:rPr>
              <a:t>Microsoft. (s. f.). C# | Lenguajes de .NET. </a:t>
            </a:r>
            <a:r>
              <a:rPr b="0" i="0" lang="en-US" sz="3200" u="sng" cap="none" strike="noStrike">
                <a:solidFill>
                  <a:srgbClr val="0000FF"/>
                </a:solidFill>
                <a:latin typeface="Open Sans"/>
                <a:ea typeface="Open Sans"/>
                <a:cs typeface="Open Sans"/>
                <a:sym typeface="Open Sans"/>
                <a:hlinkClick r:id="rId20">
                  <a:extLst>
                    <a:ext uri="{A12FA001-AC4F-418D-AE19-62706E023703}">
                      <ahyp:hlinkClr val="tx"/>
                    </a:ext>
                  </a:extLst>
                </a:hlinkClick>
              </a:rPr>
              <a:t>https://dotnet.microsoft.com/es-es/languages/csharp</a:t>
            </a:r>
            <a:endParaRPr/>
          </a:p>
          <a:p>
            <a:pPr indent="-345440" lvl="1" marL="690881" marR="0" rtl="0" algn="l">
              <a:lnSpc>
                <a:spcPct val="137875"/>
              </a:lnSpc>
              <a:spcBef>
                <a:spcPts val="0"/>
              </a:spcBef>
              <a:spcAft>
                <a:spcPts val="0"/>
              </a:spcAft>
              <a:buClr>
                <a:srgbClr val="000000"/>
              </a:buClr>
              <a:buSzPts val="3200"/>
              <a:buFont typeface="Open Sans"/>
              <a:buAutoNum type="arabicPeriod"/>
            </a:pPr>
            <a:r>
              <a:rPr b="1" i="0" lang="en-US" sz="3200" u="none" cap="none" strike="noStrike">
                <a:solidFill>
                  <a:srgbClr val="000000"/>
                </a:solidFill>
                <a:latin typeface="Open Sans"/>
                <a:ea typeface="Open Sans"/>
                <a:cs typeface="Open Sans"/>
                <a:sym typeface="Open Sans"/>
              </a:rPr>
              <a:t>Microsoft. (s. f.). C# Language Reference — Keywords.</a:t>
            </a:r>
            <a:r>
              <a:rPr b="0" i="0" lang="en-US" sz="3200" u="none" cap="none" strike="noStrike">
                <a:solidFill>
                  <a:srgbClr val="0000FF"/>
                </a:solidFill>
                <a:latin typeface="Open Sans"/>
                <a:ea typeface="Open Sans"/>
                <a:cs typeface="Open Sans"/>
                <a:sym typeface="Open Sans"/>
              </a:rPr>
              <a:t> </a:t>
            </a:r>
            <a:r>
              <a:rPr b="0" i="0" lang="en-US" sz="3200" u="sng" cap="none" strike="noStrike">
                <a:solidFill>
                  <a:srgbClr val="0000FF"/>
                </a:solidFill>
                <a:latin typeface="Open Sans"/>
                <a:ea typeface="Open Sans"/>
                <a:cs typeface="Open Sans"/>
                <a:sym typeface="Open Sans"/>
                <a:hlinkClick r:id="rId21">
                  <a:extLst>
                    <a:ext uri="{A12FA001-AC4F-418D-AE19-62706E023703}">
                      <ahyp:hlinkClr val="tx"/>
                    </a:ext>
                  </a:extLst>
                </a:hlinkClick>
              </a:rPr>
              <a:t>https://learn.microsoft.com/es-es/dotnet/csharp/language-reference/keywords/</a:t>
            </a:r>
            <a:endParaRPr/>
          </a:p>
          <a:p>
            <a:pPr indent="-345440" lvl="1" marL="690881" marR="0" rtl="0" algn="l">
              <a:lnSpc>
                <a:spcPct val="137875"/>
              </a:lnSpc>
              <a:spcBef>
                <a:spcPts val="0"/>
              </a:spcBef>
              <a:spcAft>
                <a:spcPts val="0"/>
              </a:spcAft>
              <a:buClr>
                <a:srgbClr val="000000"/>
              </a:buClr>
              <a:buSzPts val="3200"/>
              <a:buFont typeface="Open Sans"/>
              <a:buAutoNum type="arabicPeriod"/>
            </a:pPr>
            <a:r>
              <a:rPr b="1" i="0" lang="en-US" sz="3200" u="none" cap="none" strike="noStrike">
                <a:solidFill>
                  <a:srgbClr val="000000"/>
                </a:solidFill>
                <a:latin typeface="Open Sans"/>
                <a:ea typeface="Open Sans"/>
                <a:cs typeface="Open Sans"/>
                <a:sym typeface="Open Sans"/>
              </a:rPr>
              <a:t>Walther Curo. (s. f.). Tipos de datos en C#.</a:t>
            </a:r>
            <a:r>
              <a:rPr b="0" i="0" lang="en-US" sz="3200" u="none" cap="none" strike="noStrike">
                <a:solidFill>
                  <a:srgbClr val="0000FF"/>
                </a:solidFill>
                <a:latin typeface="Open Sans"/>
                <a:ea typeface="Open Sans"/>
                <a:cs typeface="Open Sans"/>
                <a:sym typeface="Open Sans"/>
              </a:rPr>
              <a:t> </a:t>
            </a:r>
            <a:r>
              <a:rPr b="0" i="0" lang="en-US" sz="3200" u="sng" cap="none" strike="noStrike">
                <a:solidFill>
                  <a:srgbClr val="0000FF"/>
                </a:solidFill>
                <a:latin typeface="Open Sans"/>
                <a:ea typeface="Open Sans"/>
                <a:cs typeface="Open Sans"/>
                <a:sym typeface="Open Sans"/>
                <a:hlinkClick r:id="rId22">
                  <a:extLst>
                    <a:ext uri="{A12FA001-AC4F-418D-AE19-62706E023703}">
                      <ahyp:hlinkClr val="tx"/>
                    </a:ext>
                  </a:extLst>
                </a:hlinkClick>
              </a:rPr>
              <a:t>https://blog.walthercuro.com/tipos-de-datos-en-c/</a:t>
            </a:r>
            <a:endParaRPr/>
          </a:p>
          <a:p>
            <a:pPr indent="0" lvl="0" marL="0" marR="0" rtl="0" algn="l">
              <a:lnSpc>
                <a:spcPct val="137875"/>
              </a:lnSpc>
              <a:spcBef>
                <a:spcPts val="0"/>
              </a:spcBef>
              <a:spcAft>
                <a:spcPts val="0"/>
              </a:spcAft>
              <a:buNone/>
            </a:pPr>
            <a:r>
              <a:t/>
            </a:r>
            <a:endParaRPr sz="3200" u="sng">
              <a:solidFill>
                <a:srgbClr val="0000FF"/>
              </a:solidFill>
              <a:latin typeface="Open Sans"/>
              <a:ea typeface="Open Sans"/>
              <a:cs typeface="Open Sans"/>
              <a:sym typeface="Open Sans"/>
              <a:hlinkClick r:id="rId23">
                <a:extLst>
                  <a:ext uri="{A12FA001-AC4F-418D-AE19-62706E023703}">
                    <ahyp:hlinkClr val="tx"/>
                  </a:ext>
                </a:extLst>
              </a:hlinkClick>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3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3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38"/>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38"/>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38"/>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38"/>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38"/>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38"/>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38"/>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8"/>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38"/>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38"/>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38"/>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38"/>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38"/>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38"/>
          <p:cNvSpPr txBox="1"/>
          <p:nvPr/>
        </p:nvSpPr>
        <p:spPr>
          <a:xfrm>
            <a:off x="1285275" y="1995964"/>
            <a:ext cx="3376612"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000">
                <a:solidFill>
                  <a:srgbClr val="131416"/>
                </a:solidFill>
                <a:latin typeface="Open Sans"/>
                <a:ea typeface="Open Sans"/>
                <a:cs typeface="Open Sans"/>
                <a:sym typeface="Open Sans"/>
              </a:rPr>
              <a:t>¿DUDAS?</a:t>
            </a:r>
            <a:endParaRPr/>
          </a:p>
        </p:txBody>
      </p:sp>
      <p:grpSp>
        <p:nvGrpSpPr>
          <p:cNvPr id="717" name="Google Shape;717;p38"/>
          <p:cNvGrpSpPr/>
          <p:nvPr/>
        </p:nvGrpSpPr>
        <p:grpSpPr>
          <a:xfrm>
            <a:off x="1227846" y="3489494"/>
            <a:ext cx="11674538" cy="4687984"/>
            <a:chOff x="0" y="-219075"/>
            <a:chExt cx="15566051" cy="6250646"/>
          </a:xfrm>
        </p:grpSpPr>
        <p:sp>
          <p:nvSpPr>
            <p:cNvPr id="718" name="Google Shape;718;p38"/>
            <p:cNvSpPr/>
            <p:nvPr/>
          </p:nvSpPr>
          <p:spPr>
            <a:xfrm>
              <a:off x="0" y="0"/>
              <a:ext cx="15566051" cy="6031571"/>
            </a:xfrm>
            <a:custGeom>
              <a:rect b="b" l="l" r="r" t="t"/>
              <a:pathLst>
                <a:path extrusionOk="0" h="6031571" w="15566051">
                  <a:moveTo>
                    <a:pt x="0" y="0"/>
                  </a:moveTo>
                  <a:lnTo>
                    <a:pt x="15566051" y="0"/>
                  </a:lnTo>
                  <a:lnTo>
                    <a:pt x="15566051" y="6031571"/>
                  </a:lnTo>
                  <a:lnTo>
                    <a:pt x="0" y="6031571"/>
                  </a:lnTo>
                  <a:close/>
                </a:path>
              </a:pathLst>
            </a:cu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38"/>
            <p:cNvSpPr txBox="1"/>
            <p:nvPr/>
          </p:nvSpPr>
          <p:spPr>
            <a:xfrm>
              <a:off x="0" y="-219075"/>
              <a:ext cx="15566051" cy="6250646"/>
            </a:xfrm>
            <a:prstGeom prst="rect">
              <a:avLst/>
            </a:prstGeom>
            <a:noFill/>
            <a:ln>
              <a:noFill/>
            </a:ln>
          </p:spPr>
          <p:txBody>
            <a:bodyPr anchorCtr="0" anchor="ctr" bIns="0" lIns="0" spcFirstLastPara="1" rIns="0" wrap="square" tIns="0">
              <a:noAutofit/>
            </a:bodyPr>
            <a:lstStyle/>
            <a:p>
              <a:pPr indent="0" lvl="0" marL="0" marR="0" rtl="0" algn="l">
                <a:lnSpc>
                  <a:spcPct val="177619"/>
                </a:lnSpc>
                <a:spcBef>
                  <a:spcPts val="0"/>
                </a:spcBef>
                <a:spcAft>
                  <a:spcPts val="0"/>
                </a:spcAft>
                <a:buNone/>
              </a:pPr>
              <a:r>
                <a:rPr b="1" lang="en-US" sz="3999">
                  <a:solidFill>
                    <a:srgbClr val="000000"/>
                  </a:solidFill>
                  <a:latin typeface="Nunito"/>
                  <a:ea typeface="Nunito"/>
                  <a:cs typeface="Nunito"/>
                  <a:sym typeface="Nunito"/>
                </a:rPr>
                <a:t>MEDIO OFICIAL PARA LA RESOLUCIÓN DE DUDAS SERÁ UEDI POR FOROS.</a:t>
              </a:r>
              <a:endParaRPr/>
            </a:p>
            <a:p>
              <a:pPr indent="0" lvl="0" marL="0" marR="0" rtl="0" algn="l">
                <a:lnSpc>
                  <a:spcPct val="177619"/>
                </a:lnSpc>
                <a:spcBef>
                  <a:spcPts val="0"/>
                </a:spcBef>
                <a:spcAft>
                  <a:spcPts val="0"/>
                </a:spcAft>
                <a:buNone/>
              </a:pPr>
              <a:r>
                <a:t/>
              </a:r>
              <a:endParaRPr b="1" sz="3999">
                <a:solidFill>
                  <a:srgbClr val="000000"/>
                </a:solidFill>
                <a:latin typeface="Nunito"/>
                <a:ea typeface="Nunito"/>
                <a:cs typeface="Nunito"/>
                <a:sym typeface="Nunito"/>
              </a:endParaRPr>
            </a:p>
            <a:p>
              <a:pPr indent="0" lvl="0" marL="0" marR="0" rtl="0" algn="l">
                <a:lnSpc>
                  <a:spcPct val="177619"/>
                </a:lnSpc>
                <a:spcBef>
                  <a:spcPts val="0"/>
                </a:spcBef>
                <a:spcAft>
                  <a:spcPts val="0"/>
                </a:spcAft>
                <a:buNone/>
              </a:pPr>
              <a:r>
                <a:rPr lang="en-US" sz="3999">
                  <a:solidFill>
                    <a:srgbClr val="000000"/>
                  </a:solidFill>
                  <a:latin typeface="Nunito"/>
                  <a:ea typeface="Nunito"/>
                  <a:cs typeface="Nunito"/>
                  <a:sym typeface="Nunito"/>
                </a:rPr>
                <a:t>CORREO: 3020186890101@ingenieria.usac.edu.gt</a:t>
              </a:r>
              <a:endParaRPr/>
            </a:p>
            <a:p>
              <a:pPr indent="0" lvl="0" marL="0" marR="0" rtl="0" algn="l">
                <a:lnSpc>
                  <a:spcPct val="177644"/>
                </a:lnSpc>
                <a:spcBef>
                  <a:spcPts val="0"/>
                </a:spcBef>
                <a:spcAft>
                  <a:spcPts val="0"/>
                </a:spcAft>
                <a:buNone/>
              </a:pPr>
              <a:r>
                <a:rPr lang="en-US" sz="3999">
                  <a:solidFill>
                    <a:srgbClr val="000000"/>
                  </a:solidFill>
                  <a:latin typeface="Nunito"/>
                  <a:ea typeface="Nunito"/>
                  <a:cs typeface="Nunito"/>
                  <a:sym typeface="Nunito"/>
                </a:rPr>
                <a:t>Asunto: [IPC2-P]DUDA</a:t>
              </a:r>
              <a:endParaRPr/>
            </a:p>
          </p:txBody>
        </p:sp>
      </p:grpSp>
      <p:sp>
        <p:nvSpPr>
          <p:cNvPr id="720" name="Google Shape;720;p38"/>
          <p:cNvSpPr/>
          <p:nvPr/>
        </p:nvSpPr>
        <p:spPr>
          <a:xfrm>
            <a:off x="12637763" y="4074021"/>
            <a:ext cx="4687011" cy="4687011"/>
          </a:xfrm>
          <a:custGeom>
            <a:rect b="b" l="l" r="r" t="t"/>
            <a:pathLst>
              <a:path extrusionOk="0" h="4687011" w="4687011">
                <a:moveTo>
                  <a:pt x="0" y="0"/>
                </a:moveTo>
                <a:lnTo>
                  <a:pt x="4687012" y="0"/>
                </a:lnTo>
                <a:lnTo>
                  <a:pt x="4687012" y="4687011"/>
                </a:lnTo>
                <a:lnTo>
                  <a:pt x="0" y="4687011"/>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3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3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57" l="0" r="0" t="-35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39"/>
          <p:cNvSpPr/>
          <p:nvPr/>
        </p:nvSpPr>
        <p:spPr>
          <a:xfrm>
            <a:off x="0" y="8614896"/>
            <a:ext cx="2570550" cy="1672104"/>
          </a:xfrm>
          <a:custGeom>
            <a:rect b="b" l="l" r="r" t="t"/>
            <a:pathLst>
              <a:path extrusionOk="0" h="1672104" w="2570550">
                <a:moveTo>
                  <a:pt x="0" y="0"/>
                </a:moveTo>
                <a:lnTo>
                  <a:pt x="2570550" y="0"/>
                </a:lnTo>
                <a:lnTo>
                  <a:pt x="2570550" y="1672104"/>
                </a:lnTo>
                <a:lnTo>
                  <a:pt x="0" y="1672104"/>
                </a:lnTo>
                <a:lnTo>
                  <a:pt x="0" y="0"/>
                </a:lnTo>
                <a:close/>
              </a:path>
            </a:pathLst>
          </a:custGeom>
          <a:blipFill rotWithShape="1">
            <a:blip r:embed="rId4">
              <a:alphaModFix/>
            </a:blip>
            <a:stretch>
              <a:fillRect b="0" l="-511" r="-51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39"/>
          <p:cNvSpPr/>
          <p:nvPr/>
        </p:nvSpPr>
        <p:spPr>
          <a:xfrm>
            <a:off x="6030706" y="9258300"/>
            <a:ext cx="3059830" cy="751046"/>
          </a:xfrm>
          <a:custGeom>
            <a:rect b="b" l="l" r="r" t="t"/>
            <a:pathLst>
              <a:path extrusionOk="0" h="751046" w="3059830">
                <a:moveTo>
                  <a:pt x="0" y="0"/>
                </a:moveTo>
                <a:lnTo>
                  <a:pt x="3059830" y="0"/>
                </a:lnTo>
                <a:lnTo>
                  <a:pt x="3059830" y="751046"/>
                </a:lnTo>
                <a:lnTo>
                  <a:pt x="0" y="751046"/>
                </a:lnTo>
                <a:lnTo>
                  <a:pt x="0" y="0"/>
                </a:lnTo>
                <a:close/>
              </a:path>
            </a:pathLst>
          </a:custGeom>
          <a:blipFill rotWithShape="1">
            <a:blip r:embed="rId5">
              <a:alphaModFix/>
            </a:blip>
            <a:stretch>
              <a:fillRect b="-275" l="0" r="0" t="-2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39"/>
          <p:cNvSpPr/>
          <p:nvPr/>
        </p:nvSpPr>
        <p:spPr>
          <a:xfrm>
            <a:off x="14215205" y="8540134"/>
            <a:ext cx="4072795" cy="1746866"/>
          </a:xfrm>
          <a:custGeom>
            <a:rect b="b" l="l" r="r" t="t"/>
            <a:pathLst>
              <a:path extrusionOk="0" h="1746866" w="4072795">
                <a:moveTo>
                  <a:pt x="0" y="0"/>
                </a:moveTo>
                <a:lnTo>
                  <a:pt x="4072795" y="0"/>
                </a:lnTo>
                <a:lnTo>
                  <a:pt x="4072795" y="1746866"/>
                </a:lnTo>
                <a:lnTo>
                  <a:pt x="0" y="1746866"/>
                </a:lnTo>
                <a:lnTo>
                  <a:pt x="0" y="0"/>
                </a:lnTo>
                <a:close/>
              </a:path>
            </a:pathLst>
          </a:custGeom>
          <a:blipFill rotWithShape="1">
            <a:blip r:embed="rId6">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39"/>
          <p:cNvSpPr/>
          <p:nvPr/>
        </p:nvSpPr>
        <p:spPr>
          <a:xfrm>
            <a:off x="0" y="0"/>
            <a:ext cx="4225785" cy="1995964"/>
          </a:xfrm>
          <a:custGeom>
            <a:rect b="b" l="l" r="r" t="t"/>
            <a:pathLst>
              <a:path extrusionOk="0" h="1995964" w="4225785">
                <a:moveTo>
                  <a:pt x="0" y="0"/>
                </a:moveTo>
                <a:lnTo>
                  <a:pt x="4225785" y="0"/>
                </a:lnTo>
                <a:lnTo>
                  <a:pt x="4225785" y="1995964"/>
                </a:lnTo>
                <a:lnTo>
                  <a:pt x="0" y="1995964"/>
                </a:lnTo>
                <a:lnTo>
                  <a:pt x="0" y="0"/>
                </a:lnTo>
                <a:close/>
              </a:path>
            </a:pathLst>
          </a:custGeom>
          <a:blipFill rotWithShape="1">
            <a:blip r:embed="rId7">
              <a:alphaModFix/>
            </a:blip>
            <a:stretch>
              <a:fillRect b="-210" l="0" r="0" t="-21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39"/>
          <p:cNvSpPr/>
          <p:nvPr/>
        </p:nvSpPr>
        <p:spPr>
          <a:xfrm>
            <a:off x="12686214" y="0"/>
            <a:ext cx="4292422" cy="1292790"/>
          </a:xfrm>
          <a:custGeom>
            <a:rect b="b" l="l" r="r" t="t"/>
            <a:pathLst>
              <a:path extrusionOk="0" h="1292790" w="4292422">
                <a:moveTo>
                  <a:pt x="0" y="0"/>
                </a:moveTo>
                <a:lnTo>
                  <a:pt x="4292422" y="0"/>
                </a:lnTo>
                <a:lnTo>
                  <a:pt x="4292422" y="1292790"/>
                </a:lnTo>
                <a:lnTo>
                  <a:pt x="0" y="1292790"/>
                </a:lnTo>
                <a:lnTo>
                  <a:pt x="0" y="0"/>
                </a:lnTo>
                <a:close/>
              </a:path>
            </a:pathLst>
          </a:custGeom>
          <a:blipFill rotWithShape="1">
            <a:blip r:embed="rId8">
              <a:alphaModFix/>
            </a:blip>
            <a:stretch>
              <a:fillRect b="-820" l="0" r="0" t="-8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39"/>
          <p:cNvSpPr/>
          <p:nvPr/>
        </p:nvSpPr>
        <p:spPr>
          <a:xfrm>
            <a:off x="10138934" y="9258300"/>
            <a:ext cx="4076271" cy="1028700"/>
          </a:xfrm>
          <a:custGeom>
            <a:rect b="b" l="l" r="r" t="t"/>
            <a:pathLst>
              <a:path extrusionOk="0" h="1028700" w="4076271">
                <a:moveTo>
                  <a:pt x="0" y="0"/>
                </a:moveTo>
                <a:lnTo>
                  <a:pt x="4076271" y="0"/>
                </a:lnTo>
                <a:lnTo>
                  <a:pt x="4076271" y="1028700"/>
                </a:lnTo>
                <a:lnTo>
                  <a:pt x="0" y="1028700"/>
                </a:lnTo>
                <a:lnTo>
                  <a:pt x="0" y="0"/>
                </a:lnTo>
                <a:close/>
              </a:path>
            </a:pathLst>
          </a:custGeom>
          <a:blipFill rotWithShape="1">
            <a:blip r:embed="rId9">
              <a:alphaModFix/>
            </a:blip>
            <a:stretch>
              <a:fillRect b="-159" l="0" r="0" t="-1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39"/>
          <p:cNvSpPr/>
          <p:nvPr/>
        </p:nvSpPr>
        <p:spPr>
          <a:xfrm>
            <a:off x="7409326" y="0"/>
            <a:ext cx="5493058" cy="1414701"/>
          </a:xfrm>
          <a:custGeom>
            <a:rect b="b" l="l" r="r" t="t"/>
            <a:pathLst>
              <a:path extrusionOk="0" h="1414701" w="5493058">
                <a:moveTo>
                  <a:pt x="0" y="0"/>
                </a:moveTo>
                <a:lnTo>
                  <a:pt x="5493058" y="0"/>
                </a:lnTo>
                <a:lnTo>
                  <a:pt x="5493058" y="1414701"/>
                </a:lnTo>
                <a:lnTo>
                  <a:pt x="0" y="1414701"/>
                </a:lnTo>
                <a:lnTo>
                  <a:pt x="0" y="0"/>
                </a:lnTo>
                <a:close/>
              </a:path>
            </a:pathLst>
          </a:custGeom>
          <a:blipFill rotWithShape="1">
            <a:blip r:embed="rId10">
              <a:alphaModFix/>
            </a:blip>
            <a:stretch>
              <a:fillRect b="-426" l="0" r="0" t="-4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39"/>
          <p:cNvSpPr/>
          <p:nvPr/>
        </p:nvSpPr>
        <p:spPr>
          <a:xfrm>
            <a:off x="0" y="2371030"/>
            <a:ext cx="1280808" cy="5054222"/>
          </a:xfrm>
          <a:custGeom>
            <a:rect b="b" l="l" r="r" t="t"/>
            <a:pathLst>
              <a:path extrusionOk="0" h="5054222" w="1280808">
                <a:moveTo>
                  <a:pt x="0" y="0"/>
                </a:moveTo>
                <a:lnTo>
                  <a:pt x="1280808" y="0"/>
                </a:lnTo>
                <a:lnTo>
                  <a:pt x="1280808" y="5054222"/>
                </a:lnTo>
                <a:lnTo>
                  <a:pt x="0" y="5054222"/>
                </a:lnTo>
                <a:lnTo>
                  <a:pt x="0" y="0"/>
                </a:lnTo>
                <a:close/>
              </a:path>
            </a:pathLst>
          </a:custGeom>
          <a:blipFill rotWithShape="1">
            <a:blip r:embed="rId11">
              <a:alphaModFix/>
            </a:blip>
            <a:stretch>
              <a:fillRect b="0" l="-26" r="-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39"/>
          <p:cNvSpPr/>
          <p:nvPr/>
        </p:nvSpPr>
        <p:spPr>
          <a:xfrm>
            <a:off x="4831480" y="0"/>
            <a:ext cx="2892762" cy="1292790"/>
          </a:xfrm>
          <a:custGeom>
            <a:rect b="b" l="l" r="r" t="t"/>
            <a:pathLst>
              <a:path extrusionOk="0" h="1292790" w="2892762">
                <a:moveTo>
                  <a:pt x="0" y="0"/>
                </a:moveTo>
                <a:lnTo>
                  <a:pt x="2892762" y="0"/>
                </a:lnTo>
                <a:lnTo>
                  <a:pt x="2892762" y="1292790"/>
                </a:lnTo>
                <a:lnTo>
                  <a:pt x="0" y="1292790"/>
                </a:lnTo>
                <a:lnTo>
                  <a:pt x="0" y="0"/>
                </a:lnTo>
                <a:close/>
              </a:path>
            </a:pathLst>
          </a:custGeom>
          <a:blipFill rotWithShape="1">
            <a:blip r:embed="rId12">
              <a:alphaModFix/>
            </a:blip>
            <a:stretch>
              <a:fillRect b="-200" l="0" r="0" t="-1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39"/>
          <p:cNvSpPr/>
          <p:nvPr/>
        </p:nvSpPr>
        <p:spPr>
          <a:xfrm>
            <a:off x="17259300" y="2262340"/>
            <a:ext cx="1028700" cy="3575542"/>
          </a:xfrm>
          <a:custGeom>
            <a:rect b="b" l="l" r="r" t="t"/>
            <a:pathLst>
              <a:path extrusionOk="0" h="3575542" w="1028700">
                <a:moveTo>
                  <a:pt x="0" y="0"/>
                </a:moveTo>
                <a:lnTo>
                  <a:pt x="1028700" y="0"/>
                </a:lnTo>
                <a:lnTo>
                  <a:pt x="1028700" y="3575542"/>
                </a:lnTo>
                <a:lnTo>
                  <a:pt x="0" y="3575542"/>
                </a:lnTo>
                <a:lnTo>
                  <a:pt x="0" y="0"/>
                </a:lnTo>
                <a:close/>
              </a:path>
            </a:pathLst>
          </a:custGeom>
          <a:blipFill rotWithShape="1">
            <a:blip r:embed="rId13">
              <a:alphaModFix/>
            </a:blip>
            <a:stretch>
              <a:fillRect b="0" l="-51" r="-5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39"/>
          <p:cNvSpPr/>
          <p:nvPr/>
        </p:nvSpPr>
        <p:spPr>
          <a:xfrm>
            <a:off x="2570550" y="9093737"/>
            <a:ext cx="2587019" cy="1193263"/>
          </a:xfrm>
          <a:custGeom>
            <a:rect b="b" l="l" r="r" t="t"/>
            <a:pathLst>
              <a:path extrusionOk="0" h="1193263" w="2587019">
                <a:moveTo>
                  <a:pt x="0" y="0"/>
                </a:moveTo>
                <a:lnTo>
                  <a:pt x="2587018" y="0"/>
                </a:lnTo>
                <a:lnTo>
                  <a:pt x="2587018" y="1193263"/>
                </a:lnTo>
                <a:lnTo>
                  <a:pt x="0" y="1193263"/>
                </a:lnTo>
                <a:lnTo>
                  <a:pt x="0" y="0"/>
                </a:lnTo>
                <a:close/>
              </a:path>
            </a:pathLst>
          </a:custGeom>
          <a:blipFill rotWithShape="1">
            <a:blip r:embed="rId14">
              <a:alphaModFix/>
            </a:blip>
            <a:stretch>
              <a:fillRect b="-31" l="0" r="0" t="-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39"/>
          <p:cNvSpPr/>
          <p:nvPr/>
        </p:nvSpPr>
        <p:spPr>
          <a:xfrm>
            <a:off x="17497244" y="5837882"/>
            <a:ext cx="790746" cy="3408016"/>
          </a:xfrm>
          <a:custGeom>
            <a:rect b="b" l="l" r="r" t="t"/>
            <a:pathLst>
              <a:path extrusionOk="0" h="3408016" w="790746">
                <a:moveTo>
                  <a:pt x="0" y="0"/>
                </a:moveTo>
                <a:lnTo>
                  <a:pt x="790746" y="0"/>
                </a:lnTo>
                <a:lnTo>
                  <a:pt x="790746" y="3408016"/>
                </a:lnTo>
                <a:lnTo>
                  <a:pt x="0" y="3408016"/>
                </a:lnTo>
                <a:lnTo>
                  <a:pt x="0" y="0"/>
                </a:lnTo>
                <a:close/>
              </a:path>
            </a:pathLst>
          </a:custGeom>
          <a:blipFill rotWithShape="1">
            <a:blip r:embed="rId15">
              <a:alphaModFix/>
            </a:blip>
            <a:stretch>
              <a:fillRect b="-83" l="0" r="0" t="-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39"/>
          <p:cNvSpPr/>
          <p:nvPr/>
        </p:nvSpPr>
        <p:spPr>
          <a:xfrm>
            <a:off x="16978636" y="0"/>
            <a:ext cx="1309364" cy="2700042"/>
          </a:xfrm>
          <a:custGeom>
            <a:rect b="b" l="l" r="r" t="t"/>
            <a:pathLst>
              <a:path extrusionOk="0" h="2700042" w="1309364">
                <a:moveTo>
                  <a:pt x="0" y="0"/>
                </a:moveTo>
                <a:lnTo>
                  <a:pt x="1309364" y="0"/>
                </a:lnTo>
                <a:lnTo>
                  <a:pt x="1309364" y="2700042"/>
                </a:lnTo>
                <a:lnTo>
                  <a:pt x="0" y="2700042"/>
                </a:lnTo>
                <a:lnTo>
                  <a:pt x="0" y="0"/>
                </a:lnTo>
                <a:close/>
              </a:path>
            </a:pathLst>
          </a:custGeom>
          <a:blipFill rotWithShape="1">
            <a:blip r:embed="rId16">
              <a:alphaModFix/>
            </a:blip>
            <a:stretch>
              <a:fillRect b="-3040" l="0" r="0" t="-30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39"/>
          <p:cNvSpPr txBox="1"/>
          <p:nvPr/>
        </p:nvSpPr>
        <p:spPr>
          <a:xfrm>
            <a:off x="3260999" y="2367925"/>
            <a:ext cx="10854453"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000">
                <a:solidFill>
                  <a:srgbClr val="131416"/>
                </a:solidFill>
                <a:latin typeface="Open Sans"/>
                <a:ea typeface="Open Sans"/>
                <a:cs typeface="Open Sans"/>
                <a:sym typeface="Open Sans"/>
              </a:rPr>
              <a:t>¡GRACIAS POR SU ATENCIÓN!</a:t>
            </a:r>
            <a:endParaRPr/>
          </a:p>
        </p:txBody>
      </p:sp>
      <p:sp>
        <p:nvSpPr>
          <p:cNvPr id="741" name="Google Shape;741;p39"/>
          <p:cNvSpPr/>
          <p:nvPr/>
        </p:nvSpPr>
        <p:spPr>
          <a:xfrm>
            <a:off x="7309591" y="3654285"/>
            <a:ext cx="2757268" cy="3770967"/>
          </a:xfrm>
          <a:custGeom>
            <a:rect b="b" l="l" r="r" t="t"/>
            <a:pathLst>
              <a:path extrusionOk="0" h="3770967" w="2757268">
                <a:moveTo>
                  <a:pt x="0" y="0"/>
                </a:moveTo>
                <a:lnTo>
                  <a:pt x="2757268" y="0"/>
                </a:lnTo>
                <a:lnTo>
                  <a:pt x="2757268" y="3770967"/>
                </a:lnTo>
                <a:lnTo>
                  <a:pt x="0" y="3770967"/>
                </a:lnTo>
                <a:lnTo>
                  <a:pt x="0" y="0"/>
                </a:lnTo>
                <a:close/>
              </a:path>
            </a:pathLst>
          </a:custGeom>
          <a:blipFill rotWithShape="1">
            <a:blip r:embed="rId17">
              <a:alphaModFix/>
            </a:blip>
            <a:stretch>
              <a:fillRect b="0" l="-6" r="-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39"/>
          <p:cNvSpPr txBox="1"/>
          <p:nvPr/>
        </p:nvSpPr>
        <p:spPr>
          <a:xfrm>
            <a:off x="2421893" y="7676788"/>
            <a:ext cx="13444214" cy="863346"/>
          </a:xfrm>
          <a:prstGeom prst="rect">
            <a:avLst/>
          </a:prstGeom>
          <a:noFill/>
          <a:ln>
            <a:noFill/>
          </a:ln>
        </p:spPr>
        <p:txBody>
          <a:bodyPr anchorCtr="0" anchor="t" bIns="0" lIns="0" spcFirstLastPara="1" rIns="0" wrap="square" tIns="0">
            <a:spAutoFit/>
          </a:bodyPr>
          <a:lstStyle/>
          <a:p>
            <a:pPr indent="0" lvl="0" marL="0" marR="0" rtl="0" algn="just">
              <a:lnSpc>
                <a:spcPct val="177600"/>
              </a:lnSpc>
              <a:spcBef>
                <a:spcPts val="0"/>
              </a:spcBef>
              <a:spcAft>
                <a:spcPts val="0"/>
              </a:spcAft>
              <a:buNone/>
            </a:pPr>
            <a:r>
              <a:rPr lang="en-US" sz="2000">
                <a:solidFill>
                  <a:srgbClr val="131416"/>
                </a:solidFill>
                <a:latin typeface="Open Sans"/>
                <a:ea typeface="Open Sans"/>
                <a:cs typeface="Open Sans"/>
                <a:sym typeface="Open Sans"/>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Luis Castillo</dc:creator>
</cp:coreProperties>
</file>