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 Bold" charset="1" panose="020B0806030504020204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docs.google.com/forms/d/e/1FAIpQLSeFwSvOmfmBwhfEYfe1vmE-4ngSXCv5ikBpKlnuD4TDInVhNQ/viewform?usp=sharing&amp;ouid=114219899901352024781" TargetMode="External" Type="http://schemas.openxmlformats.org/officeDocument/2006/relationships/hyperlink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909219" y="1654775"/>
          <a:ext cx="3771900" cy="1257300"/>
        </p:xfrm>
        <a:graphic>
          <a:graphicData uri="http://schemas.openxmlformats.org/presentationml/2006/ole">
            <p:oleObj imgW="4521200" imgH="2006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2349244" y="6729634"/>
            <a:ext cx="13627408" cy="3086100"/>
            <a:chOff x="0" y="0"/>
            <a:chExt cx="358911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9112" cy="812800"/>
            </a:xfrm>
            <a:custGeom>
              <a:avLst/>
              <a:gdLst/>
              <a:ahLst/>
              <a:cxnLst/>
              <a:rect r="r" b="b" t="t" l="l"/>
              <a:pathLst>
                <a:path h="812800" w="3589112">
                  <a:moveTo>
                    <a:pt x="0" y="0"/>
                  </a:moveTo>
                  <a:lnTo>
                    <a:pt x="3589112" y="0"/>
                  </a:lnTo>
                  <a:lnTo>
                    <a:pt x="358911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040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8911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795169" y="7162703"/>
            <a:ext cx="12847141" cy="21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La Programación Y Computación 2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Sección B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Isai Eliezer Molina Guevara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239" y="0"/>
            <a:ext cx="18146761" cy="10207553"/>
          </a:xfrm>
          <a:custGeom>
            <a:avLst/>
            <a:gdLst/>
            <a:ahLst/>
            <a:cxnLst/>
            <a:rect r="r" b="b" t="t" l="l"/>
            <a:pathLst>
              <a:path h="10207553" w="18146761">
                <a:moveTo>
                  <a:pt x="0" y="0"/>
                </a:moveTo>
                <a:lnTo>
                  <a:pt x="18146761" y="0"/>
                </a:lnTo>
                <a:lnTo>
                  <a:pt x="18146761" y="10207553"/>
                </a:lnTo>
                <a:lnTo>
                  <a:pt x="0" y="10207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301259" cy="1200759"/>
          </a:xfrm>
          <a:custGeom>
            <a:avLst/>
            <a:gdLst/>
            <a:ahLst/>
            <a:cxnLst/>
            <a:rect r="r" b="b" t="t" l="l"/>
            <a:pathLst>
              <a:path h="1200759" w="11301259">
                <a:moveTo>
                  <a:pt x="0" y="0"/>
                </a:moveTo>
                <a:lnTo>
                  <a:pt x="11301259" y="0"/>
                </a:lnTo>
                <a:lnTo>
                  <a:pt x="11301259" y="1200759"/>
                </a:lnTo>
                <a:lnTo>
                  <a:pt x="0" y="1200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41813" y="1465784"/>
            <a:ext cx="8401050" cy="169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 1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y Diagnostico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1130" y="4192270"/>
            <a:ext cx="12847141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La Programación Y Computación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10101" y="7114539"/>
            <a:ext cx="11449199" cy="21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Ingeniería de Ciencias Y Sistemas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Ingeniería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301259" cy="1200759"/>
          </a:xfrm>
          <a:custGeom>
            <a:avLst/>
            <a:gdLst/>
            <a:ahLst/>
            <a:cxnLst/>
            <a:rect r="r" b="b" t="t" l="l"/>
            <a:pathLst>
              <a:path h="1200759" w="11301259">
                <a:moveTo>
                  <a:pt x="0" y="0"/>
                </a:moveTo>
                <a:lnTo>
                  <a:pt x="11301259" y="0"/>
                </a:lnTo>
                <a:lnTo>
                  <a:pt x="11301259" y="1200759"/>
                </a:lnTo>
                <a:lnTo>
                  <a:pt x="0" y="1200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396951"/>
            <a:ext cx="5412154" cy="5412154"/>
          </a:xfrm>
          <a:custGeom>
            <a:avLst/>
            <a:gdLst/>
            <a:ahLst/>
            <a:cxnLst/>
            <a:rect r="r" b="b" t="t" l="l"/>
            <a:pathLst>
              <a:path h="5412154" w="5412154">
                <a:moveTo>
                  <a:pt x="0" y="0"/>
                </a:moveTo>
                <a:lnTo>
                  <a:pt x="5412154" y="0"/>
                </a:lnTo>
                <a:lnTo>
                  <a:pt x="5412154" y="5412154"/>
                </a:lnTo>
                <a:lnTo>
                  <a:pt x="0" y="5412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89295" y="2158749"/>
            <a:ext cx="1947118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27922" y="3034444"/>
            <a:ext cx="11345859" cy="529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696" indent="-464348" lvl="1">
              <a:lnSpc>
                <a:spcPts val="6022"/>
              </a:lnSpc>
              <a:buAutoNum type="arabicPeriod" startAt="1"/>
            </a:pPr>
            <a:r>
              <a:rPr lang="en-US" b="true" sz="4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Personal</a:t>
            </a:r>
          </a:p>
          <a:p>
            <a:pPr algn="l" marL="928696" indent="-464348" lvl="1">
              <a:lnSpc>
                <a:spcPts val="6022"/>
              </a:lnSpc>
              <a:buAutoNum type="arabicPeriod" startAt="1"/>
            </a:pPr>
            <a:r>
              <a:rPr lang="en-US" b="true" sz="4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De Estudiantes </a:t>
            </a:r>
          </a:p>
          <a:p>
            <a:pPr algn="l" marL="928696" indent="-464348" lvl="1">
              <a:lnSpc>
                <a:spcPts val="6022"/>
              </a:lnSpc>
              <a:buAutoNum type="arabicPeriod" startAt="1"/>
            </a:pPr>
            <a:r>
              <a:rPr lang="en-US" b="true" sz="4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Diagnóstico De Conocimientos Previos</a:t>
            </a:r>
          </a:p>
          <a:p>
            <a:pPr algn="l" marL="928696" indent="-464348" lvl="1">
              <a:lnSpc>
                <a:spcPts val="6022"/>
              </a:lnSpc>
              <a:buAutoNum type="arabicPeriod" startAt="1"/>
            </a:pPr>
            <a:r>
              <a:rPr lang="en-US" b="true" sz="4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Del Programa Del Curso</a:t>
            </a:r>
          </a:p>
          <a:p>
            <a:pPr algn="l" marL="928696" indent="-464348" lvl="1">
              <a:lnSpc>
                <a:spcPts val="6022"/>
              </a:lnSpc>
              <a:buAutoNum type="arabicPeriod" startAt="1"/>
            </a:pPr>
            <a:r>
              <a:rPr lang="en-US" b="true" sz="4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Horarios De Calificación</a:t>
            </a:r>
          </a:p>
          <a:p>
            <a:pPr algn="l" marL="928696" indent="-464348" lvl="1">
              <a:lnSpc>
                <a:spcPts val="6022"/>
              </a:lnSpc>
              <a:buAutoNum type="arabicPeriod" startAt="1"/>
            </a:pPr>
            <a:r>
              <a:rPr lang="en-US" b="true" sz="4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Diagnóstico Del Nuevo Laboratorio</a:t>
            </a:r>
          </a:p>
          <a:p>
            <a:pPr algn="l" marL="928696" indent="-464348" lvl="1">
              <a:lnSpc>
                <a:spcPts val="6022"/>
              </a:lnSpc>
              <a:buAutoNum type="arabicPeriod" startAt="1"/>
            </a:pPr>
            <a:r>
              <a:rPr lang="en-US" b="true" sz="4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Recomendaciones, Consideraciones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3566" y="6603262"/>
            <a:ext cx="3384434" cy="3683738"/>
          </a:xfrm>
          <a:custGeom>
            <a:avLst/>
            <a:gdLst/>
            <a:ahLst/>
            <a:cxnLst/>
            <a:rect r="r" b="b" t="t" l="l"/>
            <a:pathLst>
              <a:path h="3683738" w="3384434">
                <a:moveTo>
                  <a:pt x="0" y="0"/>
                </a:moveTo>
                <a:lnTo>
                  <a:pt x="3384434" y="0"/>
                </a:lnTo>
                <a:lnTo>
                  <a:pt x="3384434" y="3683738"/>
                </a:lnTo>
                <a:lnTo>
                  <a:pt x="0" y="3683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80445" y="3382651"/>
            <a:ext cx="90627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8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Eliezer Guevara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2727" y="895350"/>
            <a:ext cx="10445204" cy="116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b="true" sz="6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 Rol Como Su Auxiliar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63592"/>
            <a:ext cx="11954322" cy="5039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Resolver cualquier duda y reforzar los temas abordados en clase. </a:t>
            </a:r>
          </a:p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Guiar en la resolución de prácticas y proyectos. </a:t>
            </a:r>
          </a:p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Acompañar el proceso de aprendizaje práctico mediante ejemplos impartidos en el laboratorio.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91047" y="1115626"/>
            <a:ext cx="9323636" cy="9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 Expectativas Del Curso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1714" y="3209074"/>
            <a:ext cx="13568880" cy="57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Ayudar a mis estudiantes a comprender los tema impartidos durante el semestre.</a:t>
            </a:r>
          </a:p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Participación activa de mis estudiantes durante las sesiones virtuales y durante las calificaciones. </a:t>
            </a:r>
          </a:p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Entregar calificaciones y retroalimentaciones con tiempo para tranquilidad de mis estudiantes.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20368" y="2184204"/>
            <a:ext cx="5187617" cy="5187617"/>
          </a:xfrm>
          <a:custGeom>
            <a:avLst/>
            <a:gdLst/>
            <a:ahLst/>
            <a:cxnLst/>
            <a:rect r="r" b="b" t="t" l="l"/>
            <a:pathLst>
              <a:path h="5187617" w="5187617">
                <a:moveTo>
                  <a:pt x="0" y="0"/>
                </a:moveTo>
                <a:lnTo>
                  <a:pt x="5187617" y="0"/>
                </a:lnTo>
                <a:lnTo>
                  <a:pt x="5187617" y="5187616"/>
                </a:lnTo>
                <a:lnTo>
                  <a:pt x="0" y="5187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9569" y="1413802"/>
            <a:ext cx="7565827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De Estudiantes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8905" y="4701812"/>
            <a:ext cx="11848802" cy="286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Completo.</a:t>
            </a:r>
          </a:p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otros cursos estoy llevando?.</a:t>
            </a:r>
          </a:p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Intereses y expectativas sobre este curso. </a:t>
            </a:r>
          </a:p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dato curioso sobre sí mismo.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871895"/>
            <a:ext cx="6602986" cy="6602986"/>
          </a:xfrm>
          <a:custGeom>
            <a:avLst/>
            <a:gdLst/>
            <a:ahLst/>
            <a:cxnLst/>
            <a:rect r="r" b="b" t="t" l="l"/>
            <a:pathLst>
              <a:path h="6602986" w="6602986">
                <a:moveTo>
                  <a:pt x="0" y="0"/>
                </a:moveTo>
                <a:lnTo>
                  <a:pt x="6602986" y="0"/>
                </a:lnTo>
                <a:lnTo>
                  <a:pt x="6602986" y="6602986"/>
                </a:lnTo>
                <a:lnTo>
                  <a:pt x="0" y="6602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45995" y="914400"/>
            <a:ext cx="13682499" cy="97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  <a:spcBef>
                <a:spcPct val="0"/>
              </a:spcBef>
            </a:pPr>
            <a:r>
              <a:rPr lang="en-US" b="true" sz="56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Diagnóstico De Conocimientos Previos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70988" y="5450414"/>
            <a:ext cx="1192768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https://www.gimkit.com/view/6a28482f57abcb6076755c4d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32160" y="2899270"/>
            <a:ext cx="6179902" cy="6179902"/>
          </a:xfrm>
          <a:custGeom>
            <a:avLst/>
            <a:gdLst/>
            <a:ahLst/>
            <a:cxnLst/>
            <a:rect r="r" b="b" t="t" l="l"/>
            <a:pathLst>
              <a:path h="6179902" w="6179902">
                <a:moveTo>
                  <a:pt x="0" y="0"/>
                </a:moveTo>
                <a:lnTo>
                  <a:pt x="6179902" y="0"/>
                </a:lnTo>
                <a:lnTo>
                  <a:pt x="6179902" y="6179902"/>
                </a:lnTo>
                <a:lnTo>
                  <a:pt x="0" y="6179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90014"/>
            <a:ext cx="9703743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Del Programa Del Curso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docs.google.com/forms/d/e/1FAIpQLSeFwSvOmfmBwhfEYfe1vmE-4ngSXCv5ikBpKlnuD4TDInVhNQ/viewform?usp=sharing&amp;ouid=114219899901352024781"/>
          </p:cNvPr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14193" y="6995280"/>
            <a:ext cx="2248787" cy="2263020"/>
          </a:xfrm>
          <a:custGeom>
            <a:avLst/>
            <a:gdLst/>
            <a:ahLst/>
            <a:cxnLst/>
            <a:rect r="r" b="b" t="t" l="l"/>
            <a:pathLst>
              <a:path h="2263020" w="2248787">
                <a:moveTo>
                  <a:pt x="0" y="0"/>
                </a:moveTo>
                <a:lnTo>
                  <a:pt x="2248787" y="0"/>
                </a:lnTo>
                <a:lnTo>
                  <a:pt x="2248787" y="2263020"/>
                </a:lnTo>
                <a:lnTo>
                  <a:pt x="0" y="226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9053" y="952500"/>
            <a:ext cx="6209258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Horarios De Calificación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66720"/>
            <a:ext cx="13463618" cy="336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515" indent="-345257" lvl="1">
              <a:lnSpc>
                <a:spcPts val="4477"/>
              </a:lnSpc>
              <a:buFont typeface="Arial"/>
              <a:buChar char="•"/>
            </a:pPr>
            <a:r>
              <a:rPr lang="en-US" b="true" sz="31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Este formulario tiene como finalidad recopilar información sobre los días y horarios disponibles para la calificación de prácticas y proyectos. Su propósito es contar con un registro que permita, durante el semestre, considerar la disponibilidad de los estudiantes y así seleccionar los momentos más adecuados para realizar las calificaciones.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53683" y="7084716"/>
            <a:ext cx="1176825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https://docs.google.com/forms/d/e/1FAIpQLSeFwSvOmfmBwhfEYfe1vmE-4ngSXCv5ikBpKlnuD4TDInVhNQ/viewform?usp=sharing&amp;ouid=114219899901352024781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08421" y="6243039"/>
            <a:ext cx="3298110" cy="3298110"/>
          </a:xfrm>
          <a:custGeom>
            <a:avLst/>
            <a:gdLst/>
            <a:ahLst/>
            <a:cxnLst/>
            <a:rect r="r" b="b" t="t" l="l"/>
            <a:pathLst>
              <a:path h="3298110" w="3298110">
                <a:moveTo>
                  <a:pt x="0" y="0"/>
                </a:moveTo>
                <a:lnTo>
                  <a:pt x="3298110" y="0"/>
                </a:lnTo>
                <a:lnTo>
                  <a:pt x="3298110" y="3298110"/>
                </a:lnTo>
                <a:lnTo>
                  <a:pt x="0" y="3298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37142" y="952500"/>
            <a:ext cx="3942457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Asignación DTT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5035" y="2417768"/>
            <a:ext cx="17259300" cy="359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presente formulario tiene por objeto recopilar los datos de los estudiantes inscritos en el curso de Introducción a la Programación y Computación 2 - Sección P, con el fin de gestionar su registro y asignación correspondiente en la plataforma del DTT.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97158" y="6475431"/>
            <a:ext cx="959205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https://docs.google.com/forms/d/e/1FAIpQLSfN8EeImM9CmCaHdg9wpf3V1_INAK2rPAqjgZPAv1KAXsJvvA/viewform?usp=sharing&amp;ouid=114219899901352024781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8417" y="3724152"/>
            <a:ext cx="4426598" cy="4964114"/>
          </a:xfrm>
          <a:custGeom>
            <a:avLst/>
            <a:gdLst/>
            <a:ahLst/>
            <a:cxnLst/>
            <a:rect r="r" b="b" t="t" l="l"/>
            <a:pathLst>
              <a:path h="4964114" w="4426598">
                <a:moveTo>
                  <a:pt x="0" y="0"/>
                </a:moveTo>
                <a:lnTo>
                  <a:pt x="4426598" y="0"/>
                </a:lnTo>
                <a:lnTo>
                  <a:pt x="4426598" y="4964114"/>
                </a:lnTo>
                <a:lnTo>
                  <a:pt x="0" y="4964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57270"/>
            <a:ext cx="11926491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Diagnóstico De Conocimientos De IPC2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9755" y="6494460"/>
            <a:ext cx="118060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https://www.gimkit.com/view/6a2851a14fc7f47183242e8e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8443" y="2687728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6302" y="923925"/>
            <a:ext cx="6883598" cy="100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379" y="3047411"/>
            <a:ext cx="8527934" cy="461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dejar las practicas o proyectos a última hora.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Planificar bien el tiempo con relación a los otros cursos que se llevan. 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Investigar ejemplos en repositorios de GitHub.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ORDENADO, ARCHIVOS EN CARPETAS.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Nunca rendirse.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25745" y="4500524"/>
            <a:ext cx="4757776" cy="4757776"/>
          </a:xfrm>
          <a:custGeom>
            <a:avLst/>
            <a:gdLst/>
            <a:ahLst/>
            <a:cxnLst/>
            <a:rect r="r" b="b" t="t" l="l"/>
            <a:pathLst>
              <a:path h="4757776" w="4757776">
                <a:moveTo>
                  <a:pt x="0" y="0"/>
                </a:moveTo>
                <a:lnTo>
                  <a:pt x="4757776" y="0"/>
                </a:lnTo>
                <a:lnTo>
                  <a:pt x="4757776" y="4757776"/>
                </a:lnTo>
                <a:lnTo>
                  <a:pt x="0" y="4757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44840" y="923925"/>
            <a:ext cx="6233368" cy="100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Consideraciones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90787"/>
            <a:ext cx="15954821" cy="320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Respeto a los compañeros, catedrático y al auxiliar.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Todas las entregas serán por UEDi.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Prohibido cualquier tipo de plagio.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Priorizar ganar IPC2 y aprender.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1877" y="1028700"/>
            <a:ext cx="5624246" cy="8144993"/>
          </a:xfrm>
          <a:custGeom>
            <a:avLst/>
            <a:gdLst/>
            <a:ahLst/>
            <a:cxnLst/>
            <a:rect r="r" b="b" t="t" l="l"/>
            <a:pathLst>
              <a:path h="8144993" w="5624246">
                <a:moveTo>
                  <a:pt x="0" y="0"/>
                </a:moveTo>
                <a:lnTo>
                  <a:pt x="5624246" y="0"/>
                </a:lnTo>
                <a:lnTo>
                  <a:pt x="5624246" y="8144993"/>
                </a:lnTo>
                <a:lnTo>
                  <a:pt x="0" y="8144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1439" y="3923663"/>
            <a:ext cx="4229546" cy="1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b="true" sz="7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DUDAS ¿?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3425" y="1439388"/>
            <a:ext cx="4074616" cy="1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b="true" sz="7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2672" y="3943961"/>
            <a:ext cx="17505328" cy="420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12" indent="-518156" lvl="1">
              <a:lnSpc>
                <a:spcPts val="6719"/>
              </a:lnSpc>
              <a:buFont typeface="Arial"/>
              <a:buChar char="•"/>
            </a:pPr>
            <a:r>
              <a:rPr lang="en-US" b="true" sz="4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MEDIO OFICIAL PARA LA RESOLUCIÓN DE DUDAS SERÁ UEDI EN FOROS. </a:t>
            </a:r>
          </a:p>
          <a:p>
            <a:pPr algn="l" marL="1036312" indent="-518156" lvl="1">
              <a:lnSpc>
                <a:spcPts val="6719"/>
              </a:lnSpc>
              <a:buFont typeface="Arial"/>
              <a:buChar char="•"/>
            </a:pPr>
          </a:p>
          <a:p>
            <a:pPr algn="l" marL="1036312" indent="-518156" lvl="1">
              <a:lnSpc>
                <a:spcPts val="6719"/>
              </a:lnSpc>
              <a:buFont typeface="Arial"/>
              <a:buChar char="•"/>
            </a:pPr>
            <a:r>
              <a:rPr lang="en-US" b="true" sz="4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CORREO: 2868763450101@ingenieria.usac.edu.gt</a:t>
            </a:r>
          </a:p>
          <a:p>
            <a:pPr algn="l" marL="1036312" indent="-518156" lvl="1">
              <a:lnSpc>
                <a:spcPts val="6719"/>
              </a:lnSpc>
              <a:buFont typeface="Arial"/>
              <a:buChar char="•"/>
            </a:pPr>
            <a:r>
              <a:rPr lang="en-US" b="true" sz="4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Asunto: [IPC2-P]DUDA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51320" y="2909092"/>
            <a:ext cx="13077825" cy="1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b="true" sz="7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¡GRACIAS POR SU  ATENCIÓN!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18233" y="5067300"/>
            <a:ext cx="9144000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DAHMDOBe-XQ</dc:identifier>
  <dcterms:modified xsi:type="dcterms:W3CDTF">2011-08-01T06:04:30Z</dcterms:modified>
  <cp:revision>1</cp:revision>
  <dc:title>Presentacion-Diagnositco</dc:title>
</cp:coreProperties>
</file>