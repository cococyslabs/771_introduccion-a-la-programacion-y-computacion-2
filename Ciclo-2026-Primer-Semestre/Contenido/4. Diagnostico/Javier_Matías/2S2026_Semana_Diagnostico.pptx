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Open Sans" panose="020B0606030504020204" pitchFamily="3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2" roundtripDataSignature="AMtx7mjO+iGp+9oNSRALVTRh146cAaxHN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4" d="100"/>
          <a:sy n="54" d="100"/>
        </p:scale>
        <p:origin x="36" y="4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8" name="Google Shape;9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8" name="Google Shape;11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8" name="Google Shape;12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75b4d7ed6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7" name="Google Shape;137;g3d75b4d7ed6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d75b4d7ed6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7" name="Google Shape;147;g3d75b4d7ed6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d75b4d7ed6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7" name="Google Shape;157;g3d75b4d7ed6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d75b4d7ed6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7" name="Google Shape;167;g3d75b4d7ed6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d75b4d7ed6_1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6" name="Google Shape;176;g3d75b4d7ed6_1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6" name="Google Shape;18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1" name="Google Shape;19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0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21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22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4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4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5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6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7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package" Target="../embeddings/Microsoft_Excel_Worksheet.xlsx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kahoot.it/challenge/03672411?challenge-id=654da55e-59a0-49d9-9fbc-da30554cef8e_1781489289966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ocs.google.com/forms/d/e/1FAIpQLSfsUuM88COKaYvpZmIqnvbd5mE8T_0_2WKpdauBHrni8TVvew/viewform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kahoot.it/challenge/05285530?challenge-id=654da55e-59a0-49d9-9fbc-da30554cef8e_1781490014680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 dirty="0"/>
          </a:p>
        </p:txBody>
      </p:sp>
      <p:sp>
        <p:nvSpPr>
          <p:cNvPr id="85" name="Google Shape;85;p1"/>
          <p:cNvSpPr/>
          <p:nvPr/>
        </p:nvSpPr>
        <p:spPr>
          <a:xfrm>
            <a:off x="1969850" y="3030151"/>
            <a:ext cx="15055872" cy="3260981"/>
          </a:xfrm>
          <a:custGeom>
            <a:avLst/>
            <a:gdLst/>
            <a:ahLst/>
            <a:cxnLst/>
            <a:rect l="l" t="t" r="r" b="b"/>
            <a:pathLst>
              <a:path w="9002016" h="1811656" extrusionOk="0">
                <a:moveTo>
                  <a:pt x="0" y="0"/>
                </a:moveTo>
                <a:lnTo>
                  <a:pt x="9002016" y="0"/>
                </a:lnTo>
                <a:lnTo>
                  <a:pt x="9002016" y="1811656"/>
                </a:lnTo>
                <a:lnTo>
                  <a:pt x="0" y="18116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graphicFrame>
        <p:nvGraphicFramePr>
          <p:cNvPr id="86" name="Google Shape;86;p1"/>
          <p:cNvGraphicFramePr/>
          <p:nvPr>
            <p:extLst>
              <p:ext uri="{D42A27DB-BD31-4B8C-83A1-F6EECF244321}">
                <p14:modId xmlns:p14="http://schemas.microsoft.com/office/powerpoint/2010/main" val="2799137850"/>
              </p:ext>
            </p:extLst>
          </p:nvPr>
        </p:nvGraphicFramePr>
        <p:xfrm>
          <a:off x="10669588" y="1766888"/>
          <a:ext cx="9525000" cy="1881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9524676" imgH="1881100" progId="Excel.Sheet.12">
                  <p:embed/>
                </p:oleObj>
              </mc:Choice>
              <mc:Fallback>
                <p:oleObj name="Worksheet" r:id="rId5" imgW="9524676" imgH="1881100" progId="Excel.Sheet.12">
                  <p:embed/>
                  <p:pic>
                    <p:nvPicPr>
                      <p:cNvPr id="86" name="Google Shape;86;p1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/>
                      <a:stretch>
                        <a:fillRect/>
                      </a:stretch>
                    </p:blipFill>
                    <p:spPr>
                      <a:xfrm>
                        <a:off x="10669588" y="1766888"/>
                        <a:ext cx="9525000" cy="1881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" name="Google Shape;87;p1"/>
          <p:cNvSpPr txBox="1"/>
          <p:nvPr/>
        </p:nvSpPr>
        <p:spPr>
          <a:xfrm>
            <a:off x="5792614" y="6291132"/>
            <a:ext cx="6702900" cy="8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Ingeniería de Ciencias Y Sistemas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348639" y="9029397"/>
            <a:ext cx="5443975" cy="1352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40"/>
              <a:buFont typeface="Arial"/>
              <a:buNone/>
            </a:pPr>
            <a:r>
              <a:rPr lang="es-MX" sz="3140" b="1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Javier Alejandro Matías Guarcas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40"/>
              <a:buFont typeface="Arial"/>
              <a:buNone/>
            </a:pPr>
            <a:endParaRPr sz="3140" b="1" i="0" u="none" strike="noStrike" cap="none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2904236" y="3801950"/>
            <a:ext cx="13187100" cy="14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es-MX" sz="4200" b="1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Introducción a la Programación y Computación 2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799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endParaRPr sz="4200" b="1" i="0" u="none" strike="noStrike" cap="none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/>
          <p:nvPr/>
        </p:nvSpPr>
        <p:spPr>
          <a:xfrm>
            <a:off x="0" y="27878"/>
            <a:ext cx="18288000" cy="10401300"/>
          </a:xfrm>
          <a:custGeom>
            <a:avLst/>
            <a:gdLst/>
            <a:ahLst/>
            <a:cxnLst/>
            <a:rect l="l" t="t" r="r" b="b"/>
            <a:pathLst>
              <a:path w="18288000" h="10401300" extrusionOk="0">
                <a:moveTo>
                  <a:pt x="0" y="0"/>
                </a:moveTo>
                <a:lnTo>
                  <a:pt x="18288000" y="0"/>
                </a:lnTo>
                <a:lnTo>
                  <a:pt x="18288000" y="10401300"/>
                </a:lnTo>
                <a:lnTo>
                  <a:pt x="0" y="10401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95" name="Google Shape;95;p2"/>
          <p:cNvSpPr txBox="1"/>
          <p:nvPr/>
        </p:nvSpPr>
        <p:spPr>
          <a:xfrm>
            <a:off x="3102001" y="2985175"/>
            <a:ext cx="12084000" cy="32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99"/>
              <a:buFont typeface="Arial"/>
              <a:buNone/>
            </a:pPr>
            <a:r>
              <a:rPr lang="en-US" sz="8799" b="1" dirty="0">
                <a:latin typeface="Open Sans"/>
                <a:ea typeface="Open Sans"/>
                <a:cs typeface="Open Sans"/>
                <a:sym typeface="Open Sans"/>
              </a:rPr>
              <a:t>Semana de </a:t>
            </a:r>
            <a:r>
              <a:rPr lang="en-US" sz="8799" b="1" dirty="0" err="1">
                <a:latin typeface="Open Sans"/>
                <a:ea typeface="Open Sans"/>
                <a:cs typeface="Open Sans"/>
                <a:sym typeface="Open Sans"/>
              </a:rPr>
              <a:t>Diagnóstico</a:t>
            </a:r>
            <a:endParaRPr sz="8799" b="1" i="0" u="none" strike="noStrike" cap="none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"/>
          <p:cNvSpPr/>
          <p:nvPr/>
        </p:nvSpPr>
        <p:spPr>
          <a:xfrm>
            <a:off x="4000075" y="2756063"/>
            <a:ext cx="9896507" cy="7627980"/>
          </a:xfrm>
          <a:custGeom>
            <a:avLst/>
            <a:gdLst/>
            <a:ahLst/>
            <a:cxnLst/>
            <a:rect l="l" t="t" r="r" b="b"/>
            <a:pathLst>
              <a:path w="9896507" h="5913163" extrusionOk="0">
                <a:moveTo>
                  <a:pt x="0" y="0"/>
                </a:moveTo>
                <a:lnTo>
                  <a:pt x="9896507" y="0"/>
                </a:lnTo>
                <a:lnTo>
                  <a:pt x="9896507" y="5913163"/>
                </a:lnTo>
                <a:lnTo>
                  <a:pt x="0" y="59131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101" name="Google Shape;101;p4"/>
          <p:cNvSpPr/>
          <p:nvPr/>
        </p:nvSpPr>
        <p:spPr>
          <a:xfrm>
            <a:off x="3493371" y="-730682"/>
            <a:ext cx="11301259" cy="5127946"/>
          </a:xfrm>
          <a:custGeom>
            <a:avLst/>
            <a:gdLst/>
            <a:ahLst/>
            <a:cxnLst/>
            <a:rect l="l" t="t" r="r" b="b"/>
            <a:pathLst>
              <a:path w="11301259" h="5127946" extrusionOk="0">
                <a:moveTo>
                  <a:pt x="0" y="0"/>
                </a:moveTo>
                <a:lnTo>
                  <a:pt x="11301258" y="0"/>
                </a:lnTo>
                <a:lnTo>
                  <a:pt x="11301258" y="5127946"/>
                </a:lnTo>
                <a:lnTo>
                  <a:pt x="0" y="51279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102" name="Google Shape;102;p4"/>
          <p:cNvSpPr/>
          <p:nvPr/>
        </p:nvSpPr>
        <p:spPr>
          <a:xfrm>
            <a:off x="4875920" y="3204230"/>
            <a:ext cx="678185" cy="824819"/>
          </a:xfrm>
          <a:custGeom>
            <a:avLst/>
            <a:gdLst/>
            <a:ahLst/>
            <a:cxnLst/>
            <a:rect l="l" t="t" r="r" b="b"/>
            <a:pathLst>
              <a:path w="678185" h="824819" extrusionOk="0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103" name="Google Shape;103;p4"/>
          <p:cNvSpPr txBox="1"/>
          <p:nvPr/>
        </p:nvSpPr>
        <p:spPr>
          <a:xfrm>
            <a:off x="5720910" y="3500263"/>
            <a:ext cx="488640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>
                <a:latin typeface="Open Sans"/>
                <a:ea typeface="Open Sans"/>
                <a:cs typeface="Open Sans"/>
                <a:sym typeface="Open Sans"/>
              </a:rPr>
              <a:t>1. Presentación Personal</a:t>
            </a:r>
            <a:endParaRPr sz="2400" b="1" i="0" u="none" strike="noStrike" cap="none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4875920" y="4232850"/>
            <a:ext cx="678185" cy="824819"/>
          </a:xfrm>
          <a:custGeom>
            <a:avLst/>
            <a:gdLst/>
            <a:ahLst/>
            <a:cxnLst/>
            <a:rect l="l" t="t" r="r" b="b"/>
            <a:pathLst>
              <a:path w="678185" h="824819" extrusionOk="0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105" name="Google Shape;105;p4"/>
          <p:cNvSpPr txBox="1"/>
          <p:nvPr/>
        </p:nvSpPr>
        <p:spPr>
          <a:xfrm>
            <a:off x="5695422" y="4589013"/>
            <a:ext cx="7062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>
                <a:latin typeface="Open Sans"/>
                <a:ea typeface="Open Sans"/>
                <a:cs typeface="Open Sans"/>
                <a:sym typeface="Open Sans"/>
              </a:rPr>
              <a:t>2. </a:t>
            </a:r>
            <a:r>
              <a:rPr lang="en-US" sz="2400" b="1" dirty="0" err="1">
                <a:latin typeface="Open Sans"/>
                <a:ea typeface="Open Sans"/>
                <a:cs typeface="Open Sans"/>
                <a:sym typeface="Open Sans"/>
              </a:rPr>
              <a:t>Evaluación</a:t>
            </a:r>
            <a:r>
              <a:rPr lang="en-US" sz="2400" b="1" dirty="0"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2400" b="1" dirty="0" err="1">
                <a:latin typeface="Open Sans"/>
                <a:ea typeface="Open Sans"/>
                <a:cs typeface="Open Sans"/>
                <a:sym typeface="Open Sans"/>
              </a:rPr>
              <a:t>Conocimientos</a:t>
            </a:r>
            <a:r>
              <a:rPr lang="en-US" sz="2400" b="1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b="1" dirty="0" err="1">
                <a:latin typeface="Open Sans"/>
                <a:ea typeface="Open Sans"/>
                <a:cs typeface="Open Sans"/>
                <a:sym typeface="Open Sans"/>
              </a:rPr>
              <a:t>Previos</a:t>
            </a:r>
            <a:r>
              <a:rPr lang="en-US" sz="2400" b="1" dirty="0">
                <a:latin typeface="Open Sans"/>
                <a:ea typeface="Open Sans"/>
                <a:cs typeface="Open Sans"/>
                <a:sym typeface="Open Sans"/>
              </a:rPr>
              <a:t>                             </a:t>
            </a:r>
            <a:endParaRPr sz="2400" b="1" i="0" u="none" strike="noStrike" cap="none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4824745" y="5310921"/>
            <a:ext cx="678185" cy="824819"/>
          </a:xfrm>
          <a:custGeom>
            <a:avLst/>
            <a:gdLst/>
            <a:ahLst/>
            <a:cxnLst/>
            <a:rect l="l" t="t" r="r" b="b"/>
            <a:pathLst>
              <a:path w="678185" h="824819" extrusionOk="0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107" name="Google Shape;107;p4"/>
          <p:cNvSpPr/>
          <p:nvPr/>
        </p:nvSpPr>
        <p:spPr>
          <a:xfrm>
            <a:off x="4824745" y="6413615"/>
            <a:ext cx="678185" cy="824819"/>
          </a:xfrm>
          <a:custGeom>
            <a:avLst/>
            <a:gdLst/>
            <a:ahLst/>
            <a:cxnLst/>
            <a:rect l="l" t="t" r="r" b="b"/>
            <a:pathLst>
              <a:path w="678185" h="824819" extrusionOk="0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108" name="Google Shape;108;p4"/>
          <p:cNvSpPr/>
          <p:nvPr/>
        </p:nvSpPr>
        <p:spPr>
          <a:xfrm>
            <a:off x="4824745" y="7516297"/>
            <a:ext cx="678185" cy="824819"/>
          </a:xfrm>
          <a:custGeom>
            <a:avLst/>
            <a:gdLst/>
            <a:ahLst/>
            <a:cxnLst/>
            <a:rect l="l" t="t" r="r" b="b"/>
            <a:pathLst>
              <a:path w="678185" h="824819" extrusionOk="0">
                <a:moveTo>
                  <a:pt x="0" y="0"/>
                </a:moveTo>
                <a:lnTo>
                  <a:pt x="678184" y="0"/>
                </a:lnTo>
                <a:lnTo>
                  <a:pt x="678184" y="824820"/>
                </a:lnTo>
                <a:lnTo>
                  <a:pt x="0" y="824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109" name="Google Shape;109;p4"/>
          <p:cNvSpPr txBox="1"/>
          <p:nvPr/>
        </p:nvSpPr>
        <p:spPr>
          <a:xfrm>
            <a:off x="5720893" y="5677738"/>
            <a:ext cx="7922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latin typeface="Open Sans"/>
                <a:ea typeface="Open Sans"/>
                <a:cs typeface="Open Sans"/>
                <a:sym typeface="Open Sans"/>
              </a:rPr>
              <a:t>3. Presentación de los Estudiantes                                </a:t>
            </a:r>
            <a:endParaRPr sz="2400" b="1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0" name="Google Shape;110;p4"/>
          <p:cNvSpPr txBox="1"/>
          <p:nvPr/>
        </p:nvSpPr>
        <p:spPr>
          <a:xfrm>
            <a:off x="5682599" y="6710914"/>
            <a:ext cx="5928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latin typeface="Open Sans"/>
                <a:ea typeface="Open Sans"/>
                <a:cs typeface="Open Sans"/>
                <a:sym typeface="Open Sans"/>
              </a:rPr>
              <a:t>4.  Censo de Horarios de Calificación                          </a:t>
            </a:r>
            <a:endParaRPr sz="2400" b="1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1" name="Google Shape;111;p4"/>
          <p:cNvSpPr txBox="1"/>
          <p:nvPr/>
        </p:nvSpPr>
        <p:spPr>
          <a:xfrm>
            <a:off x="5720892" y="7744063"/>
            <a:ext cx="8056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latin typeface="Open Sans"/>
                <a:ea typeface="Open Sans"/>
                <a:cs typeface="Open Sans"/>
                <a:sym typeface="Open Sans"/>
              </a:rPr>
              <a:t>5. Programa del Curso                 					</a:t>
            </a:r>
            <a:endParaRPr sz="2400" b="1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2" name="Google Shape;112;p4"/>
          <p:cNvSpPr txBox="1"/>
          <p:nvPr/>
        </p:nvSpPr>
        <p:spPr>
          <a:xfrm>
            <a:off x="4728272" y="8777212"/>
            <a:ext cx="8056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>
                <a:latin typeface="Open Sans"/>
                <a:ea typeface="Open Sans"/>
                <a:cs typeface="Open Sans"/>
                <a:sym typeface="Open Sans"/>
              </a:rPr>
              <a:t>6. </a:t>
            </a:r>
            <a:r>
              <a:rPr lang="en-US" sz="2400" b="1" dirty="0" err="1">
                <a:latin typeface="Open Sans"/>
                <a:ea typeface="Open Sans"/>
                <a:cs typeface="Open Sans"/>
                <a:sym typeface="Open Sans"/>
              </a:rPr>
              <a:t>Evaluación</a:t>
            </a:r>
            <a:r>
              <a:rPr lang="en-US" sz="2400" b="1" dirty="0"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2400" b="1" dirty="0" err="1">
                <a:latin typeface="Open Sans"/>
                <a:ea typeface="Open Sans"/>
                <a:cs typeface="Open Sans"/>
                <a:sym typeface="Open Sans"/>
              </a:rPr>
              <a:t>Conocimientos</a:t>
            </a:r>
            <a:r>
              <a:rPr lang="en-US" sz="2400" b="1" dirty="0">
                <a:latin typeface="Open Sans"/>
                <a:ea typeface="Open Sans"/>
                <a:cs typeface="Open Sans"/>
                <a:sym typeface="Open Sans"/>
              </a:rPr>
              <a:t> del </a:t>
            </a:r>
            <a:r>
              <a:rPr lang="en-US" sz="2400" b="1" dirty="0" err="1">
                <a:latin typeface="Open Sans"/>
                <a:ea typeface="Open Sans"/>
                <a:cs typeface="Open Sans"/>
                <a:sym typeface="Open Sans"/>
              </a:rPr>
              <a:t>Curso</a:t>
            </a:r>
            <a:r>
              <a:rPr lang="en-US" sz="2400" b="1" dirty="0">
                <a:latin typeface="Open Sans"/>
                <a:ea typeface="Open Sans"/>
                <a:cs typeface="Open Sans"/>
                <a:sym typeface="Open Sans"/>
              </a:rPr>
              <a:t> Actual                                  </a:t>
            </a:r>
            <a:endParaRPr sz="2400" b="1" i="0" u="none" strike="noStrike" cap="none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3" name="Google Shape;113;p4"/>
          <p:cNvSpPr txBox="1"/>
          <p:nvPr/>
        </p:nvSpPr>
        <p:spPr>
          <a:xfrm>
            <a:off x="3328887" y="9674857"/>
            <a:ext cx="805680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>
                <a:latin typeface="Open Sans"/>
                <a:ea typeface="Open Sans"/>
                <a:cs typeface="Open Sans"/>
                <a:sym typeface="Open Sans"/>
              </a:rPr>
              <a:t>7. </a:t>
            </a:r>
            <a:r>
              <a:rPr lang="en-US" sz="2400" b="1" dirty="0" err="1">
                <a:latin typeface="Open Sans"/>
                <a:ea typeface="Open Sans"/>
                <a:cs typeface="Open Sans"/>
                <a:sym typeface="Open Sans"/>
              </a:rPr>
              <a:t>Medios</a:t>
            </a:r>
            <a:r>
              <a:rPr lang="en-US" sz="2400" b="1" dirty="0"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2400" b="1" dirty="0" err="1">
                <a:latin typeface="Open Sans"/>
                <a:ea typeface="Open Sans"/>
                <a:cs typeface="Open Sans"/>
                <a:sym typeface="Open Sans"/>
              </a:rPr>
              <a:t>comunicación</a:t>
            </a:r>
            <a:endParaRPr sz="2400" b="1" i="0" u="none" strike="noStrike" cap="none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4824745" y="8444722"/>
            <a:ext cx="678185" cy="824819"/>
          </a:xfrm>
          <a:custGeom>
            <a:avLst/>
            <a:gdLst/>
            <a:ahLst/>
            <a:cxnLst/>
            <a:rect l="l" t="t" r="r" b="b"/>
            <a:pathLst>
              <a:path w="678185" h="824819" extrusionOk="0">
                <a:moveTo>
                  <a:pt x="0" y="0"/>
                </a:moveTo>
                <a:lnTo>
                  <a:pt x="678184" y="0"/>
                </a:lnTo>
                <a:lnTo>
                  <a:pt x="678184" y="824820"/>
                </a:lnTo>
                <a:lnTo>
                  <a:pt x="0" y="824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115" name="Google Shape;115;p4"/>
          <p:cNvSpPr/>
          <p:nvPr/>
        </p:nvSpPr>
        <p:spPr>
          <a:xfrm>
            <a:off x="4875920" y="9462172"/>
            <a:ext cx="678185" cy="824819"/>
          </a:xfrm>
          <a:custGeom>
            <a:avLst/>
            <a:gdLst/>
            <a:ahLst/>
            <a:cxnLst/>
            <a:rect l="l" t="t" r="r" b="b"/>
            <a:pathLst>
              <a:path w="678185" h="824819" extrusionOk="0">
                <a:moveTo>
                  <a:pt x="0" y="0"/>
                </a:moveTo>
                <a:lnTo>
                  <a:pt x="678184" y="0"/>
                </a:lnTo>
                <a:lnTo>
                  <a:pt x="678184" y="824820"/>
                </a:lnTo>
                <a:lnTo>
                  <a:pt x="0" y="824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6" name="Rectangle 125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Google Shape;120;p6"/>
          <p:cNvSpPr txBox="1"/>
          <p:nvPr/>
        </p:nvSpPr>
        <p:spPr>
          <a:xfrm>
            <a:off x="9588874" y="752476"/>
            <a:ext cx="6622272" cy="2574383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marR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Pts val="5600"/>
            </a:pPr>
            <a:r>
              <a:rPr lang="en-US" sz="6500" b="1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Open Sans"/>
              </a:rPr>
              <a:t>1. Presentación del tutor</a:t>
            </a:r>
          </a:p>
          <a:p>
            <a:pPr marL="0" marR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Pts val="5600"/>
            </a:pPr>
            <a:endParaRPr lang="en-US" sz="6500" b="1" kern="1200">
              <a:solidFill>
                <a:schemeClr val="tx1"/>
              </a:solidFill>
              <a:latin typeface="+mj-lt"/>
              <a:ea typeface="+mj-ea"/>
              <a:cs typeface="+mj-cs"/>
              <a:sym typeface="Open Sans"/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669866" cy="10287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9ED0C957-2A3E-BA03-3E38-A51B76B06BB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00"/>
          <a:stretch>
            <a:fillRect/>
          </a:stretch>
        </p:blipFill>
        <p:spPr bwMode="auto">
          <a:xfrm rot="16200000">
            <a:off x="-359304" y="1227281"/>
            <a:ext cx="9388475" cy="7832438"/>
          </a:xfrm>
          <a:prstGeom prst="rect">
            <a:avLst/>
          </a:prstGeom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21" name="Google Shape;121;p6"/>
          <p:cNvSpPr txBox="1"/>
          <p:nvPr/>
        </p:nvSpPr>
        <p:spPr>
          <a:xfrm>
            <a:off x="9588874" y="3968883"/>
            <a:ext cx="6652082" cy="5565640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0" marR="0" lvl="0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3000" b="1" kern="1200">
                <a:solidFill>
                  <a:schemeClr val="tx1">
                    <a:alpha val="80000"/>
                  </a:schemeClr>
                </a:solidFill>
                <a:latin typeface="+mn-lt"/>
                <a:ea typeface="+mn-ea"/>
                <a:cs typeface="+mn-cs"/>
                <a:sym typeface="Open Sans"/>
              </a:rPr>
              <a:t>Nombre: </a:t>
            </a:r>
            <a:r>
              <a:rPr lang="en-US" sz="3000" kern="1200">
                <a:solidFill>
                  <a:schemeClr val="tx1">
                    <a:alpha val="80000"/>
                  </a:schemeClr>
                </a:solidFill>
                <a:latin typeface="+mn-lt"/>
                <a:ea typeface="+mn-ea"/>
                <a:cs typeface="+mn-cs"/>
                <a:sym typeface="Open Sans"/>
              </a:rPr>
              <a:t>Javier Alejandro Matías Guarcas</a:t>
            </a:r>
          </a:p>
          <a:p>
            <a:pPr marL="0" marR="0" lvl="0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3000" b="1" kern="1200">
                <a:solidFill>
                  <a:schemeClr val="tx1">
                    <a:alpha val="80000"/>
                  </a:schemeClr>
                </a:solidFill>
                <a:latin typeface="+mn-lt"/>
                <a:ea typeface="+mn-ea"/>
                <a:cs typeface="+mn-cs"/>
                <a:sym typeface="Open Sans"/>
              </a:rPr>
              <a:t>Semestre: </a:t>
            </a:r>
            <a:r>
              <a:rPr lang="en-US" sz="3000" kern="1200">
                <a:solidFill>
                  <a:schemeClr val="tx1">
                    <a:alpha val="80000"/>
                  </a:schemeClr>
                </a:solidFill>
                <a:latin typeface="+mn-lt"/>
                <a:ea typeface="+mn-ea"/>
                <a:cs typeface="+mn-cs"/>
                <a:sym typeface="Open Sans"/>
              </a:rPr>
              <a:t>Estudiante de 9vo Semestre</a:t>
            </a:r>
          </a:p>
          <a:p>
            <a:pPr marL="0" marR="0" lvl="0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3000" b="1" kern="1200">
                <a:solidFill>
                  <a:schemeClr val="tx1">
                    <a:alpha val="80000"/>
                  </a:schemeClr>
                </a:solidFill>
                <a:latin typeface="+mn-lt"/>
                <a:ea typeface="+mn-ea"/>
                <a:cs typeface="+mn-cs"/>
                <a:sym typeface="Open Sans"/>
              </a:rPr>
              <a:t>Trabajo: </a:t>
            </a:r>
            <a:r>
              <a:rPr lang="en-US" sz="3000" kern="1200">
                <a:solidFill>
                  <a:schemeClr val="tx1">
                    <a:alpha val="80000"/>
                  </a:schemeClr>
                </a:solidFill>
                <a:latin typeface="+mn-lt"/>
                <a:ea typeface="+mn-ea"/>
                <a:cs typeface="+mn-cs"/>
                <a:sym typeface="Open Sans"/>
              </a:rPr>
              <a:t>en el Área de IT</a:t>
            </a:r>
          </a:p>
          <a:p>
            <a:pPr marL="0" marR="0" lvl="0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3000" b="1" kern="1200">
                <a:solidFill>
                  <a:schemeClr val="tx1">
                    <a:alpha val="80000"/>
                  </a:schemeClr>
                </a:solidFill>
                <a:latin typeface="+mn-lt"/>
                <a:ea typeface="+mn-ea"/>
                <a:cs typeface="+mn-cs"/>
                <a:sym typeface="Open Sans"/>
              </a:rPr>
              <a:t>Pasatiempo: </a:t>
            </a:r>
            <a:r>
              <a:rPr lang="en-US" sz="3000" kern="1200">
                <a:solidFill>
                  <a:schemeClr val="tx1">
                    <a:alpha val="80000"/>
                  </a:schemeClr>
                </a:solidFill>
                <a:latin typeface="+mn-lt"/>
                <a:ea typeface="+mn-ea"/>
                <a:cs typeface="+mn-cs"/>
                <a:sym typeface="Open Sans"/>
              </a:rPr>
              <a:t>Jugar ajedrez</a:t>
            </a:r>
            <a:endParaRPr lang="en-US" sz="3000" b="1" kern="1200">
              <a:solidFill>
                <a:schemeClr val="tx1">
                  <a:alpha val="80000"/>
                </a:schemeClr>
              </a:solidFill>
              <a:latin typeface="+mn-lt"/>
              <a:ea typeface="+mn-ea"/>
              <a:cs typeface="+mn-cs"/>
              <a:sym typeface="Open Sans"/>
            </a:endParaRPr>
          </a:p>
          <a:p>
            <a:pPr marL="0" marR="0" lvl="0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endParaRPr lang="en-US" sz="3000" b="1" kern="1200">
              <a:solidFill>
                <a:schemeClr val="tx1">
                  <a:alpha val="80000"/>
                </a:schemeClr>
              </a:solidFill>
              <a:latin typeface="+mn-lt"/>
              <a:ea typeface="+mn-ea"/>
              <a:cs typeface="+mn-cs"/>
              <a:sym typeface="Open Sans"/>
            </a:endParaRPr>
          </a:p>
          <a:p>
            <a:pPr marL="457200" marR="0" lvl="0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2400"/>
              <a:buFont typeface="Arial" panose="020B0604020202020204" pitchFamily="34" charset="0"/>
              <a:buChar char="•"/>
            </a:pPr>
            <a:endParaRPr lang="en-US" sz="3000" b="1" kern="1200">
              <a:solidFill>
                <a:schemeClr val="tx1">
                  <a:alpha val="80000"/>
                </a:schemeClr>
              </a:solidFill>
              <a:latin typeface="+mn-lt"/>
              <a:ea typeface="+mn-ea"/>
              <a:cs typeface="+mn-cs"/>
              <a:sym typeface="Open Sans"/>
            </a:endParaRPr>
          </a:p>
          <a:p>
            <a:pPr marL="0" marR="0" lvl="0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endParaRPr lang="en-US" sz="3000" b="1" i="0" u="none" strike="noStrike" kern="1200" cap="none">
              <a:solidFill>
                <a:schemeClr val="tx1">
                  <a:alpha val="80000"/>
                </a:schemeClr>
              </a:solidFill>
              <a:latin typeface="+mn-lt"/>
              <a:ea typeface="+mn-ea"/>
              <a:cs typeface="+mn-cs"/>
              <a:sym typeface="Open Sans"/>
            </a:endParaRPr>
          </a:p>
        </p:txBody>
      </p: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7379243" y="5428908"/>
            <a:ext cx="0" cy="4858092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"/>
          <p:cNvSpPr txBox="1"/>
          <p:nvPr/>
        </p:nvSpPr>
        <p:spPr>
          <a:xfrm>
            <a:off x="12119967" y="1112086"/>
            <a:ext cx="5053851" cy="2424305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Open Sans"/>
              </a:rPr>
              <a:t>2. Evaluación de Conocimientos Previos                             </a:t>
            </a:r>
          </a:p>
        </p:txBody>
      </p:sp>
      <p:pic>
        <p:nvPicPr>
          <p:cNvPr id="135" name="Picture 131">
            <a:extLst>
              <a:ext uri="{FF2B5EF4-FFF2-40B4-BE49-F238E27FC236}">
                <a16:creationId xmlns:a16="http://schemas.microsoft.com/office/drawing/2014/main" id="{7DB90248-5428-697F-DE53-65EB7012F2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991" r="11079"/>
          <a:stretch>
            <a:fillRect/>
          </a:stretch>
        </p:blipFill>
        <p:spPr>
          <a:xfrm>
            <a:off x="20" y="10"/>
            <a:ext cx="11085374" cy="10286990"/>
          </a:xfrm>
          <a:prstGeom prst="rect">
            <a:avLst/>
          </a:prstGeom>
        </p:spPr>
      </p:pic>
      <p:sp>
        <p:nvSpPr>
          <p:cNvPr id="136" name="Rectangle 135">
            <a:extLst>
              <a:ext uri="{FF2B5EF4-FFF2-40B4-BE49-F238E27FC236}">
                <a16:creationId xmlns:a16="http://schemas.microsoft.com/office/drawing/2014/main" id="{AE3A741D-C19B-960A-5803-1C58871478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319516" y="3521124"/>
            <a:ext cx="2446362" cy="11085393"/>
          </a:xfrm>
          <a:prstGeom prst="rect">
            <a:avLst/>
          </a:prstGeom>
          <a:gradFill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DC39DE25-0E4E-0AA7-0932-1D78C2372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 flipV="1">
            <a:off x="-2878592" y="2878590"/>
            <a:ext cx="10281420" cy="4524239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4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8D6EA299-0840-6DEA-E670-C49AEBC87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6692485" y="6637582"/>
            <a:ext cx="4392908" cy="3649418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51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E319F58-F013-2BB3-4AE7-5498E53691B5}"/>
              </a:ext>
            </a:extLst>
          </p:cNvPr>
          <p:cNvSpPr txBox="1"/>
          <p:nvPr/>
        </p:nvSpPr>
        <p:spPr>
          <a:xfrm>
            <a:off x="12119967" y="3800214"/>
            <a:ext cx="5053851" cy="517174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 indent="-228600">
              <a:lnSpc>
                <a:spcPct val="90000"/>
              </a:lnSpc>
              <a:spcAft>
                <a:spcPts val="600"/>
              </a:spcAft>
              <a:buSzPts val="2160"/>
              <a:buFont typeface="Arial" panose="020B0604020202020204" pitchFamily="34" charset="0"/>
              <a:buChar char="•"/>
              <a:defRPr/>
            </a:pPr>
            <a:r>
              <a:rPr lang="en-US" sz="30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Open Sans"/>
                <a:hlinkClick r:id="rId4"/>
              </a:rPr>
              <a:t>https://kahoot.it/challenge/03672411?challenge-id=654da55e-59a0-49d9-9fbc-da30554cef8e_1781489289966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9" name="Google Shape;139;g3d75b4d7ed6_0_12"/>
          <p:cNvSpPr txBox="1"/>
          <p:nvPr/>
        </p:nvSpPr>
        <p:spPr>
          <a:xfrm>
            <a:off x="9986572" y="700906"/>
            <a:ext cx="6293511" cy="3078783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marR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Pts val="5600"/>
            </a:pPr>
            <a:r>
              <a:rPr lang="en-US" sz="6500" b="1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Open Sans"/>
              </a:rPr>
              <a:t>3. Presentación de los Estudiantes </a:t>
            </a:r>
          </a:p>
          <a:p>
            <a:pPr marL="0" marR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Pts val="5600"/>
            </a:pPr>
            <a:endParaRPr lang="en-US" sz="6500" b="1" kern="1200">
              <a:solidFill>
                <a:schemeClr val="tx1"/>
              </a:solidFill>
              <a:latin typeface="+mj-lt"/>
              <a:ea typeface="+mj-ea"/>
              <a:cs typeface="+mj-cs"/>
              <a:sym typeface="Open Sans"/>
            </a:endParaRPr>
          </a:p>
        </p:txBody>
      </p:sp>
      <p:sp>
        <p:nvSpPr>
          <p:cNvPr id="2057" name="Oval 2056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4447" y="831228"/>
            <a:ext cx="8613284" cy="8613283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estudiante feliz posando con carácter de vector de color semiplano de  libro. figura editable. persona de">
            <a:extLst>
              <a:ext uri="{FF2B5EF4-FFF2-40B4-BE49-F238E27FC236}">
                <a16:creationId xmlns:a16="http://schemas.microsoft.com/office/drawing/2014/main" id="{06D75739-B5D5-7070-E6FE-A51395DE7B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500"/>
          <a:stretch>
            <a:fillRect/>
          </a:stretch>
        </p:blipFill>
        <p:spPr bwMode="auto">
          <a:xfrm>
            <a:off x="758127" y="831226"/>
            <a:ext cx="8613283" cy="8613284"/>
          </a:xfrm>
          <a:custGeom>
            <a:avLst/>
            <a:gdLst/>
            <a:ahLst/>
            <a:cxnLst/>
            <a:rect l="l" t="t" r="r" b="b"/>
            <a:pathLst>
              <a:path w="1838528" h="1838528">
                <a:moveTo>
                  <a:pt x="919264" y="0"/>
                </a:moveTo>
                <a:cubicBezTo>
                  <a:pt x="1426959" y="0"/>
                  <a:pt x="1838528" y="411569"/>
                  <a:pt x="1838528" y="919264"/>
                </a:cubicBezTo>
                <a:cubicBezTo>
                  <a:pt x="1838528" y="1426959"/>
                  <a:pt x="1426959" y="1838528"/>
                  <a:pt x="919264" y="1838528"/>
                </a:cubicBezTo>
                <a:cubicBezTo>
                  <a:pt x="411569" y="1838528"/>
                  <a:pt x="0" y="1426959"/>
                  <a:pt x="0" y="919264"/>
                </a:cubicBezTo>
                <a:cubicBezTo>
                  <a:pt x="0" y="411569"/>
                  <a:pt x="411569" y="0"/>
                  <a:pt x="91926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9" name="!!plus graphic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434" y="1055518"/>
            <a:ext cx="257272" cy="257273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1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61" name="!!circle graphic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129" y="2344044"/>
            <a:ext cx="236318" cy="236317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1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0" name="Google Shape;140;g3d75b4d7ed6_0_12"/>
          <p:cNvSpPr txBox="1"/>
          <p:nvPr/>
        </p:nvSpPr>
        <p:spPr>
          <a:xfrm>
            <a:off x="9986572" y="4486227"/>
            <a:ext cx="6293510" cy="4370808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342900" marR="0" lvl="0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3000" b="1" i="1" kern="1200">
                <a:solidFill>
                  <a:schemeClr val="tx1">
                    <a:alpha val="80000"/>
                  </a:schemeClr>
                </a:solidFill>
                <a:latin typeface="+mn-lt"/>
                <a:ea typeface="+mn-ea"/>
                <a:cs typeface="+mn-cs"/>
                <a:sym typeface="Open Sans"/>
              </a:rPr>
              <a:t>Nombre completo</a:t>
            </a:r>
          </a:p>
          <a:p>
            <a:pPr marL="342900" marR="0" lvl="0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3000" b="1" i="1" kern="1200">
                <a:solidFill>
                  <a:schemeClr val="tx1">
                    <a:alpha val="80000"/>
                  </a:schemeClr>
                </a:solidFill>
                <a:latin typeface="+mn-lt"/>
                <a:ea typeface="+mn-ea"/>
                <a:cs typeface="+mn-cs"/>
                <a:sym typeface="Open Sans"/>
              </a:rPr>
              <a:t>Expectativas sobre el curso</a:t>
            </a:r>
          </a:p>
          <a:p>
            <a:pPr marL="342900" marR="0" lvl="0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3000" b="1" i="1" kern="1200">
                <a:solidFill>
                  <a:schemeClr val="tx1">
                    <a:alpha val="80000"/>
                  </a:schemeClr>
                </a:solidFill>
                <a:latin typeface="+mn-lt"/>
                <a:ea typeface="+mn-ea"/>
                <a:cs typeface="+mn-cs"/>
                <a:sym typeface="Open Sans"/>
              </a:rPr>
              <a:t>1 pasatiempo </a:t>
            </a:r>
          </a:p>
          <a:p>
            <a:pPr marL="342900" marR="0" lvl="0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endParaRPr lang="en-US" sz="3000" b="1" kern="1200">
              <a:solidFill>
                <a:schemeClr val="tx1">
                  <a:alpha val="80000"/>
                </a:schemeClr>
              </a:solidFill>
              <a:latin typeface="+mn-lt"/>
              <a:ea typeface="+mn-ea"/>
              <a:cs typeface="+mn-cs"/>
              <a:sym typeface="Open Sans"/>
            </a:endParaRPr>
          </a:p>
          <a:p>
            <a:pPr marL="0" marR="0" lvl="0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endParaRPr lang="en-US" sz="3000" b="1" kern="1200">
              <a:solidFill>
                <a:schemeClr val="tx1">
                  <a:alpha val="80000"/>
                </a:schemeClr>
              </a:solidFill>
              <a:latin typeface="+mn-lt"/>
              <a:ea typeface="+mn-ea"/>
              <a:cs typeface="+mn-cs"/>
              <a:sym typeface="Open Sans"/>
            </a:endParaRPr>
          </a:p>
          <a:p>
            <a:pPr marL="457200" marR="0" lvl="0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2400"/>
              <a:buFont typeface="Arial" panose="020B0604020202020204" pitchFamily="34" charset="0"/>
              <a:buChar char="•"/>
            </a:pPr>
            <a:endParaRPr lang="en-US" sz="3000" b="1" kern="1200">
              <a:solidFill>
                <a:schemeClr val="tx1">
                  <a:alpha val="80000"/>
                </a:schemeClr>
              </a:solidFill>
              <a:latin typeface="+mn-lt"/>
              <a:ea typeface="+mn-ea"/>
              <a:cs typeface="+mn-cs"/>
              <a:sym typeface="Open Sans"/>
            </a:endParaRPr>
          </a:p>
          <a:p>
            <a:pPr marL="0" marR="0" lvl="0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endParaRPr lang="en-US" sz="3000" b="1" i="0" u="none" strike="noStrike" kern="1200" cap="none">
              <a:solidFill>
                <a:schemeClr val="tx1">
                  <a:alpha val="80000"/>
                </a:schemeClr>
              </a:solidFill>
              <a:latin typeface="+mn-lt"/>
              <a:ea typeface="+mn-ea"/>
              <a:cs typeface="+mn-cs"/>
              <a:sym typeface="Open Sans"/>
            </a:endParaRPr>
          </a:p>
        </p:txBody>
      </p:sp>
      <p:sp>
        <p:nvSpPr>
          <p:cNvPr id="2063" name="!!dot graphic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81223" y="8662623"/>
            <a:ext cx="168639" cy="168639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2065" name="!!Straight Connector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7379243" y="5428908"/>
            <a:ext cx="0" cy="4858092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3" name="Rectangle 3078">
            <a:extLst>
              <a:ext uri="{FF2B5EF4-FFF2-40B4-BE49-F238E27FC236}">
                <a16:creationId xmlns:a16="http://schemas.microsoft.com/office/drawing/2014/main" id="{5AC1364A-3E3D-4F0D-8776-78AF3A270D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3428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Google Shape;149;g3d75b4d7ed6_0_21"/>
          <p:cNvSpPr txBox="1"/>
          <p:nvPr/>
        </p:nvSpPr>
        <p:spPr>
          <a:xfrm>
            <a:off x="7196251" y="493776"/>
            <a:ext cx="10133439" cy="2674620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marR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Pts val="5600"/>
            </a:pPr>
            <a:r>
              <a:rPr lang="en-US" sz="7500" b="1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Open Sans"/>
              </a:rPr>
              <a:t>4.  Senso de Horarios de Calificación                          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D540B8A-08D7-37A7-6488-E0FD0FE9C0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62378" y="0"/>
            <a:ext cx="4256688" cy="5861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84" name="sketchy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96241" y="3593592"/>
            <a:ext cx="6365383" cy="27432"/>
          </a:xfrm>
          <a:custGeom>
            <a:avLst/>
            <a:gdLst>
              <a:gd name="csX0" fmla="*/ 0 w 6365383"/>
              <a:gd name="csY0" fmla="*/ 0 h 27432"/>
              <a:gd name="csX1" fmla="*/ 636538 w 6365383"/>
              <a:gd name="csY1" fmla="*/ 0 h 27432"/>
              <a:gd name="csX2" fmla="*/ 1336730 w 6365383"/>
              <a:gd name="csY2" fmla="*/ 0 h 27432"/>
              <a:gd name="csX3" fmla="*/ 1909615 w 6365383"/>
              <a:gd name="csY3" fmla="*/ 0 h 27432"/>
              <a:gd name="csX4" fmla="*/ 2418846 w 6365383"/>
              <a:gd name="csY4" fmla="*/ 0 h 27432"/>
              <a:gd name="csX5" fmla="*/ 2928076 w 6365383"/>
              <a:gd name="csY5" fmla="*/ 0 h 27432"/>
              <a:gd name="csX6" fmla="*/ 3373653 w 6365383"/>
              <a:gd name="csY6" fmla="*/ 0 h 27432"/>
              <a:gd name="csX7" fmla="*/ 4137499 w 6365383"/>
              <a:gd name="csY7" fmla="*/ 0 h 27432"/>
              <a:gd name="csX8" fmla="*/ 4901345 w 6365383"/>
              <a:gd name="csY8" fmla="*/ 0 h 27432"/>
              <a:gd name="csX9" fmla="*/ 5665191 w 6365383"/>
              <a:gd name="csY9" fmla="*/ 0 h 27432"/>
              <a:gd name="csX10" fmla="*/ 6365383 w 6365383"/>
              <a:gd name="csY10" fmla="*/ 0 h 27432"/>
              <a:gd name="csX11" fmla="*/ 6365383 w 6365383"/>
              <a:gd name="csY11" fmla="*/ 27432 h 27432"/>
              <a:gd name="csX12" fmla="*/ 5728845 w 6365383"/>
              <a:gd name="csY12" fmla="*/ 27432 h 27432"/>
              <a:gd name="csX13" fmla="*/ 5028653 w 6365383"/>
              <a:gd name="csY13" fmla="*/ 27432 h 27432"/>
              <a:gd name="csX14" fmla="*/ 4583076 w 6365383"/>
              <a:gd name="csY14" fmla="*/ 27432 h 27432"/>
              <a:gd name="csX15" fmla="*/ 4137499 w 6365383"/>
              <a:gd name="csY15" fmla="*/ 27432 h 27432"/>
              <a:gd name="csX16" fmla="*/ 3691922 w 6365383"/>
              <a:gd name="csY16" fmla="*/ 27432 h 27432"/>
              <a:gd name="csX17" fmla="*/ 3182692 w 6365383"/>
              <a:gd name="csY17" fmla="*/ 27432 h 27432"/>
              <a:gd name="csX18" fmla="*/ 2673461 w 6365383"/>
              <a:gd name="csY18" fmla="*/ 27432 h 27432"/>
              <a:gd name="csX19" fmla="*/ 2164230 w 6365383"/>
              <a:gd name="csY19" fmla="*/ 27432 h 27432"/>
              <a:gd name="csX20" fmla="*/ 1655000 w 6365383"/>
              <a:gd name="csY20" fmla="*/ 27432 h 27432"/>
              <a:gd name="csX21" fmla="*/ 1145769 w 6365383"/>
              <a:gd name="csY21" fmla="*/ 27432 h 27432"/>
              <a:gd name="csX22" fmla="*/ 0 w 6365383"/>
              <a:gd name="csY22" fmla="*/ 27432 h 27432"/>
              <a:gd name="csX23" fmla="*/ 0 w 6365383"/>
              <a:gd name="csY23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6365383" h="27432" fill="none" extrusionOk="0">
                <a:moveTo>
                  <a:pt x="0" y="0"/>
                </a:moveTo>
                <a:cubicBezTo>
                  <a:pt x="164014" y="-28800"/>
                  <a:pt x="392589" y="16597"/>
                  <a:pt x="636538" y="0"/>
                </a:cubicBezTo>
                <a:cubicBezTo>
                  <a:pt x="880487" y="-16597"/>
                  <a:pt x="1095224" y="-7871"/>
                  <a:pt x="1336730" y="0"/>
                </a:cubicBezTo>
                <a:cubicBezTo>
                  <a:pt x="1578236" y="7871"/>
                  <a:pt x="1649337" y="-22384"/>
                  <a:pt x="1909615" y="0"/>
                </a:cubicBezTo>
                <a:cubicBezTo>
                  <a:pt x="2169893" y="22384"/>
                  <a:pt x="2279697" y="7436"/>
                  <a:pt x="2418846" y="0"/>
                </a:cubicBezTo>
                <a:cubicBezTo>
                  <a:pt x="2557995" y="-7436"/>
                  <a:pt x="2719158" y="24395"/>
                  <a:pt x="2928076" y="0"/>
                </a:cubicBezTo>
                <a:cubicBezTo>
                  <a:pt x="3136994" y="-24395"/>
                  <a:pt x="3236398" y="-16046"/>
                  <a:pt x="3373653" y="0"/>
                </a:cubicBezTo>
                <a:cubicBezTo>
                  <a:pt x="3510908" y="16046"/>
                  <a:pt x="3933654" y="-18835"/>
                  <a:pt x="4137499" y="0"/>
                </a:cubicBezTo>
                <a:cubicBezTo>
                  <a:pt x="4341344" y="18835"/>
                  <a:pt x="4634949" y="16518"/>
                  <a:pt x="4901345" y="0"/>
                </a:cubicBezTo>
                <a:cubicBezTo>
                  <a:pt x="5167741" y="-16518"/>
                  <a:pt x="5482502" y="-23233"/>
                  <a:pt x="5665191" y="0"/>
                </a:cubicBezTo>
                <a:cubicBezTo>
                  <a:pt x="5847880" y="23233"/>
                  <a:pt x="6038909" y="-19558"/>
                  <a:pt x="6365383" y="0"/>
                </a:cubicBezTo>
                <a:cubicBezTo>
                  <a:pt x="6366317" y="12270"/>
                  <a:pt x="6364320" y="20068"/>
                  <a:pt x="6365383" y="27432"/>
                </a:cubicBezTo>
                <a:cubicBezTo>
                  <a:pt x="6160909" y="45028"/>
                  <a:pt x="5918554" y="42323"/>
                  <a:pt x="5728845" y="27432"/>
                </a:cubicBezTo>
                <a:cubicBezTo>
                  <a:pt x="5539136" y="12541"/>
                  <a:pt x="5172149" y="23835"/>
                  <a:pt x="5028653" y="27432"/>
                </a:cubicBezTo>
                <a:cubicBezTo>
                  <a:pt x="4885157" y="31029"/>
                  <a:pt x="4768966" y="33290"/>
                  <a:pt x="4583076" y="27432"/>
                </a:cubicBezTo>
                <a:cubicBezTo>
                  <a:pt x="4397186" y="21574"/>
                  <a:pt x="4295537" y="38724"/>
                  <a:pt x="4137499" y="27432"/>
                </a:cubicBezTo>
                <a:cubicBezTo>
                  <a:pt x="3979461" y="16140"/>
                  <a:pt x="3895902" y="23317"/>
                  <a:pt x="3691922" y="27432"/>
                </a:cubicBezTo>
                <a:cubicBezTo>
                  <a:pt x="3487942" y="31547"/>
                  <a:pt x="3348597" y="42606"/>
                  <a:pt x="3182692" y="27432"/>
                </a:cubicBezTo>
                <a:cubicBezTo>
                  <a:pt x="3016787" y="12259"/>
                  <a:pt x="2922425" y="45987"/>
                  <a:pt x="2673461" y="27432"/>
                </a:cubicBezTo>
                <a:cubicBezTo>
                  <a:pt x="2424497" y="8877"/>
                  <a:pt x="2406338" y="46461"/>
                  <a:pt x="2164230" y="27432"/>
                </a:cubicBezTo>
                <a:cubicBezTo>
                  <a:pt x="1922122" y="8403"/>
                  <a:pt x="1843534" y="2368"/>
                  <a:pt x="1655000" y="27432"/>
                </a:cubicBezTo>
                <a:cubicBezTo>
                  <a:pt x="1466466" y="52497"/>
                  <a:pt x="1384300" y="39658"/>
                  <a:pt x="1145769" y="27432"/>
                </a:cubicBezTo>
                <a:cubicBezTo>
                  <a:pt x="907238" y="15206"/>
                  <a:pt x="344177" y="36391"/>
                  <a:pt x="0" y="27432"/>
                </a:cubicBezTo>
                <a:cubicBezTo>
                  <a:pt x="-1194" y="21937"/>
                  <a:pt x="1202" y="7917"/>
                  <a:pt x="0" y="0"/>
                </a:cubicBezTo>
                <a:close/>
              </a:path>
              <a:path w="6365383" h="27432" stroke="0" extrusionOk="0">
                <a:moveTo>
                  <a:pt x="0" y="0"/>
                </a:moveTo>
                <a:cubicBezTo>
                  <a:pt x="152654" y="12967"/>
                  <a:pt x="297359" y="-4977"/>
                  <a:pt x="509231" y="0"/>
                </a:cubicBezTo>
                <a:cubicBezTo>
                  <a:pt x="721103" y="4977"/>
                  <a:pt x="792740" y="-12744"/>
                  <a:pt x="954807" y="0"/>
                </a:cubicBezTo>
                <a:cubicBezTo>
                  <a:pt x="1116874" y="12744"/>
                  <a:pt x="1322429" y="24743"/>
                  <a:pt x="1464038" y="0"/>
                </a:cubicBezTo>
                <a:cubicBezTo>
                  <a:pt x="1605647" y="-24743"/>
                  <a:pt x="1947393" y="-20672"/>
                  <a:pt x="2100576" y="0"/>
                </a:cubicBezTo>
                <a:cubicBezTo>
                  <a:pt x="2253759" y="20672"/>
                  <a:pt x="2622231" y="-30966"/>
                  <a:pt x="2800769" y="0"/>
                </a:cubicBezTo>
                <a:cubicBezTo>
                  <a:pt x="2979307" y="30966"/>
                  <a:pt x="3356872" y="-13631"/>
                  <a:pt x="3564614" y="0"/>
                </a:cubicBezTo>
                <a:cubicBezTo>
                  <a:pt x="3772356" y="13631"/>
                  <a:pt x="4163183" y="-4973"/>
                  <a:pt x="4328460" y="0"/>
                </a:cubicBezTo>
                <a:cubicBezTo>
                  <a:pt x="4493737" y="4973"/>
                  <a:pt x="4672761" y="-9287"/>
                  <a:pt x="4901345" y="0"/>
                </a:cubicBezTo>
                <a:cubicBezTo>
                  <a:pt x="5129930" y="9287"/>
                  <a:pt x="5395146" y="9436"/>
                  <a:pt x="5601537" y="0"/>
                </a:cubicBezTo>
                <a:cubicBezTo>
                  <a:pt x="5807928" y="-9436"/>
                  <a:pt x="5983747" y="-13862"/>
                  <a:pt x="6365383" y="0"/>
                </a:cubicBezTo>
                <a:cubicBezTo>
                  <a:pt x="6365699" y="13405"/>
                  <a:pt x="6365869" y="14360"/>
                  <a:pt x="6365383" y="27432"/>
                </a:cubicBezTo>
                <a:cubicBezTo>
                  <a:pt x="6195306" y="29393"/>
                  <a:pt x="5872535" y="56613"/>
                  <a:pt x="5728845" y="27432"/>
                </a:cubicBezTo>
                <a:cubicBezTo>
                  <a:pt x="5585155" y="-1749"/>
                  <a:pt x="5272464" y="11679"/>
                  <a:pt x="5028653" y="27432"/>
                </a:cubicBezTo>
                <a:cubicBezTo>
                  <a:pt x="4784842" y="43185"/>
                  <a:pt x="4688244" y="28658"/>
                  <a:pt x="4455768" y="27432"/>
                </a:cubicBezTo>
                <a:cubicBezTo>
                  <a:pt x="4223293" y="26206"/>
                  <a:pt x="4032880" y="15477"/>
                  <a:pt x="3882884" y="27432"/>
                </a:cubicBezTo>
                <a:cubicBezTo>
                  <a:pt x="3732888" y="39387"/>
                  <a:pt x="3278726" y="-7170"/>
                  <a:pt x="3119038" y="27432"/>
                </a:cubicBezTo>
                <a:cubicBezTo>
                  <a:pt x="2959350" y="62034"/>
                  <a:pt x="2786856" y="40315"/>
                  <a:pt x="2609807" y="27432"/>
                </a:cubicBezTo>
                <a:cubicBezTo>
                  <a:pt x="2432758" y="14549"/>
                  <a:pt x="2064373" y="16547"/>
                  <a:pt x="1909615" y="27432"/>
                </a:cubicBezTo>
                <a:cubicBezTo>
                  <a:pt x="1754857" y="38317"/>
                  <a:pt x="1663685" y="27374"/>
                  <a:pt x="1464038" y="27432"/>
                </a:cubicBezTo>
                <a:cubicBezTo>
                  <a:pt x="1264391" y="27490"/>
                  <a:pt x="1071013" y="1487"/>
                  <a:pt x="827500" y="27432"/>
                </a:cubicBezTo>
                <a:cubicBezTo>
                  <a:pt x="583987" y="53377"/>
                  <a:pt x="349818" y="3910"/>
                  <a:pt x="0" y="27432"/>
                </a:cubicBezTo>
                <a:cubicBezTo>
                  <a:pt x="-116" y="21844"/>
                  <a:pt x="591" y="653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Google Shape;150;g3d75b4d7ed6_0_21"/>
          <p:cNvSpPr txBox="1"/>
          <p:nvPr/>
        </p:nvSpPr>
        <p:spPr>
          <a:xfrm>
            <a:off x="7196241" y="4059936"/>
            <a:ext cx="10133439" cy="5225796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 lvl="0" indent="-228600">
              <a:lnSpc>
                <a:spcPct val="90000"/>
              </a:lnSpc>
              <a:spcAft>
                <a:spcPts val="600"/>
              </a:spcAft>
              <a:buSzPts val="2400"/>
              <a:buFont typeface="Arial" panose="020B0604020202020204" pitchFamily="34" charset="0"/>
              <a:buChar char="•"/>
            </a:pPr>
            <a:r>
              <a:rPr lang="en-US" sz="3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 Este formulario recopila la disponibilidad horaria de los estudiantes para la evaluación de proyectos y prácticas. El registro nos permitirá organizar y seleccionar las fechas más adecuadas para las calificaciones a lo largo del semestre, tomando en cuenta sus tiempos.  </a:t>
            </a:r>
            <a:endParaRPr lang="en-US" sz="3300" b="1" i="0" u="none" strike="noStrike" kern="1200" cap="none">
              <a:solidFill>
                <a:schemeClr val="tx1"/>
              </a:solidFill>
              <a:latin typeface="+mn-lt"/>
              <a:ea typeface="+mn-ea"/>
              <a:cs typeface="+mn-cs"/>
              <a:sym typeface="Open Sans"/>
            </a:endParaRPr>
          </a:p>
        </p:txBody>
      </p:sp>
      <p:grpSp>
        <p:nvGrpSpPr>
          <p:cNvPr id="151" name="Google Shape;151;g3d75b4d7ed6_0_21"/>
          <p:cNvGrpSpPr/>
          <p:nvPr/>
        </p:nvGrpSpPr>
        <p:grpSpPr>
          <a:xfrm>
            <a:off x="480060" y="7015251"/>
            <a:ext cx="5993892" cy="1566495"/>
            <a:chOff x="0" y="-38100"/>
            <a:chExt cx="4014000" cy="4319762"/>
          </a:xfrm>
        </p:grpSpPr>
        <p:sp>
          <p:nvSpPr>
            <p:cNvPr id="152" name="Google Shape;152;g3d75b4d7ed6_0_21"/>
            <p:cNvSpPr/>
            <p:nvPr/>
          </p:nvSpPr>
          <p:spPr>
            <a:xfrm>
              <a:off x="0" y="0"/>
              <a:ext cx="4013925" cy="4180062"/>
            </a:xfrm>
            <a:custGeom>
              <a:avLst/>
              <a:gdLst/>
              <a:ahLst/>
              <a:cxnLst/>
              <a:rect l="l" t="t" r="r" b="b"/>
              <a:pathLst>
                <a:path w="4013925" h="4180062" extrusionOk="0">
                  <a:moveTo>
                    <a:pt x="0" y="0"/>
                  </a:moveTo>
                  <a:lnTo>
                    <a:pt x="4013925" y="0"/>
                  </a:lnTo>
                  <a:lnTo>
                    <a:pt x="4013925" y="4180062"/>
                  </a:lnTo>
                  <a:lnTo>
                    <a:pt x="0" y="4180062"/>
                  </a:lnTo>
                  <a:close/>
                </a:path>
              </a:pathLst>
            </a:custGeom>
            <a:solidFill>
              <a:srgbClr val="FF5757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53" name="Google Shape;153;g3d75b4d7ed6_0_21"/>
            <p:cNvSpPr/>
            <p:nvPr/>
          </p:nvSpPr>
          <p:spPr>
            <a:xfrm>
              <a:off x="0" y="0"/>
              <a:ext cx="4013925" cy="4281662"/>
            </a:xfrm>
            <a:custGeom>
              <a:avLst/>
              <a:gdLst/>
              <a:ahLst/>
              <a:cxnLst/>
              <a:rect l="l" t="t" r="r" b="b"/>
              <a:pathLst>
                <a:path w="4013925" h="4281662" extrusionOk="0">
                  <a:moveTo>
                    <a:pt x="0" y="4180062"/>
                  </a:moveTo>
                  <a:lnTo>
                    <a:pt x="4013925" y="4180062"/>
                  </a:lnTo>
                  <a:lnTo>
                    <a:pt x="3886925" y="4281662"/>
                  </a:lnTo>
                  <a:cubicBezTo>
                    <a:pt x="3886925" y="4281662"/>
                    <a:pt x="2896325" y="4205462"/>
                    <a:pt x="2794725" y="4205462"/>
                  </a:cubicBezTo>
                  <a:lnTo>
                    <a:pt x="1219200" y="4205462"/>
                  </a:lnTo>
                  <a:cubicBezTo>
                    <a:pt x="1117600" y="4205462"/>
                    <a:pt x="127000" y="4281662"/>
                    <a:pt x="127000" y="4281662"/>
                  </a:cubicBezTo>
                  <a:lnTo>
                    <a:pt x="0" y="4180062"/>
                  </a:lnTo>
                  <a:lnTo>
                    <a:pt x="0" y="0"/>
                  </a:lnTo>
                  <a:lnTo>
                    <a:pt x="4013925" y="0"/>
                  </a:lnTo>
                  <a:lnTo>
                    <a:pt x="4013925" y="4180062"/>
                  </a:lnTo>
                  <a:lnTo>
                    <a:pt x="12700" y="4180062"/>
                  </a:lnTo>
                  <a:lnTo>
                    <a:pt x="12700" y="4167362"/>
                  </a:lnTo>
                  <a:lnTo>
                    <a:pt x="4001225" y="4167362"/>
                  </a:lnTo>
                  <a:lnTo>
                    <a:pt x="4001225" y="12700"/>
                  </a:lnTo>
                  <a:lnTo>
                    <a:pt x="12700" y="12700"/>
                  </a:lnTo>
                  <a:lnTo>
                    <a:pt x="12700" y="4180062"/>
                  </a:lnTo>
                </a:path>
              </a:pathLst>
            </a:custGeom>
            <a:solidFill>
              <a:srgbClr val="394C60">
                <a:alpha val="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g3d75b4d7ed6_0_21"/>
            <p:cNvSpPr txBox="1"/>
            <p:nvPr/>
          </p:nvSpPr>
          <p:spPr>
            <a:xfrm>
              <a:off x="0" y="-38100"/>
              <a:ext cx="4014000" cy="376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13625" tIns="313625" rIns="313625" bIns="313625" anchor="t" anchorCtr="0">
              <a:noAutofit/>
            </a:bodyPr>
            <a:lstStyle/>
            <a:p>
              <a:pPr>
                <a:lnSpc>
                  <a:spcPct val="140046"/>
                </a:lnSpc>
                <a:spcAft>
                  <a:spcPts val="600"/>
                </a:spcAft>
                <a:buSzPts val="2160"/>
              </a:pPr>
              <a:r>
                <a:rPr lang="en-US" sz="1800" b="0" i="0" u="none" strike="noStrike" cap="none" dirty="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  <a:hlinkClick r:id="rId4"/>
                </a:rPr>
                <a:t>https://docs.google.com/forms/d/e/1FAIpQLSfsUuM88COKaYvpZmIqnvbd5mE8T_0_2WKpdauBHrni8TVvew/viewform</a:t>
              </a:r>
              <a:endParaRPr sz="18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362D44EE-C852-4460-B8B5-C4F2BC205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Google Shape;159;g3d75b4d7ed6_0_30"/>
          <p:cNvSpPr txBox="1"/>
          <p:nvPr/>
        </p:nvSpPr>
        <p:spPr>
          <a:xfrm>
            <a:off x="9292074" y="1109967"/>
            <a:ext cx="8002395" cy="4506217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marR="0" lv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Pts val="5600"/>
            </a:pPr>
            <a:r>
              <a:rPr lang="en-US" sz="6000" b="1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Open Sans"/>
              </a:rPr>
              <a:t>5. Programa del Curso </a:t>
            </a:r>
          </a:p>
          <a:p>
            <a:pPr marL="0" marR="0" lv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Pts val="5600"/>
            </a:pPr>
            <a:endParaRPr lang="en-US" sz="6000" b="1" kern="1200">
              <a:solidFill>
                <a:schemeClr val="tx1"/>
              </a:solidFill>
              <a:latin typeface="+mj-lt"/>
              <a:ea typeface="+mj-ea"/>
              <a:cs typeface="+mj-cs"/>
              <a:sym typeface="Open Sans"/>
            </a:endParaRPr>
          </a:p>
        </p:txBody>
      </p:sp>
      <p:sp>
        <p:nvSpPr>
          <p:cNvPr id="160" name="Google Shape;160;g3d75b4d7ed6_0_30"/>
          <p:cNvSpPr txBox="1"/>
          <p:nvPr/>
        </p:nvSpPr>
        <p:spPr>
          <a:xfrm>
            <a:off x="9292072" y="5754295"/>
            <a:ext cx="8002397" cy="3283821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 marR="0"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r>
              <a:rPr lang="en-US" sz="2400" b="1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Open Sans"/>
              </a:rPr>
              <a:t>Presentación del programa del curso</a:t>
            </a:r>
            <a:endParaRPr lang="en-US" sz="2400" b="1" i="0" u="none" strike="noStrike" kern="1200" cap="none">
              <a:solidFill>
                <a:schemeClr val="tx1"/>
              </a:solidFill>
              <a:latin typeface="+mn-lt"/>
              <a:ea typeface="+mn-ea"/>
              <a:cs typeface="+mn-cs"/>
              <a:sym typeface="Open Sans"/>
            </a:endParaRPr>
          </a:p>
        </p:txBody>
      </p:sp>
      <p:sp>
        <p:nvSpPr>
          <p:cNvPr id="4105" name="Freeform: Shape 4104">
            <a:extLst>
              <a:ext uri="{FF2B5EF4-FFF2-40B4-BE49-F238E27FC236}">
                <a16:creationId xmlns:a16="http://schemas.microsoft.com/office/drawing/2014/main" id="{658970D8-8D1D-4B5C-894B-E871CC865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5793" y="1"/>
            <a:ext cx="1732713" cy="886514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107" name="Freeform: Shape 4106">
            <a:extLst>
              <a:ext uri="{FF2B5EF4-FFF2-40B4-BE49-F238E27FC236}">
                <a16:creationId xmlns:a16="http://schemas.microsoft.com/office/drawing/2014/main" id="{F227E5B6-9132-43CA-B503-37A18562A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523578" y="0"/>
            <a:ext cx="2606101" cy="1439304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109" name="Freeform: Shape 4108">
            <a:extLst>
              <a:ext uri="{FF2B5EF4-FFF2-40B4-BE49-F238E27FC236}">
                <a16:creationId xmlns:a16="http://schemas.microsoft.com/office/drawing/2014/main" id="{03C2051E-A88D-48E5-BACF-AAED17892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374367"/>
            <a:ext cx="239611" cy="829494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111" name="Freeform: Shape 4110">
            <a:extLst>
              <a:ext uri="{FF2B5EF4-FFF2-40B4-BE49-F238E27FC236}">
                <a16:creationId xmlns:a16="http://schemas.microsoft.com/office/drawing/2014/main" id="{7821A508-2985-4905-874A-527429BAA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8753473"/>
            <a:ext cx="2322270" cy="1533527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113" name="Freeform: Shape 4112">
            <a:extLst>
              <a:ext uri="{FF2B5EF4-FFF2-40B4-BE49-F238E27FC236}">
                <a16:creationId xmlns:a16="http://schemas.microsoft.com/office/drawing/2014/main" id="{D2929CB1-0E3C-4B2D-ADC5-0154FB33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546641" y="8576859"/>
            <a:ext cx="2657414" cy="1710142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4098" name="Picture 2" descr="Programa - Iconos gratis de archivos y carpetas">
            <a:extLst>
              <a:ext uri="{FF2B5EF4-FFF2-40B4-BE49-F238E27FC236}">
                <a16:creationId xmlns:a16="http://schemas.microsoft.com/office/drawing/2014/main" id="{3F9D3632-734B-4827-B0BB-3A05D4C3E4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-2"/>
          <a:stretch>
            <a:fillRect/>
          </a:stretch>
        </p:blipFill>
        <p:spPr bwMode="auto">
          <a:xfrm>
            <a:off x="947760" y="898080"/>
            <a:ext cx="7767373" cy="7767373"/>
          </a:xfrm>
          <a:custGeom>
            <a:avLst/>
            <a:gdLst/>
            <a:ahLst/>
            <a:cxnLst/>
            <a:rect l="l" t="t" r="r" b="b"/>
            <a:pathLst>
              <a:path w="3741748" h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15" name="Freeform: Shape 4114">
            <a:extLst>
              <a:ext uri="{FF2B5EF4-FFF2-40B4-BE49-F238E27FC236}">
                <a16:creationId xmlns:a16="http://schemas.microsoft.com/office/drawing/2014/main" id="{5F2F0C84-BE8C-4DC2-A6D3-30349A801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780769" y="9388134"/>
            <a:ext cx="2348910" cy="898867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d75b4d7ed6_0_39"/>
          <p:cNvSpPr txBox="1"/>
          <p:nvPr/>
        </p:nvSpPr>
        <p:spPr>
          <a:xfrm>
            <a:off x="12119967" y="1112086"/>
            <a:ext cx="5053851" cy="2424305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dk1"/>
              </a:buClr>
              <a:buSzPts val="2400"/>
            </a:pPr>
            <a:r>
              <a:rPr lang="en-US" sz="4800" b="1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Open Sans"/>
              </a:rPr>
              <a:t>6. Evaluación de Conocimientos del Curso Actual                                  </a:t>
            </a:r>
          </a:p>
        </p:txBody>
      </p:sp>
      <p:pic>
        <p:nvPicPr>
          <p:cNvPr id="174" name="Picture 170" descr="Colored pins pinned on a calendar">
            <a:extLst>
              <a:ext uri="{FF2B5EF4-FFF2-40B4-BE49-F238E27FC236}">
                <a16:creationId xmlns:a16="http://schemas.microsoft.com/office/drawing/2014/main" id="{224D007D-511B-7110-EDF5-0E8E0864EC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265" r="7805"/>
          <a:stretch>
            <a:fillRect/>
          </a:stretch>
        </p:blipFill>
        <p:spPr>
          <a:xfrm>
            <a:off x="20" y="10"/>
            <a:ext cx="11085374" cy="10286990"/>
          </a:xfrm>
          <a:prstGeom prst="rect">
            <a:avLst/>
          </a:prstGeom>
        </p:spPr>
      </p:pic>
      <p:sp>
        <p:nvSpPr>
          <p:cNvPr id="175" name="Rectangle 174">
            <a:extLst>
              <a:ext uri="{FF2B5EF4-FFF2-40B4-BE49-F238E27FC236}">
                <a16:creationId xmlns:a16="http://schemas.microsoft.com/office/drawing/2014/main" id="{AE3A741D-C19B-960A-5803-1C58871478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319516" y="3521124"/>
            <a:ext cx="2446362" cy="11085393"/>
          </a:xfrm>
          <a:prstGeom prst="rect">
            <a:avLst/>
          </a:prstGeom>
          <a:gradFill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DC39DE25-0E4E-0AA7-0932-1D78C2372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 flipV="1">
            <a:off x="-2878592" y="2878590"/>
            <a:ext cx="10281420" cy="4524239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4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8D6EA299-0840-6DEA-E670-C49AEBC87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6692485" y="6637582"/>
            <a:ext cx="4392908" cy="3649418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51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3" name="CuadroTexto 2">
            <a:hlinkClick r:id="rId4"/>
            <a:extLst>
              <a:ext uri="{FF2B5EF4-FFF2-40B4-BE49-F238E27FC236}">
                <a16:creationId xmlns:a16="http://schemas.microsoft.com/office/drawing/2014/main" id="{46F88CEA-3A87-8EB7-F193-24745AAF0E8F}"/>
              </a:ext>
            </a:extLst>
          </p:cNvPr>
          <p:cNvSpPr txBox="1"/>
          <p:nvPr/>
        </p:nvSpPr>
        <p:spPr>
          <a:xfrm>
            <a:off x="12119967" y="3800214"/>
            <a:ext cx="5053851" cy="517174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000" kern="1200" dirty="0">
                <a:solidFill>
                  <a:schemeClr val="tx1"/>
                </a:solidFill>
                <a:latin typeface="+mn-lt"/>
                <a:ea typeface="+mn-ea"/>
                <a:cs typeface="+mn-cs"/>
                <a:hlinkClick r:id="rId4"/>
              </a:rPr>
              <a:t>https://kahoot.it/challenge/05285530?challenge-id=654da55e-59a0-49d9-9fbc-da30554cef8e_1781490014680</a:t>
            </a:r>
            <a:endParaRPr lang="en-US" sz="30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d75b4d7ed6_1_10"/>
          <p:cNvSpPr txBox="1"/>
          <p:nvPr/>
        </p:nvSpPr>
        <p:spPr>
          <a:xfrm>
            <a:off x="12230100" y="1692141"/>
            <a:ext cx="5151270" cy="2122905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0" marR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Pts val="5600"/>
            </a:pPr>
            <a:r>
              <a:rPr lang="en-US" sz="4800" b="1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Open Sans"/>
              </a:rPr>
              <a:t>7. Medios de comunicación</a:t>
            </a:r>
          </a:p>
          <a:p>
            <a:pPr marL="0" marR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Pts val="5600"/>
            </a:pPr>
            <a:endParaRPr lang="en-US" sz="4800" b="1" kern="1200">
              <a:solidFill>
                <a:schemeClr val="tx1"/>
              </a:solidFill>
              <a:latin typeface="+mj-lt"/>
              <a:ea typeface="+mj-ea"/>
              <a:cs typeface="+mj-cs"/>
              <a:sym typeface="Open Sans"/>
            </a:endParaRPr>
          </a:p>
        </p:txBody>
      </p:sp>
      <p:pic>
        <p:nvPicPr>
          <p:cNvPr id="184" name="Picture 180" descr="Person holding mouse">
            <a:extLst>
              <a:ext uri="{FF2B5EF4-FFF2-40B4-BE49-F238E27FC236}">
                <a16:creationId xmlns:a16="http://schemas.microsoft.com/office/drawing/2014/main" id="{FBAC1E49-0A8D-3EF2-CAFB-8923177ED5C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842" r="11453"/>
          <a:stretch>
            <a:fillRect/>
          </a:stretch>
        </p:blipFill>
        <p:spPr>
          <a:xfrm>
            <a:off x="-14829" y="10"/>
            <a:ext cx="11358907" cy="10286990"/>
          </a:xfrm>
          <a:prstGeom prst="rect">
            <a:avLst/>
          </a:prstGeom>
        </p:spPr>
      </p:pic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249EDD1B-F94D-B4E6-ACAA-566B9A26FD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299085" y="1306719"/>
            <a:ext cx="1105408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Google Shape;179;g3d75b4d7ed6_1_10"/>
          <p:cNvSpPr txBox="1"/>
          <p:nvPr/>
        </p:nvSpPr>
        <p:spPr>
          <a:xfrm>
            <a:off x="12230100" y="3815046"/>
            <a:ext cx="5151270" cy="5398528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 marL="0" marR="0" lvl="0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3000" b="1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Open Sans"/>
              </a:rPr>
              <a:t>UEDI: medio official de comunicación (foros)</a:t>
            </a:r>
          </a:p>
          <a:p>
            <a:pPr marL="0" marR="0" lvl="0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endParaRPr lang="en-US" sz="3000" b="1" kern="1200">
              <a:solidFill>
                <a:schemeClr val="tx1"/>
              </a:solidFill>
              <a:latin typeface="+mn-lt"/>
              <a:ea typeface="+mn-ea"/>
              <a:cs typeface="+mn-cs"/>
              <a:sym typeface="Open Sans"/>
            </a:endParaRPr>
          </a:p>
          <a:p>
            <a:pPr marL="0" marR="0" lvl="0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3000" b="1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Open Sans"/>
              </a:rPr>
              <a:t>Datos tutor:</a:t>
            </a:r>
          </a:p>
          <a:p>
            <a:pPr marL="0" marR="0" lvl="0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3000" b="1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Open Sans"/>
              </a:rPr>
              <a:t>CORREO: 3681430070101@ingenieria.usac.edu.gt</a:t>
            </a:r>
          </a:p>
          <a:p>
            <a:pPr marL="0" marR="0" lvl="0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3000" b="1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Open Sans"/>
              </a:rPr>
              <a:t>ASUNTO: [IPC2]DUDA/CONSULTA</a:t>
            </a:r>
          </a:p>
          <a:p>
            <a:pPr marL="0" marR="0" lvl="0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endParaRPr lang="en-US" sz="3000" b="1" kern="1200">
              <a:solidFill>
                <a:schemeClr val="tx1"/>
              </a:solidFill>
              <a:latin typeface="+mn-lt"/>
              <a:ea typeface="+mn-ea"/>
              <a:cs typeface="+mn-cs"/>
              <a:sym typeface="Open Sans"/>
            </a:endParaRPr>
          </a:p>
          <a:p>
            <a:pPr marL="0" marR="0" lvl="0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endParaRPr lang="en-US" sz="3000" b="1" kern="1200">
              <a:solidFill>
                <a:schemeClr val="tx1"/>
              </a:solidFill>
              <a:latin typeface="+mn-lt"/>
              <a:ea typeface="+mn-ea"/>
              <a:cs typeface="+mn-cs"/>
              <a:sym typeface="Open Sans"/>
            </a:endParaRPr>
          </a:p>
          <a:p>
            <a:pPr marL="457200" marR="0" lvl="0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2400"/>
              <a:buFont typeface="Arial" panose="020B0604020202020204" pitchFamily="34" charset="0"/>
              <a:buChar char="•"/>
            </a:pPr>
            <a:endParaRPr lang="en-US" sz="3000" b="1" kern="1200">
              <a:solidFill>
                <a:schemeClr val="tx1"/>
              </a:solidFill>
              <a:latin typeface="+mn-lt"/>
              <a:ea typeface="+mn-ea"/>
              <a:cs typeface="+mn-cs"/>
              <a:sym typeface="Open Sans"/>
            </a:endParaRPr>
          </a:p>
          <a:p>
            <a:pPr marL="0" marR="0" lvl="0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endParaRPr lang="en-US" sz="3000" b="1" i="0" u="none" strike="noStrike" kern="1200" cap="none">
              <a:solidFill>
                <a:schemeClr val="tx1"/>
              </a:solidFill>
              <a:latin typeface="+mn-lt"/>
              <a:ea typeface="+mn-ea"/>
              <a:cs typeface="+mn-cs"/>
              <a:sym typeface="Open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4"/>
          <p:cNvSpPr/>
          <p:nvPr/>
        </p:nvSpPr>
        <p:spPr>
          <a:xfrm>
            <a:off x="3861682" y="595298"/>
            <a:ext cx="10564636" cy="8663002"/>
          </a:xfrm>
          <a:custGeom>
            <a:avLst/>
            <a:gdLst/>
            <a:ahLst/>
            <a:cxnLst/>
            <a:rect l="l" t="t" r="r" b="b"/>
            <a:pathLst>
              <a:path w="10564636" h="8663002" extrusionOk="0">
                <a:moveTo>
                  <a:pt x="0" y="0"/>
                </a:moveTo>
                <a:lnTo>
                  <a:pt x="10564636" y="0"/>
                </a:lnTo>
                <a:lnTo>
                  <a:pt x="10564636" y="8663002"/>
                </a:lnTo>
                <a:lnTo>
                  <a:pt x="0" y="8663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5"/>
          <p:cNvSpPr/>
          <p:nvPr/>
        </p:nvSpPr>
        <p:spPr>
          <a:xfrm>
            <a:off x="915620" y="118050"/>
            <a:ext cx="16659109" cy="10287000"/>
          </a:xfrm>
          <a:custGeom>
            <a:avLst/>
            <a:gdLst/>
            <a:ahLst/>
            <a:cxnLst/>
            <a:rect l="l" t="t" r="r" b="b"/>
            <a:pathLst>
              <a:path w="16659109" h="10287000" extrusionOk="0">
                <a:moveTo>
                  <a:pt x="0" y="0"/>
                </a:moveTo>
                <a:lnTo>
                  <a:pt x="16659110" y="0"/>
                </a:lnTo>
                <a:lnTo>
                  <a:pt x="1665911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269</Words>
  <Application>Microsoft Office PowerPoint</Application>
  <PresentationFormat>Personalizado</PresentationFormat>
  <Paragraphs>40</Paragraphs>
  <Slides>12</Slides>
  <Notes>12</Notes>
  <HiddenSlides>0</HiddenSlides>
  <MMClips>0</MMClips>
  <ScaleCrop>false</ScaleCrop>
  <HeadingPairs>
    <vt:vector size="8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Calibri</vt:lpstr>
      <vt:lpstr>Arial</vt:lpstr>
      <vt:lpstr>Open Sans</vt:lpstr>
      <vt:lpstr>Office Theme</vt:lpstr>
      <vt:lpstr>Hoja de cálculo de Microsoft Excel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Jenny Guarcas</cp:lastModifiedBy>
  <cp:revision>1</cp:revision>
  <dcterms:created xsi:type="dcterms:W3CDTF">2006-08-16T00:00:00Z</dcterms:created>
  <dcterms:modified xsi:type="dcterms:W3CDTF">2026-06-15T03:53:46Z</dcterms:modified>
</cp:coreProperties>
</file>